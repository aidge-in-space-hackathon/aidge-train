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 défi" id="{c414463c-8536-4a43-f804-bdabcd5d5363}">
          <p14:sldIdLst>
            <p14:sldId id="256"/>
            <p14:sldId id="257"/>
            <p14:sldId id="258"/>
          </p14:sldIdLst>
        </p14:section>
        <p14:section name="Le plan" id="{fc7b5f21-0de2-6fdf-8bcb-d773a29ecdc8}">
          <p14:sldIdLst>
            <p14:sldId id="259"/>
            <p14:sldId id="260"/>
            <p14:sldId id="261"/>
          </p14:sldIdLst>
        </p14:section>
        <p14:section name="Chantier 1 · Modèle" id="{4a315b5c-6cc0-3077-4a7a-776204f12f2e}">
          <p14:sldIdLst>
            <p14:sldId id="262"/>
            <p14:sldId id="263"/>
          </p14:sldIdLst>
        </p14:section>
        <p14:section name="Chantier 2 · Embarqué" id="{6fe56723-e8f4-3b22-8a3a-5bd0dff01508}">
          <p14:sldIdLst>
            <p14:sldId id="264"/>
            <p14:sldId id="265"/>
          </p14:sldIdLst>
        </p14:section>
        <p14:section name="Le livrable" id="{ce1179d2-6ce0-51d6-f117-583b4dde67f5}">
          <p14:sldIdLst>
            <p14:sldId id="266"/>
            <p14:sldId id="267"/>
          </p14:sldIdLst>
        </p14:section>
        <p14:section name="Organisation" id="{b64877e8-107e-68ab-94c6-b95cfff1e7e7}">
          <p14:sldIdLst>
            <p14:sldId id="268"/>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L'idée de cette réunion, c'est qu'on reparte tous avec la même image du projet et une première tâche chacun. Je vais vous raconter le défi, ce qu'on doit rendre, comment je propose de découper le travail en deux chantiers, puis comment on s'organise au quotidien avec GitHub. Comptez environ vingt minutes, et on garde dix minutes à la fin pour discuter et se répartir les rôles.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est simple : un rover lunaire prend beaucoup plus d'images que sa liaison radio ne peut en envoyer. Plutôt que d'utiliser JPEG, on embarque un réseau de neurones, le modèle de Ballé 2017, qui transforme l'image en un petit train binaire. À l'arrivée, la plateforme reconstruit l'image avec la partie décodeur. Ce qu'il faut retenir : seul l'encodeur, à gauche, doit tourner sur la carte. Tout notre travail d'embarqué porte sur lui. En bas, vous voyez les cinq choses que notre démonstrateur doit prouver.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Voilà sur quoi on sera jugés. Trois métriques annoncées par Viveris : le taux de compression, mesuré en bits par pixel, le taux de perte, c'est à dire la qualité de l'image reconstruite, et la vitesse de compression sur la carte. Le 31 décembre, on rend une présentation, une vidéo et le code. Soutenance le 14 janvier, prix le 26 janvier aux Assises de l'embarqué à Bercy. Petit rappel pratique : la carte est prêtée, il faudra la renvoyer.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vois le projet en deux chantiers. Le premier, c'est le modèle : on l'entraîne et on l'optimise sur PC, en Python. Le second, c'est l'embarqué : on prend l'encodeur, on le fait tourner en C sur le processeur ARM de la carte, puis on utilise LoCod pour envoyer les parties lourdes sur le FPGA. Entre les deux, il y a un contrat très simple : un fichier ONNX, plus quelques paires entrée et sortie attendue pour vérifier que le C calcule la même chose que PyTorch. Grâce à ce contrat, personne n'attend personne : l'équipe embarquée peut commencer avec le modèle déjà dans le dépôt, et le remplacer quand le nouveau sera prêt. En bas des cartes, j'ai mis le profil qui convient à chaque chantier, pour vous aider à choisir.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même chose avec le nom des outils. Le bloc bleu, c'est le chantier modèle. Aidge, en vert, lit le fichier ONNX et génère du code C statique, sans dépendance. LoCod, en orange, prend les fonctions C qu'on a marquées et les transforme en accélérateurs matériels sur le FPGA. Puis on exécute sur la PYNQ-Z2 et on mesure. La flèche en pointillés en bas est importante : les mesures sur la carte nous disent quoi optimiser, et on remonte jusqu'au modèle si nécessaire. Ce n'est pas une chaîne qu'on traverse une seule fois, c'est une boucle.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Bonne nouvelle, on ne part pas d'une page blanche. Le dépôt contient déjà un notebook qui réimplémente le modèle de Ballé de bout en bout, avec un vrai codeur arithmétique, donc une vraie preuve de compression. Il y a aussi un banc d'essai qui compare JPEG, JPEG 2000 et les modèles appris sur les mêmes images. Et on a déjà vérifié que Aidge sait importer notre encodeur et donne le même résultat que la référence. Ce qui manque : un modèle bien entraîné, le code C, la carte qui n'est pas encore là, et surtout une organisation pour travailler à plusieurs.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l'entraînement, inutile de réinventer la roue. CompressAI, d'InterDigital, est la bibliothèque de référence pour la compression apprise. Leur modèle bmshj2018-factorized est le cousin direct de celui de Ballé 2017, avec des poids déjà entraînés. Première étape, on le reproduit et on trace sa courbe débit contre qualité à côté de JPEG : c'est notre point de comparaison. Ensuite on choisit des images qui ressemblent à ce que voit un rover, on entraîne avec leur script, une fois par valeur de lambda, qui règle le compromis entre peu de bits et bonne qualité. Enfin on exporte uniquement l'encodeur en ONNX. Attention, CompressAI ne s'installe pas sous Windows : il faut Linux, WSL2 ou un GPU en ligne. Le dépôt thekoshkina/learned_image_compression conseillé par Viveris est une autre source d'inspiration.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moitié du chantier modèle : l'optimiser pour la carte. Quelques ordres de grandeur pour se repérer. L'encodeur a moins d'un million de paramètres, soit moins d'un mégaoctet en entiers 8 bits : la mémoire des poids n'est pas le problème, on a 512 Mo. Ce qui coûte, c'est le calcul, environ 655 millions de multiplications pour une tuile de 256 par 256. On a quatre leviers. Réduire le nombre de canaux, quantifier en entiers 8 bits avec l'outil de quantification d'Aidge, découper l'image en tuiles, et alléger la normalisation GDN. La règle : chaque levier est jugé sur la courbe débit qualité. Si on gagne deux fois en vitesse pour un demi décibel perdu, on garde.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embarqué, la consigne est de procéder dans l'ordre : d'abord du C qui marche, ensuite du C rapide. Étape A, sur nos PC : Aidge lit le fichier ONNX et génère le code C, on le compile et on vérifie qu'il sort exactement les mêmes valeurs que PyTorch. Étape B, on compile pour le processeur ARM de la carte et on mesure, couche par couche, le temps, la mémoire et la charge CPU. C'est ce profilage qui dira quoi accélérer. Étape C, on complète la chaîne à bord avec l'arrondi et le codage entropique, et on prouve qu'on sait décoder le fichier au sol. La règle d'or : on ne passe à l'étape suivante que si les sorties sont identiques, sinon on accumule des bugs impossibles à retrouver.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que le C tourne sur l'ARM, on passe à LoCod. La carte a deux moitiés : le PS, le processeur ARM, et le PL, la logique programmable du FPGA. Avec LoCod, il suffit d'entourer une fonction C avec la macro FPGA : l'outil la transforme en circuit et génère toute la plomberie qui la relie au processeur. Notre hypothèse de départ, à confirmer par les mesures, est d'envoyer les convolutions sur le FPGA, car les deux convolutions 5 par 5 font à elles seules environ 80 pour cent des calculs. Le piège classique : si on passe son temps à copier des données entre les deux moitiés, on perd tout le gain. C'est là qu'on optimisera les interconnexions, comme le demande le sujet.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toutes les pistes d'optimisation, classées de la plus simple à la plus ambitieuse. La couleur de l'étiquette dit de quelle famille il s'agit : le modèle lui-même, la quantification, le logiciel sur l'ARM, ou le matériel avec le FPGA. À gauche, ce qu'on peut faire en quelques jours sans ré-entraîner : bien compiler, utiliser les deux cœurs, quantifier en entiers 8 bits avec Aidge, régler la taille des tuiles. Ce sont nos premiers gains garantis, on commence par là. Au milieu, ce qui demande un ré-entraînement ou un premier accélérateur : passer à 64 canaux divise le calcul par presque quatre, et mettre la couche 2 sur le FPGA attaque à elle seule 64 pour cent des calculs. À droite, les pistes ambitieuses, comme l'encodeur entier sur le FPGA. Elles peuvent beaucoup rapporter, mais on ne s'y lance qu'une fois les deux premières colonnes mesurées. Chaque piste deviendra un scénario dans notre interface, c'est la slide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stack que je recommande pour le livrable. Tout tourne dans Docker avec docker compose : une seule commande, le même environnement pour nous tous et pour le jury, quel que soit le système. La base existe déjà dans le dépôt, avec deux services, l'interface Gradio et JupyterLab. L'idée est d'aller plus loin avec des scénarios : chaque scénario est un petit fichier de configuration qui décrit une variante du modèle, par exemple la référence en flottant, une version quantifiée en entiers 8 bits, une version avec moins de canaux, ou avec du tuilage. L'interface Gradio lance plusieurs scénarios en même temps, chacun dans son propre processus, et superpose les résultats : courbe débit qualité, temps, mémoire, et plus tard les ressources FPGA. C'est exactement ce qu'il nous faut pour justifier nos choix d'optimisation devant le jury. Une limite à connaître : l'image Docker tourne sur CPU, donc l'entraînement lourd se fait à côté, sur GPU, et on importe ensuite les modèles entraînés.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une proposition de planning en quatre jalons, à discuter ensemble. Le premier, dans deux semaines, est volontairement facile : tout le monde a un environnement qui marche, on a une première courbe de comparaison, et l'équipe embarquée a fait tourner un petit réseau à travers Aidge. Mi-novembre, on veut un premier modèle exporté et un encodeur en C validé sur PC. Début décembre, on est sur la carte avec de vraies mesures et une première convolution sur le FPGA. Le 20 décembre, version finale et mesures définitives. On garde la dernière semaine pour la vidéo et la présentation, parce que les fêtes passent toujours plus vite que prévu.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l'organisation, je propose deux sous-équipes qui correspondent aux deux chantiers, plus deux rôles transverses. Le gardien du dépôt relit les modifications avant qu'elles arrivent sur la branche principale. La personne mesures et rendu tient le tableau de résultats à jour depuis le début, pour qu'on n'ait pas à tout refaire en décembre. On décide qui fait quoi à la fin de cette réunion. Côté rituels, un seul point d'équipe par semaine, trente minutes, et la réunion du jeudi avec Viveris. Et une règle importante : si vous êtes bloqués depuis deux jours, vous le dites. Ce n'est pas un échec, c'est ce qui fait avancer l'équipe.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suivre le travail, on utilise ce qui est déjà intégré à GitHub : les issues et le tableau GitHub Projects. Chaque tâche est une carte, qui avance de gauche à droite : à faire, en cours, en relecture, fini. Les exemples que vous voyez sont de vraies tâches du projet. Trois règles seulement. Une tâche doit tenir en moins d'une semaine, sinon on la découpe. Elle a un seul responsable. Et fini veut dire relu, fusionné dans dev et fonctionnel, pas presque fini sur mon ordinateur. Avec ça, n'importe qui peut ouvrir le tableau et savoir où on en est, sans réunion.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Maintenant Git, que certains connaissent moins. On adopte un modèle classique qui s'appelle Git Flow, avec trois niveaux. Tout en haut, main : elle ne contient que des versions livrées, une par jalon, avec une étiquette v0.1, v0.2 et ainsi de suite. C'est ce que le jury verra le 31 décembre. Au milieu, dev : c'est là que le travail de tout le monde se rassemble au fil de l'eau. En bas, les branches feature : une par tâche, qui part de dev, ici la verte pour l'export ONNX et l'orange pour le code C. On y fait autant de petits commits qu'on veut. Quand c'est prêt, on ouvre une Pull Request vers dev, quelqu'un d'autre relit, et la branche est fusionnée. À chaque jalon, si dev fonctionne, on la fusionne dans main. La branche dev existe déjà dans le dépôt ; pour les prochaines branches, on suit le nommage feature, numéro de l'issue, description. Et on active la protection de main et de dev sur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voici les huit commandes qui suffisent pour 95 pour cent du quotidien. On part toujours de dev, on se met à jour, on crée sa branche feature, on travaille, on choisit ses fichiers, on commite avec un message clair, on pousse, puis on ouvre la Pull Request vers dev sur GitHub en écrivant Closes suivi du numéro de l'issue, ce qui la ferme automatiquement à la fusion. Attention à bien choisir dev comme branche cible, et pas main. Sur les messages : un point ou update ne disent rien à personne dans trois semaines, une phrase au présent qui dit ce que fait le commit, si. Et trois choses ne vont jamais dans Git : les données et les modèles entraînés, les mots de passe, par exemple les identifiants du cloud Viveris, et les notebooks pleins de sorties. Le tutoriel pas à pas est dans le dossier Ressources du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finir, ce que chacun fait cette semaine. On se répartit les sous-équipes et les rôles tout de suite, avant de partir. Chacun installe l'environnement en suivant le README, c'est une seule commande. On lit le README et la section 2 du papier de Ballé, pour avoir le même vocabulaire. Chacun prend une première issue sur le tableau. Et on prépare ensemble nos questions pour la session Aidge du 15 octobre. Les liens sont à droite. Des questions ? Sinon, on passe à la répartition.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rgbClr val="0E153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0E15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13232"/>
            <a:ext cx="11091672" cy="685800"/>
          </a:xfrm>
          <a:prstGeom prst="rect">
            <a:avLst/>
          </a:prstGeom>
          <a:noFill/>
          <a:ln/>
        </p:spPr>
        <p:txBody>
          <a:bodyPr wrap="square" rtlCol="0"/>
          <a:lstStyle>
            <a:lvl1pPr algn="l" indent="0" marL="0">
              <a:buNone/>
              <a:defRPr lang="en-US" sz="3000" b="1" dirty="0">
                <a:solidFill>
                  <a:schemeClr val="bg1"/>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AIDGE IN SPACE · Challenge Aidge 2026</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3.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EmmanuelG-tech/AIDGE-IN-SPACE" TargetMode="External"/><Relationship Id="rId4" Type="http://schemas.openxmlformats.org/officeDocument/2006/relationships/hyperlink" Target="https://github.com/InterDigitalInc/CompressAI" TargetMode="External"/><Relationship Id="rId6" Type="http://schemas.openxmlformats.org/officeDocument/2006/relationships/hyperlink" Target="https://eclipse.dev/aidge/" TargetMode="External"/><Relationship Id="rId8" Type="http://schemas.openxmlformats.org/officeDocument/2006/relationships/hyperlink" Target="https://github.com/viveris/LoCod" TargetMode="External"/><Relationship Id="rId1" Type="http://schemas.openxmlformats.org/officeDocument/2006/relationships/image" Target="../media/image-18-1.png"/><Relationship Id="rId3" Type="http://schemas.openxmlformats.org/officeDocument/2006/relationships/image" Target="../media/image-18-2.png"/><Relationship Id="rId5" Type="http://schemas.openxmlformats.org/officeDocument/2006/relationships/image" Target="../media/image-18-3.png"/><Relationship Id="rId7" Type="http://schemas.openxmlformats.org/officeDocument/2006/relationships/image" Target="../media/image-18-4.png"/><Relationship Id="rId9" Type="http://schemas.openxmlformats.org/officeDocument/2006/relationships/slideLayout" Target="../slideLayouts/slideLayout3.xml"/><Relationship Id="rId1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 CHALLENGE AIDGE 2026 · VIVERIS × CNES"/>
          <p:cNvSpPr/>
          <p:nvPr/>
        </p:nvSpPr>
        <p:spPr>
          <a:xfrm>
            <a:off x="640080" y="1417320"/>
            <a:ext cx="397636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CHALLENGE AIDGE 2026 · VIVERIS × CNES</a:t>
            </a:r>
            <a:endParaRPr lang="en-US" sz="1100" dirty="0"/>
          </a:p>
        </p:txBody>
      </p:sp>
      <p:sp>
        <p:nvSpPr>
          <p:cNvPr id="3" name="Text 1"/>
          <p:cNvSpPr txBox="1"/>
          <p:nvPr/>
        </p:nvSpPr>
        <p:spPr>
          <a:xfrm>
            <a:off x="640080" y="1920240"/>
            <a:ext cx="6949440" cy="100584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AIDGE IN SPACE</a:t>
            </a:r>
            <a:endParaRPr lang="en-US" sz="5400" dirty="0"/>
          </a:p>
        </p:txBody>
      </p:sp>
      <p:sp>
        <p:nvSpPr>
          <p:cNvPr id="4" name="Text 2"/>
          <p:cNvSpPr txBox="1"/>
          <p:nvPr/>
        </p:nvSpPr>
        <p:spPr>
          <a:xfrm>
            <a:off x="640080" y="3017520"/>
            <a:ext cx="6400800" cy="914400"/>
          </a:xfrm>
          <a:prstGeom prst="rect">
            <a:avLst/>
          </a:prstGeom>
          <a:noFill/>
          <a:ln/>
        </p:spPr>
        <p:txBody>
          <a:bodyPr wrap="square" lIns="0" tIns="0" rIns="0" bIns="0" rtlCol="0" anchor="t"/>
          <a:lstStyle/>
          <a:p>
            <a:pPr indent="0" marL="0">
              <a:buNone/>
            </a:pPr>
            <a:r>
              <a:rPr lang="en-US" sz="2000" dirty="0">
                <a:solidFill>
                  <a:schemeClr val="bg2"/>
                </a:solidFill>
              </a:rPr>
              <a:t>Compresser les images d'un rover lunaire avec un réseau de neurones, sur une carte CPU + FPGA</a:t>
            </a:r>
            <a:endParaRPr lang="en-US" sz="2000" dirty="0"/>
          </a:p>
        </p:txBody>
      </p:sp>
      <p:sp>
        <p:nvSpPr>
          <p:cNvPr id="5" name="Text 3"/>
          <p:cNvSpPr txBox="1"/>
          <p:nvPr/>
        </p:nvSpPr>
        <p:spPr>
          <a:xfrm>
            <a:off x="640080" y="4343400"/>
            <a:ext cx="6400800" cy="365760"/>
          </a:xfrm>
          <a:prstGeom prst="rect">
            <a:avLst/>
          </a:prstGeom>
          <a:noFill/>
          <a:ln/>
        </p:spPr>
        <p:txBody>
          <a:bodyPr wrap="square" lIns="0" tIns="0" rIns="0" bIns="0" rtlCol="0" anchor="t"/>
          <a:lstStyle/>
          <a:p>
            <a:pPr indent="0" marL="0">
              <a:buNone/>
            </a:pPr>
            <a:r>
              <a:rPr lang="en-US" sz="1600" b="1" dirty="0">
                <a:solidFill>
                  <a:schemeClr val="accent2"/>
                </a:solidFill>
              </a:rPr>
              <a:t>Réunion de lancement de l'équipe : le plan, les rôles, les outils</a:t>
            </a:r>
            <a:endParaRPr lang="en-US" sz="1600" dirty="0"/>
          </a:p>
        </p:txBody>
      </p:sp>
      <p:sp>
        <p:nvSpPr>
          <p:cNvPr id="6" name="Text 4"/>
          <p:cNvSpPr txBox="1"/>
          <p:nvPr/>
        </p:nvSpPr>
        <p:spPr>
          <a:xfrm>
            <a:off x="640080" y="4754880"/>
            <a:ext cx="6400800" cy="320040"/>
          </a:xfrm>
          <a:prstGeom prst="rect">
            <a:avLst/>
          </a:prstGeom>
          <a:noFill/>
          <a:ln/>
        </p:spPr>
        <p:txBody>
          <a:bodyPr wrap="square" lIns="0" tIns="0" rIns="0" bIns="0" rtlCol="0" anchor="t"/>
          <a:lstStyle/>
          <a:p>
            <a:pPr indent="0" marL="0">
              <a:buNone/>
            </a:pPr>
            <a:r>
              <a:rPr lang="en-US" sz="1400" dirty="0">
                <a:solidFill>
                  <a:schemeClr val="accent6"/>
                </a:solidFill>
              </a:rPr>
              <a:t>Octobre 2026</a:t>
            </a:r>
            <a:endParaRPr lang="en-US" sz="1400" dirty="0"/>
          </a:p>
        </p:txBody>
      </p:sp>
      <p:sp>
        <p:nvSpPr>
          <p:cNvPr id="7" name="cadre rover"/>
          <p:cNvSpPr/>
          <p:nvPr/>
        </p:nvSpPr>
        <p:spPr>
          <a:xfrm>
            <a:off x="7818120" y="1234440"/>
            <a:ext cx="4114800" cy="4114800"/>
          </a:xfrm>
          <a:prstGeom prst="ellipse">
            <a:avLst/>
          </a:prstGeom>
          <a:solidFill>
            <a:schemeClr val="tx2"/>
          </a:solidFill>
          <a:ln w="25400">
            <a:solidFill>
              <a:schemeClr val="accent1"/>
            </a:solidFill>
            <a:prstDash val="solid"/>
          </a:ln>
        </p:spPr>
      </p:sp>
      <p:pic>
        <p:nvPicPr>
          <p:cNvPr id="8" name="rover" descr="Rover sur un sol planétaire">    </p:cNvPr>
          <p:cNvPicPr>
            <a:picLocks noChangeAspect="1"/>
          </p:cNvPicPr>
          <p:nvPr/>
        </p:nvPicPr>
        <p:blipFill>
          <a:blip r:embed="rId1"/>
          <a:stretch>
            <a:fillRect/>
          </a:stretch>
        </p:blipFill>
        <p:spPr>
          <a:xfrm>
            <a:off x="8001000" y="1417320"/>
            <a:ext cx="3749040" cy="3749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hip LE DÉFI"/>
          <p:cNvSpPr/>
          <p:nvPr/>
        </p:nvSpPr>
        <p:spPr>
          <a:xfrm>
            <a:off x="548640" y="329184"/>
            <a:ext cx="101919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LE DÉFI</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Trop d'images, pas assez de bande passante</a:t>
            </a:r>
            <a:endParaRPr lang="en-US" sz="3000" dirty="0"/>
          </a:p>
        </p:txBody>
      </p:sp>
      <p:pic>
        <p:nvPicPr>
          <p:cNvPr id="4" name="chaîne de transmission" descr="Rover : caméra, encodeur, quantification, codage entropique, liaison radio, puis décodage sur la plateforme">    </p:cNvPr>
          <p:cNvPicPr>
            <a:picLocks noChangeAspect="1"/>
          </p:cNvPicPr>
          <p:nvPr/>
        </p:nvPicPr>
        <p:blipFill>
          <a:blip r:embed="rId1"/>
          <a:stretch>
            <a:fillRect/>
          </a:stretch>
        </p:blipFill>
        <p:spPr>
          <a:xfrm>
            <a:off x="548640" y="1600200"/>
            <a:ext cx="11091672" cy="3593702"/>
          </a:xfrm>
          <a:prstGeom prst="rect">
            <a:avLst/>
          </a:prstGeom>
        </p:spPr>
      </p:pic>
      <p:sp>
        <p:nvSpPr>
          <p:cNvPr id="5" name="message clé"/>
          <p:cNvSpPr/>
          <p:nvPr/>
        </p:nvSpPr>
        <p:spPr>
          <a:xfrm>
            <a:off x="548640" y="5349240"/>
            <a:ext cx="11091672" cy="777240"/>
          </a:xfrm>
          <a:prstGeom prst="roundRect">
            <a:avLst>
              <a:gd name="adj" fmla="val 14118"/>
            </a:avLst>
          </a:prstGeom>
          <a:solidFill>
            <a:schemeClr val="tx2"/>
          </a:solidFill>
          <a:ln w="12700">
            <a:solidFill>
              <a:schemeClr val="tx2"/>
            </a:solidFill>
            <a:prstDash val="solid"/>
          </a:ln>
        </p:spPr>
      </p:sp>
      <p:sp>
        <p:nvSpPr>
          <p:cNvPr id="6" name="pastille FaLightbulb"/>
          <p:cNvSpPr/>
          <p:nvPr/>
        </p:nvSpPr>
        <p:spPr>
          <a:xfrm>
            <a:off x="731520" y="5477256"/>
            <a:ext cx="502920" cy="502920"/>
          </a:xfrm>
          <a:prstGeom prst="ellipse">
            <a:avLst/>
          </a:prstGeom>
          <a:solidFill>
            <a:schemeClr val="accent2"/>
          </a:solidFill>
          <a:ln w="12700">
            <a:solidFill>
              <a:schemeClr val="accent2"/>
            </a:solidFill>
            <a:prstDash val="solid"/>
          </a:ln>
        </p:spPr>
      </p:sp>
      <p:pic>
        <p:nvPicPr>
          <p:cNvPr id="7" name="icône FaLightbulb" descr="preencoded.png">    </p:cNvPr>
          <p:cNvPicPr>
            <a:picLocks noChangeAspect="1"/>
          </p:cNvPicPr>
          <p:nvPr/>
        </p:nvPicPr>
        <p:blipFill>
          <a:blip r:embed="rId2"/>
          <a:stretch>
            <a:fillRect/>
          </a:stretch>
        </p:blipFill>
        <p:spPr>
          <a:xfrm>
            <a:off x="852221" y="5597957"/>
            <a:ext cx="261518" cy="261518"/>
          </a:xfrm>
          <a:prstGeom prst="rect">
            <a:avLst/>
          </a:prstGeom>
        </p:spPr>
      </p:pic>
      <p:sp>
        <p:nvSpPr>
          <p:cNvPr id="8" name="Text 4"/>
          <p:cNvSpPr txBox="1"/>
          <p:nvPr/>
        </p:nvSpPr>
        <p:spPr>
          <a:xfrm>
            <a:off x="1417320" y="5468112"/>
            <a:ext cx="10058400" cy="548640"/>
          </a:xfrm>
          <a:prstGeom prst="rect">
            <a:avLst/>
          </a:prstGeom>
          <a:noFill/>
          <a:ln/>
        </p:spPr>
        <p:txBody>
          <a:bodyPr wrap="square" lIns="0" tIns="0" rIns="0" bIns="0" rtlCol="0" anchor="ctr"/>
          <a:lstStyle/>
          <a:p>
            <a:pPr indent="0" marL="0">
              <a:buNone/>
            </a:pPr>
            <a:r>
              <a:rPr lang="en-US" sz="1600" b="1" dirty="0">
                <a:solidFill>
                  <a:schemeClr val="accent2"/>
                </a:solidFill>
              </a:rPr>
              <a:t>Seule la partie gauche tourne sur la carte : </a:t>
            </a:r>
            <a:pPr indent="0" marL="0">
              <a:buNone/>
            </a:pPr>
            <a:r>
              <a:rPr lang="en-US" sz="1600" dirty="0">
                <a:solidFill>
                  <a:schemeClr val="bg1"/>
                </a:solidFill>
              </a:rPr>
              <a:t>l'encodeur. C'est lui qu'on doit porter, mesurer et optimiser. Le décodeur reste côté plateforme.</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hip CE QU&amp;apos;ON NOUS DEMANDE"/>
          <p:cNvSpPr/>
          <p:nvPr/>
        </p:nvSpPr>
        <p:spPr>
          <a:xfrm>
            <a:off x="548640" y="329184"/>
            <a:ext cx="2399203"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CE QU'ON NOUS DEMANDE</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Ce qu'on doit rendre le 31 décembre</a:t>
            </a:r>
            <a:endParaRPr lang="en-US" sz="3000" dirty="0"/>
          </a:p>
        </p:txBody>
      </p:sp>
      <p:sp>
        <p:nvSpPr>
          <p:cNvPr id="4" name="métrique TAUX DE COMPRESSION"/>
          <p:cNvSpPr/>
          <p:nvPr/>
        </p:nvSpPr>
        <p:spPr>
          <a:xfrm>
            <a:off x="548640" y="1645920"/>
            <a:ext cx="3520440" cy="2103120"/>
          </a:xfrm>
          <a:prstGeom prst="roundRect">
            <a:avLst>
              <a:gd name="adj" fmla="val 5217"/>
            </a:avLst>
          </a:prstGeom>
          <a:solidFill>
            <a:schemeClr val="tx2"/>
          </a:solidFill>
          <a:ln w="19050">
            <a:solidFill>
              <a:schemeClr val="accent1"/>
            </a:solidFill>
            <a:prstDash val="solid"/>
          </a:ln>
        </p:spPr>
      </p:sp>
      <p:sp>
        <p:nvSpPr>
          <p:cNvPr id="5" name="Text 3"/>
          <p:cNvSpPr txBox="1"/>
          <p:nvPr/>
        </p:nvSpPr>
        <p:spPr>
          <a:xfrm>
            <a:off x="822960" y="187452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TAUX DE COMPRESSION</a:t>
            </a:r>
            <a:endParaRPr lang="en-US" sz="1200" dirty="0"/>
          </a:p>
        </p:txBody>
      </p:sp>
      <p:sp>
        <p:nvSpPr>
          <p:cNvPr id="6" name="Text 4"/>
          <p:cNvSpPr txBox="1"/>
          <p:nvPr/>
        </p:nvSpPr>
        <p:spPr>
          <a:xfrm>
            <a:off x="822960" y="2194560"/>
            <a:ext cx="3017520" cy="548640"/>
          </a:xfrm>
          <a:prstGeom prst="rect">
            <a:avLst/>
          </a:prstGeom>
          <a:noFill/>
          <a:ln/>
        </p:spPr>
        <p:txBody>
          <a:bodyPr wrap="square" lIns="0" tIns="0" rIns="0" bIns="0" rtlCol="0" anchor="ctr"/>
          <a:lstStyle/>
          <a:p>
            <a:pPr indent="0" marL="0">
              <a:buNone/>
            </a:pPr>
            <a:r>
              <a:rPr lang="en-US" sz="2400" b="1" dirty="0">
                <a:solidFill>
                  <a:schemeClr val="accent1"/>
                </a:solidFill>
                <a:latin typeface="Arial" pitchFamily="34" charset="0"/>
                <a:ea typeface="Arial" pitchFamily="34" charset="-122"/>
                <a:cs typeface="Arial" pitchFamily="34" charset="-120"/>
              </a:rPr>
              <a:t>bit / pixel</a:t>
            </a:r>
            <a:endParaRPr lang="en-US" sz="2400" dirty="0"/>
          </a:p>
        </p:txBody>
      </p:sp>
      <p:sp>
        <p:nvSpPr>
          <p:cNvPr id="7" name="Text 5"/>
          <p:cNvSpPr txBox="1"/>
          <p:nvPr/>
        </p:nvSpPr>
        <p:spPr>
          <a:xfrm>
            <a:off x="822960" y="2834640"/>
            <a:ext cx="3017520" cy="731520"/>
          </a:xfrm>
          <a:prstGeom prst="rect">
            <a:avLst/>
          </a:prstGeom>
          <a:noFill/>
          <a:ln/>
        </p:spPr>
        <p:txBody>
          <a:bodyPr wrap="square" lIns="0" tIns="0" rIns="0" bIns="0" rtlCol="0" anchor="t"/>
          <a:lstStyle/>
          <a:p>
            <a:pPr indent="0" marL="0">
              <a:buNone/>
            </a:pPr>
            <a:r>
              <a:rPr lang="en-US" sz="1400" dirty="0">
                <a:solidFill>
                  <a:schemeClr val="bg2"/>
                </a:solidFill>
              </a:rPr>
              <a:t>Combien de bits on envoie par pixel, comparé à JPEG et JPEG 2000</a:t>
            </a:r>
            <a:endParaRPr lang="en-US" sz="1400" dirty="0"/>
          </a:p>
        </p:txBody>
      </p:sp>
      <p:sp>
        <p:nvSpPr>
          <p:cNvPr id="8" name="métrique TAUX DE PERTE"/>
          <p:cNvSpPr/>
          <p:nvPr/>
        </p:nvSpPr>
        <p:spPr>
          <a:xfrm>
            <a:off x="4334256" y="1645920"/>
            <a:ext cx="3520440" cy="2103120"/>
          </a:xfrm>
          <a:prstGeom prst="roundRect">
            <a:avLst>
              <a:gd name="adj" fmla="val 5217"/>
            </a:avLst>
          </a:prstGeom>
          <a:solidFill>
            <a:schemeClr val="tx2"/>
          </a:solidFill>
          <a:ln w="19050">
            <a:solidFill>
              <a:schemeClr val="accent3"/>
            </a:solidFill>
            <a:prstDash val="solid"/>
          </a:ln>
        </p:spPr>
      </p:sp>
      <p:sp>
        <p:nvSpPr>
          <p:cNvPr id="9" name="Text 7"/>
          <p:cNvSpPr txBox="1"/>
          <p:nvPr/>
        </p:nvSpPr>
        <p:spPr>
          <a:xfrm>
            <a:off x="4608576" y="187452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TAUX DE PERTE</a:t>
            </a:r>
            <a:endParaRPr lang="en-US" sz="1200" dirty="0"/>
          </a:p>
        </p:txBody>
      </p:sp>
      <p:sp>
        <p:nvSpPr>
          <p:cNvPr id="10" name="Text 8"/>
          <p:cNvSpPr txBox="1"/>
          <p:nvPr/>
        </p:nvSpPr>
        <p:spPr>
          <a:xfrm>
            <a:off x="4608576" y="2194560"/>
            <a:ext cx="3017520" cy="548640"/>
          </a:xfrm>
          <a:prstGeom prst="rect">
            <a:avLst/>
          </a:prstGeom>
          <a:noFill/>
          <a:ln/>
        </p:spPr>
        <p:txBody>
          <a:bodyPr wrap="square" lIns="0" tIns="0" rIns="0" bIns="0" rtlCol="0" anchor="ctr"/>
          <a:lstStyle/>
          <a:p>
            <a:pPr indent="0" marL="0">
              <a:buNone/>
            </a:pPr>
            <a:r>
              <a:rPr lang="en-US" sz="2400" b="1" dirty="0">
                <a:solidFill>
                  <a:schemeClr val="accent3"/>
                </a:solidFill>
                <a:latin typeface="Arial" pitchFamily="34" charset="0"/>
                <a:ea typeface="Arial" pitchFamily="34" charset="-122"/>
                <a:cs typeface="Arial" pitchFamily="34" charset="-120"/>
              </a:rPr>
              <a:t>PSNR · MS-SSIM</a:t>
            </a:r>
            <a:endParaRPr lang="en-US" sz="2400" dirty="0"/>
          </a:p>
        </p:txBody>
      </p:sp>
      <p:sp>
        <p:nvSpPr>
          <p:cNvPr id="11" name="Text 9"/>
          <p:cNvSpPr txBox="1"/>
          <p:nvPr/>
        </p:nvSpPr>
        <p:spPr>
          <a:xfrm>
            <a:off x="4608576" y="2834640"/>
            <a:ext cx="3017520" cy="731520"/>
          </a:xfrm>
          <a:prstGeom prst="rect">
            <a:avLst/>
          </a:prstGeom>
          <a:noFill/>
          <a:ln/>
        </p:spPr>
        <p:txBody>
          <a:bodyPr wrap="square" lIns="0" tIns="0" rIns="0" bIns="0" rtlCol="0" anchor="t"/>
          <a:lstStyle/>
          <a:p>
            <a:pPr indent="0" marL="0">
              <a:buNone/>
            </a:pPr>
            <a:r>
              <a:rPr lang="en-US" sz="1400" dirty="0">
                <a:solidFill>
                  <a:schemeClr val="bg2"/>
                </a:solidFill>
              </a:rPr>
              <a:t>À quel point l'image reconstruite ressemble à l'originale</a:t>
            </a:r>
            <a:endParaRPr lang="en-US" sz="1400" dirty="0"/>
          </a:p>
        </p:txBody>
      </p:sp>
      <p:sp>
        <p:nvSpPr>
          <p:cNvPr id="12" name="métrique VITESSE DE COMPRESSION"/>
          <p:cNvSpPr/>
          <p:nvPr/>
        </p:nvSpPr>
        <p:spPr>
          <a:xfrm>
            <a:off x="8119872" y="1645920"/>
            <a:ext cx="3520440" cy="2103120"/>
          </a:xfrm>
          <a:prstGeom prst="roundRect">
            <a:avLst>
              <a:gd name="adj" fmla="val 5217"/>
            </a:avLst>
          </a:prstGeom>
          <a:solidFill>
            <a:schemeClr val="tx2"/>
          </a:solidFill>
          <a:ln w="19050">
            <a:solidFill>
              <a:schemeClr val="accent2"/>
            </a:solidFill>
            <a:prstDash val="solid"/>
          </a:ln>
        </p:spPr>
      </p:sp>
      <p:sp>
        <p:nvSpPr>
          <p:cNvPr id="13" name="Text 11"/>
          <p:cNvSpPr txBox="1"/>
          <p:nvPr/>
        </p:nvSpPr>
        <p:spPr>
          <a:xfrm>
            <a:off x="8394192" y="1874520"/>
            <a:ext cx="301752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VITESSE DE COMPRESSION</a:t>
            </a:r>
            <a:endParaRPr lang="en-US" sz="1200" dirty="0"/>
          </a:p>
        </p:txBody>
      </p:sp>
      <p:sp>
        <p:nvSpPr>
          <p:cNvPr id="14" name="Text 12"/>
          <p:cNvSpPr txBox="1"/>
          <p:nvPr/>
        </p:nvSpPr>
        <p:spPr>
          <a:xfrm>
            <a:off x="8394192" y="2194560"/>
            <a:ext cx="3017520" cy="54864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ms / image</a:t>
            </a:r>
            <a:endParaRPr lang="en-US" sz="2400" dirty="0"/>
          </a:p>
        </p:txBody>
      </p:sp>
      <p:sp>
        <p:nvSpPr>
          <p:cNvPr id="15" name="Text 13"/>
          <p:cNvSpPr txBox="1"/>
          <p:nvPr/>
        </p:nvSpPr>
        <p:spPr>
          <a:xfrm>
            <a:off x="8394192" y="2834640"/>
            <a:ext cx="3017520" cy="731520"/>
          </a:xfrm>
          <a:prstGeom prst="rect">
            <a:avLst/>
          </a:prstGeom>
          <a:noFill/>
          <a:ln/>
        </p:spPr>
        <p:txBody>
          <a:bodyPr wrap="square" lIns="0" tIns="0" rIns="0" bIns="0" rtlCol="0" anchor="t"/>
          <a:lstStyle/>
          <a:p>
            <a:pPr indent="0" marL="0">
              <a:buNone/>
            </a:pPr>
            <a:r>
              <a:rPr lang="en-US" sz="1400" dirty="0">
                <a:solidFill>
                  <a:schemeClr val="bg2"/>
                </a:solidFill>
              </a:rPr>
              <a:t>Temps d'encodage sur la carte, avec la charge CPU et la mémoire</a:t>
            </a:r>
            <a:endParaRPr lang="en-US" sz="1400" dirty="0"/>
          </a:p>
        </p:txBody>
      </p:sp>
      <p:sp>
        <p:nvSpPr>
          <p:cNvPr id="16" name="livrables"/>
          <p:cNvSpPr/>
          <p:nvPr/>
        </p:nvSpPr>
        <p:spPr>
          <a:xfrm>
            <a:off x="548640" y="4023360"/>
            <a:ext cx="6309360" cy="2103120"/>
          </a:xfrm>
          <a:prstGeom prst="roundRect">
            <a:avLst>
              <a:gd name="adj" fmla="val 5217"/>
            </a:avLst>
          </a:prstGeom>
          <a:solidFill>
            <a:schemeClr val="tx2"/>
          </a:solidFill>
          <a:ln w="12700">
            <a:solidFill>
              <a:schemeClr val="tx2"/>
            </a:solidFill>
            <a:prstDash val="solid"/>
          </a:ln>
        </p:spPr>
      </p:sp>
      <p:sp>
        <p:nvSpPr>
          <p:cNvPr id="17" name="Text 15"/>
          <p:cNvSpPr txBox="1"/>
          <p:nvPr/>
        </p:nvSpPr>
        <p:spPr>
          <a:xfrm>
            <a:off x="822960" y="4206240"/>
            <a:ext cx="36576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LIVRABLES</a:t>
            </a:r>
            <a:endParaRPr lang="en-US" sz="1200" dirty="0"/>
          </a:p>
        </p:txBody>
      </p:sp>
      <p:sp>
        <p:nvSpPr>
          <p:cNvPr id="18" name="pastille FaChalkboardTeacher"/>
          <p:cNvSpPr/>
          <p:nvPr/>
        </p:nvSpPr>
        <p:spPr>
          <a:xfrm>
            <a:off x="822960" y="4572000"/>
            <a:ext cx="502920" cy="502920"/>
          </a:xfrm>
          <a:prstGeom prst="ellipse">
            <a:avLst/>
          </a:prstGeom>
          <a:solidFill>
            <a:schemeClr val="accent1"/>
          </a:solidFill>
          <a:ln w="12700">
            <a:solidFill>
              <a:schemeClr val="accent1"/>
            </a:solidFill>
            <a:prstDash val="solid"/>
          </a:ln>
        </p:spPr>
      </p:sp>
      <p:pic>
        <p:nvPicPr>
          <p:cNvPr id="19" name="icône FaChalkboardTeacher" descr="preencoded.png">    </p:cNvPr>
          <p:cNvPicPr>
            <a:picLocks noChangeAspect="1"/>
          </p:cNvPicPr>
          <p:nvPr/>
        </p:nvPicPr>
        <p:blipFill>
          <a:blip r:embed="rId1"/>
          <a:stretch>
            <a:fillRect/>
          </a:stretch>
        </p:blipFill>
        <p:spPr>
          <a:xfrm>
            <a:off x="943661" y="4692701"/>
            <a:ext cx="261518" cy="261518"/>
          </a:xfrm>
          <a:prstGeom prst="rect">
            <a:avLst/>
          </a:prstGeom>
        </p:spPr>
      </p:pic>
      <p:sp>
        <p:nvSpPr>
          <p:cNvPr id="20" name="Text 17"/>
          <p:cNvSpPr txBox="1"/>
          <p:nvPr/>
        </p:nvSpPr>
        <p:spPr>
          <a:xfrm>
            <a:off x="1444752" y="4572000"/>
            <a:ext cx="1325880" cy="502920"/>
          </a:xfrm>
          <a:prstGeom prst="rect">
            <a:avLst/>
          </a:prstGeom>
          <a:noFill/>
          <a:ln/>
        </p:spPr>
        <p:txBody>
          <a:bodyPr wrap="square" lIns="0" tIns="0" rIns="0" bIns="0" rtlCol="0" anchor="ctr"/>
          <a:lstStyle/>
          <a:p>
            <a:pPr indent="0" marL="0">
              <a:buNone/>
            </a:pPr>
            <a:r>
              <a:rPr lang="en-US" sz="1400" b="1" dirty="0">
                <a:solidFill>
                  <a:schemeClr val="bg1"/>
                </a:solidFill>
              </a:rPr>
              <a:t>Présentation</a:t>
            </a:r>
            <a:endParaRPr lang="en-US" sz="1400" dirty="0"/>
          </a:p>
        </p:txBody>
      </p:sp>
      <p:sp>
        <p:nvSpPr>
          <p:cNvPr id="21" name="pastille FaVideo"/>
          <p:cNvSpPr/>
          <p:nvPr/>
        </p:nvSpPr>
        <p:spPr>
          <a:xfrm>
            <a:off x="2788920" y="4572000"/>
            <a:ext cx="502920" cy="502920"/>
          </a:xfrm>
          <a:prstGeom prst="ellipse">
            <a:avLst/>
          </a:prstGeom>
          <a:solidFill>
            <a:schemeClr val="accent1"/>
          </a:solidFill>
          <a:ln w="12700">
            <a:solidFill>
              <a:schemeClr val="accent1"/>
            </a:solidFill>
            <a:prstDash val="solid"/>
          </a:ln>
        </p:spPr>
      </p:sp>
      <p:pic>
        <p:nvPicPr>
          <p:cNvPr id="22" name="icône FaVideo" descr="preencoded.png">    </p:cNvPr>
          <p:cNvPicPr>
            <a:picLocks noChangeAspect="1"/>
          </p:cNvPicPr>
          <p:nvPr/>
        </p:nvPicPr>
        <p:blipFill>
          <a:blip r:embed="rId2"/>
          <a:stretch>
            <a:fillRect/>
          </a:stretch>
        </p:blipFill>
        <p:spPr>
          <a:xfrm>
            <a:off x="2909621" y="4692701"/>
            <a:ext cx="261518" cy="261518"/>
          </a:xfrm>
          <a:prstGeom prst="rect">
            <a:avLst/>
          </a:prstGeom>
        </p:spPr>
      </p:pic>
      <p:sp>
        <p:nvSpPr>
          <p:cNvPr id="23" name="Text 19"/>
          <p:cNvSpPr txBox="1"/>
          <p:nvPr/>
        </p:nvSpPr>
        <p:spPr>
          <a:xfrm>
            <a:off x="3410712" y="4572000"/>
            <a:ext cx="1325880" cy="502920"/>
          </a:xfrm>
          <a:prstGeom prst="rect">
            <a:avLst/>
          </a:prstGeom>
          <a:noFill/>
          <a:ln/>
        </p:spPr>
        <p:txBody>
          <a:bodyPr wrap="square" lIns="0" tIns="0" rIns="0" bIns="0" rtlCol="0" anchor="ctr"/>
          <a:lstStyle/>
          <a:p>
            <a:pPr indent="0" marL="0">
              <a:buNone/>
            </a:pPr>
            <a:r>
              <a:rPr lang="en-US" sz="1400" b="1" dirty="0">
                <a:solidFill>
                  <a:schemeClr val="bg1"/>
                </a:solidFill>
              </a:rPr>
              <a:t>Vidéo de démo</a:t>
            </a:r>
            <a:endParaRPr lang="en-US" sz="1400" dirty="0"/>
          </a:p>
        </p:txBody>
      </p:sp>
      <p:sp>
        <p:nvSpPr>
          <p:cNvPr id="24" name="pastille FaGithub"/>
          <p:cNvSpPr/>
          <p:nvPr/>
        </p:nvSpPr>
        <p:spPr>
          <a:xfrm>
            <a:off x="4754880" y="4572000"/>
            <a:ext cx="502920" cy="502920"/>
          </a:xfrm>
          <a:prstGeom prst="ellipse">
            <a:avLst/>
          </a:prstGeom>
          <a:solidFill>
            <a:schemeClr val="accent1"/>
          </a:solidFill>
          <a:ln w="12700">
            <a:solidFill>
              <a:schemeClr val="accent1"/>
            </a:solidFill>
            <a:prstDash val="solid"/>
          </a:ln>
        </p:spPr>
      </p:sp>
      <p:pic>
        <p:nvPicPr>
          <p:cNvPr id="25" name="icône FaGithub" descr="preencoded.png">    </p:cNvPr>
          <p:cNvPicPr>
            <a:picLocks noChangeAspect="1"/>
          </p:cNvPicPr>
          <p:nvPr/>
        </p:nvPicPr>
        <p:blipFill>
          <a:blip r:embed="rId3"/>
          <a:stretch>
            <a:fillRect/>
          </a:stretch>
        </p:blipFill>
        <p:spPr>
          <a:xfrm>
            <a:off x="4875581" y="4692701"/>
            <a:ext cx="261518" cy="261518"/>
          </a:xfrm>
          <a:prstGeom prst="rect">
            <a:avLst/>
          </a:prstGeom>
        </p:spPr>
      </p:pic>
      <p:sp>
        <p:nvSpPr>
          <p:cNvPr id="26" name="Text 21"/>
          <p:cNvSpPr txBox="1"/>
          <p:nvPr/>
        </p:nvSpPr>
        <p:spPr>
          <a:xfrm>
            <a:off x="5376672" y="4572000"/>
            <a:ext cx="1325880" cy="502920"/>
          </a:xfrm>
          <a:prstGeom prst="rect">
            <a:avLst/>
          </a:prstGeom>
          <a:noFill/>
          <a:ln/>
        </p:spPr>
        <p:txBody>
          <a:bodyPr wrap="square" lIns="0" tIns="0" rIns="0" bIns="0" rtlCol="0" anchor="ctr"/>
          <a:lstStyle/>
          <a:p>
            <a:pPr indent="0" marL="0">
              <a:buNone/>
            </a:pPr>
            <a:r>
              <a:rPr lang="en-US" sz="1400" b="1" dirty="0">
                <a:solidFill>
                  <a:schemeClr val="bg1"/>
                </a:solidFill>
              </a:rPr>
              <a:t>Code sur GitHub</a:t>
            </a:r>
            <a:endParaRPr lang="en-US" sz="1400" dirty="0"/>
          </a:p>
        </p:txBody>
      </p:sp>
      <p:sp>
        <p:nvSpPr>
          <p:cNvPr id="27" name="Text 22"/>
          <p:cNvSpPr txBox="1"/>
          <p:nvPr/>
        </p:nvSpPr>
        <p:spPr>
          <a:xfrm>
            <a:off x="822960" y="5303520"/>
            <a:ext cx="5852160" cy="640080"/>
          </a:xfrm>
          <a:prstGeom prst="rect">
            <a:avLst/>
          </a:prstGeom>
          <a:noFill/>
          <a:ln/>
        </p:spPr>
        <p:txBody>
          <a:bodyPr wrap="square" lIns="0" tIns="0" rIns="0" bIns="0" rtlCol="0" anchor="t"/>
          <a:lstStyle/>
          <a:p>
            <a:pPr indent="0" marL="0">
              <a:buNone/>
            </a:pPr>
            <a:r>
              <a:rPr lang="en-US" sz="1400" dirty="0">
                <a:solidFill>
                  <a:schemeClr val="bg2"/>
                </a:solidFill>
              </a:rPr>
              <a:t>Le jury attend une preuve de compression, des mesures réelles et un objectif d'optimisation. Et on rend la carte PYNQ-Z2 à la fin !</a:t>
            </a:r>
            <a:endParaRPr lang="en-US" sz="1400" dirty="0"/>
          </a:p>
        </p:txBody>
      </p:sp>
      <p:sp>
        <p:nvSpPr>
          <p:cNvPr id="28" name="calendrier"/>
          <p:cNvSpPr/>
          <p:nvPr/>
        </p:nvSpPr>
        <p:spPr>
          <a:xfrm>
            <a:off x="7132320" y="4023360"/>
            <a:ext cx="4507992" cy="2103120"/>
          </a:xfrm>
          <a:prstGeom prst="roundRect">
            <a:avLst>
              <a:gd name="adj" fmla="val 5217"/>
            </a:avLst>
          </a:prstGeom>
          <a:solidFill>
            <a:schemeClr val="tx2"/>
          </a:solidFill>
          <a:ln w="12700">
            <a:solidFill>
              <a:schemeClr val="tx2"/>
            </a:solidFill>
            <a:prstDash val="solid"/>
          </a:ln>
        </p:spPr>
      </p:sp>
      <p:sp>
        <p:nvSpPr>
          <p:cNvPr id="29" name="Text 24"/>
          <p:cNvSpPr txBox="1"/>
          <p:nvPr/>
        </p:nvSpPr>
        <p:spPr>
          <a:xfrm>
            <a:off x="7406640" y="4206240"/>
            <a:ext cx="36576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CALENDRIER</a:t>
            </a:r>
            <a:endParaRPr lang="en-US" sz="1200" dirty="0"/>
          </a:p>
        </p:txBody>
      </p:sp>
      <p:sp>
        <p:nvSpPr>
          <p:cNvPr id="30" name="Text 25"/>
          <p:cNvSpPr txBox="1"/>
          <p:nvPr/>
        </p:nvSpPr>
        <p:spPr>
          <a:xfrm>
            <a:off x="7406640" y="4572000"/>
            <a:ext cx="1143000" cy="365760"/>
          </a:xfrm>
          <a:prstGeom prst="rect">
            <a:avLst/>
          </a:prstGeom>
          <a:noFill/>
          <a:ln/>
        </p:spPr>
        <p:txBody>
          <a:bodyPr wrap="square" lIns="0" tIns="0" rIns="0" bIns="0" rtlCol="0" anchor="ctr"/>
          <a:lstStyle/>
          <a:p>
            <a:pPr indent="0" marL="0">
              <a:buNone/>
            </a:pPr>
            <a:r>
              <a:rPr lang="en-US" sz="1600" b="1" dirty="0">
                <a:solidFill>
                  <a:schemeClr val="accent2"/>
                </a:solidFill>
              </a:rPr>
              <a:t>31 déc.</a:t>
            </a:r>
            <a:endParaRPr lang="en-US" sz="1600" dirty="0"/>
          </a:p>
        </p:txBody>
      </p:sp>
      <p:sp>
        <p:nvSpPr>
          <p:cNvPr id="31" name="Text 26"/>
          <p:cNvSpPr txBox="1"/>
          <p:nvPr/>
        </p:nvSpPr>
        <p:spPr>
          <a:xfrm>
            <a:off x="8595360" y="4572000"/>
            <a:ext cx="2926080" cy="365760"/>
          </a:xfrm>
          <a:prstGeom prst="rect">
            <a:avLst/>
          </a:prstGeom>
          <a:noFill/>
          <a:ln/>
        </p:spPr>
        <p:txBody>
          <a:bodyPr wrap="square" lIns="0" tIns="0" rIns="0" bIns="0" rtlCol="0" anchor="ctr"/>
          <a:lstStyle/>
          <a:p>
            <a:pPr indent="0" marL="0">
              <a:buNone/>
            </a:pPr>
            <a:r>
              <a:rPr lang="en-US" sz="1400" dirty="0">
                <a:solidFill>
                  <a:schemeClr val="bg2"/>
                </a:solidFill>
              </a:rPr>
              <a:t>Remise des livrables</a:t>
            </a:r>
            <a:endParaRPr lang="en-US" sz="1400" dirty="0"/>
          </a:p>
        </p:txBody>
      </p:sp>
      <p:sp>
        <p:nvSpPr>
          <p:cNvPr id="32" name="Text 27"/>
          <p:cNvSpPr txBox="1"/>
          <p:nvPr/>
        </p:nvSpPr>
        <p:spPr>
          <a:xfrm>
            <a:off x="7406640" y="5029200"/>
            <a:ext cx="1143000" cy="365760"/>
          </a:xfrm>
          <a:prstGeom prst="rect">
            <a:avLst/>
          </a:prstGeom>
          <a:noFill/>
          <a:ln/>
        </p:spPr>
        <p:txBody>
          <a:bodyPr wrap="square" lIns="0" tIns="0" rIns="0" bIns="0" rtlCol="0" anchor="ctr"/>
          <a:lstStyle/>
          <a:p>
            <a:pPr indent="0" marL="0">
              <a:buNone/>
            </a:pPr>
            <a:r>
              <a:rPr lang="en-US" sz="1600" b="1" dirty="0">
                <a:solidFill>
                  <a:schemeClr val="bg1"/>
                </a:solidFill>
              </a:rPr>
              <a:t>14 janv.</a:t>
            </a:r>
            <a:endParaRPr lang="en-US" sz="1600" dirty="0"/>
          </a:p>
        </p:txBody>
      </p:sp>
      <p:sp>
        <p:nvSpPr>
          <p:cNvPr id="33" name="Text 28"/>
          <p:cNvSpPr txBox="1"/>
          <p:nvPr/>
        </p:nvSpPr>
        <p:spPr>
          <a:xfrm>
            <a:off x="8595360" y="5029200"/>
            <a:ext cx="2926080" cy="365760"/>
          </a:xfrm>
          <a:prstGeom prst="rect">
            <a:avLst/>
          </a:prstGeom>
          <a:noFill/>
          <a:ln/>
        </p:spPr>
        <p:txBody>
          <a:bodyPr wrap="square" lIns="0" tIns="0" rIns="0" bIns="0" rtlCol="0" anchor="ctr"/>
          <a:lstStyle/>
          <a:p>
            <a:pPr indent="0" marL="0">
              <a:buNone/>
            </a:pPr>
            <a:r>
              <a:rPr lang="en-US" sz="1400" dirty="0">
                <a:solidFill>
                  <a:schemeClr val="bg2"/>
                </a:solidFill>
              </a:rPr>
              <a:t>Soutenance devant le jury</a:t>
            </a:r>
            <a:endParaRPr lang="en-US" sz="1400" dirty="0"/>
          </a:p>
        </p:txBody>
      </p:sp>
      <p:sp>
        <p:nvSpPr>
          <p:cNvPr id="34" name="Text 29"/>
          <p:cNvSpPr txBox="1"/>
          <p:nvPr/>
        </p:nvSpPr>
        <p:spPr>
          <a:xfrm>
            <a:off x="7406640" y="5486400"/>
            <a:ext cx="1143000" cy="365760"/>
          </a:xfrm>
          <a:prstGeom prst="rect">
            <a:avLst/>
          </a:prstGeom>
          <a:noFill/>
          <a:ln/>
        </p:spPr>
        <p:txBody>
          <a:bodyPr wrap="square" lIns="0" tIns="0" rIns="0" bIns="0" rtlCol="0" anchor="ctr"/>
          <a:lstStyle/>
          <a:p>
            <a:pPr indent="0" marL="0">
              <a:buNone/>
            </a:pPr>
            <a:r>
              <a:rPr lang="en-US" sz="1600" b="1" dirty="0">
                <a:solidFill>
                  <a:schemeClr val="bg1"/>
                </a:solidFill>
              </a:rPr>
              <a:t>26 janv.</a:t>
            </a:r>
            <a:endParaRPr lang="en-US" sz="1600" dirty="0"/>
          </a:p>
        </p:txBody>
      </p:sp>
      <p:sp>
        <p:nvSpPr>
          <p:cNvPr id="35" name="Text 30"/>
          <p:cNvSpPr txBox="1"/>
          <p:nvPr/>
        </p:nvSpPr>
        <p:spPr>
          <a:xfrm>
            <a:off x="8595360" y="5486400"/>
            <a:ext cx="2926080" cy="365760"/>
          </a:xfrm>
          <a:prstGeom prst="rect">
            <a:avLst/>
          </a:prstGeom>
          <a:noFill/>
          <a:ln/>
        </p:spPr>
        <p:txBody>
          <a:bodyPr wrap="square" lIns="0" tIns="0" rIns="0" bIns="0" rtlCol="0" anchor="ctr"/>
          <a:lstStyle/>
          <a:p>
            <a:pPr indent="0" marL="0">
              <a:buNone/>
            </a:pPr>
            <a:r>
              <a:rPr lang="en-US" sz="1400" dirty="0">
                <a:solidFill>
                  <a:schemeClr val="bg2"/>
                </a:solidFill>
              </a:rPr>
              <a:t>Remise des prix à Bercy</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hip LE PLAN"/>
          <p:cNvSpPr/>
          <p:nvPr/>
        </p:nvSpPr>
        <p:spPr>
          <a:xfrm>
            <a:off x="548640" y="329184"/>
            <a:ext cx="101919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LE PLAN</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Le projet tient en deux chantiers</a:t>
            </a:r>
            <a:endParaRPr lang="en-US" sz="3000" dirty="0"/>
          </a:p>
        </p:txBody>
      </p:sp>
      <p:sp>
        <p:nvSpPr>
          <p:cNvPr id="4" name="CHANTIER 1 · MODÈLE"/>
          <p:cNvSpPr/>
          <p:nvPr/>
        </p:nvSpPr>
        <p:spPr>
          <a:xfrm>
            <a:off x="548640" y="1645920"/>
            <a:ext cx="4754880" cy="4160520"/>
          </a:xfrm>
          <a:prstGeom prst="roundRect">
            <a:avLst>
              <a:gd name="adj" fmla="val 2637"/>
            </a:avLst>
          </a:prstGeom>
          <a:solidFill>
            <a:schemeClr val="tx2"/>
          </a:solidFill>
          <a:ln w="19050">
            <a:solidFill>
              <a:schemeClr val="accent1"/>
            </a:solidFill>
            <a:prstDash val="solid"/>
          </a:ln>
        </p:spPr>
      </p:sp>
      <p:sp>
        <p:nvSpPr>
          <p:cNvPr id="5" name="chip CHANTIER 1 · MODÈLE"/>
          <p:cNvSpPr/>
          <p:nvPr/>
        </p:nvSpPr>
        <p:spPr>
          <a:xfrm>
            <a:off x="822960" y="1874520"/>
            <a:ext cx="2202058"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CHANTIER 1 · MODÈLE</a:t>
            </a:r>
            <a:endParaRPr lang="en-US" sz="1100" dirty="0"/>
          </a:p>
        </p:txBody>
      </p:sp>
      <p:sp>
        <p:nvSpPr>
          <p:cNvPr id="6" name="pastille FaBrain"/>
          <p:cNvSpPr/>
          <p:nvPr/>
        </p:nvSpPr>
        <p:spPr>
          <a:xfrm>
            <a:off x="4572000" y="1810512"/>
            <a:ext cx="457200" cy="457200"/>
          </a:xfrm>
          <a:prstGeom prst="ellipse">
            <a:avLst/>
          </a:prstGeom>
          <a:solidFill>
            <a:schemeClr val="accent1"/>
          </a:solidFill>
          <a:ln w="12700">
            <a:solidFill>
              <a:schemeClr val="accent1"/>
            </a:solidFill>
            <a:prstDash val="solid"/>
          </a:ln>
        </p:spPr>
      </p:sp>
      <p:pic>
        <p:nvPicPr>
          <p:cNvPr id="7" name="icône FaBrain" descr="preencoded.png">    </p:cNvPr>
          <p:cNvPicPr>
            <a:picLocks noChangeAspect="1"/>
          </p:cNvPicPr>
          <p:nvPr/>
        </p:nvPicPr>
        <p:blipFill>
          <a:blip r:embed="rId1"/>
          <a:stretch>
            <a:fillRect/>
          </a:stretch>
        </p:blipFill>
        <p:spPr>
          <a:xfrm>
            <a:off x="4681728" y="1920240"/>
            <a:ext cx="237744" cy="237744"/>
          </a:xfrm>
          <a:prstGeom prst="rect">
            <a:avLst/>
          </a:prstGeom>
        </p:spPr>
      </p:pic>
      <p:sp>
        <p:nvSpPr>
          <p:cNvPr id="8" name="Text 5"/>
          <p:cNvSpPr txBox="1"/>
          <p:nvPr/>
        </p:nvSpPr>
        <p:spPr>
          <a:xfrm>
            <a:off x="822960" y="2331720"/>
            <a:ext cx="4206240"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Entraîner et optimiser le réseau</a:t>
            </a:r>
            <a:endParaRPr lang="en-US" sz="2000" dirty="0"/>
          </a:p>
        </p:txBody>
      </p:sp>
      <p:sp>
        <p:nvSpPr>
          <p:cNvPr id="9" name="Text 6"/>
          <p:cNvSpPr txBox="1"/>
          <p:nvPr/>
        </p:nvSpPr>
        <p:spPr>
          <a:xfrm>
            <a:off x="822960" y="2852928"/>
            <a:ext cx="4206240" cy="1417320"/>
          </a:xfrm>
          <a:prstGeom prst="rect">
            <a:avLst/>
          </a:prstGeom>
          <a:noFill/>
          <a:ln/>
        </p:spPr>
        <p:txBody>
          <a:bodyPr wrap="square" lIns="0" tIns="0" rIns="0" bIns="0" rtlCol="0" anchor="t"/>
          <a:lstStyle/>
          <a:p>
            <a:pPr marL="190500" indent="-190500">
              <a:spcAft>
                <a:spcPts val="500"/>
              </a:spcAft>
              <a:buSzPct val="100000"/>
              <a:buChar char="•"/>
            </a:pPr>
            <a:r>
              <a:rPr lang="en-US" sz="1500" dirty="0">
                <a:solidFill>
                  <a:schemeClr val="bg2"/>
                </a:solidFill>
              </a:rPr>
              <a:t>Sur PC, avec un GPU si possible</a:t>
            </a:r>
            <a:endParaRPr lang="en-US" sz="1500" dirty="0"/>
          </a:p>
          <a:p>
            <a:pPr marL="190500" indent="-190500">
              <a:spcAft>
                <a:spcPts val="500"/>
              </a:spcAft>
              <a:buSzPct val="100000"/>
              <a:buChar char="•"/>
            </a:pPr>
            <a:r>
              <a:rPr lang="en-US" sz="1500" dirty="0">
                <a:solidFill>
                  <a:schemeClr val="bg2"/>
                </a:solidFill>
              </a:rPr>
              <a:t>Python, PyTorch, CompressAI</a:t>
            </a:r>
            <a:endParaRPr lang="en-US" sz="1500" dirty="0"/>
          </a:p>
          <a:p>
            <a:pPr marL="190500" indent="-190500">
              <a:spcAft>
                <a:spcPts val="500"/>
              </a:spcAft>
              <a:buSzPct val="100000"/>
              <a:buChar char="•"/>
            </a:pPr>
            <a:r>
              <a:rPr lang="en-US" sz="1500" dirty="0">
                <a:solidFill>
                  <a:schemeClr val="bg2"/>
                </a:solidFill>
              </a:rPr>
              <a:t>Courbes débit / qualité contre JPEG</a:t>
            </a:r>
            <a:endParaRPr lang="en-US" sz="1500" dirty="0"/>
          </a:p>
          <a:p>
            <a:pPr marL="190500" indent="-190500">
              <a:spcAft>
                <a:spcPts val="500"/>
              </a:spcAft>
              <a:buSzPct val="100000"/>
              <a:buChar char="•"/>
            </a:pPr>
            <a:r>
              <a:rPr lang="en-US" sz="1500" dirty="0">
                <a:solidFill>
                  <a:schemeClr val="bg2"/>
                </a:solidFill>
              </a:rPr>
              <a:t>Réduction et quantification du modèle</a:t>
            </a:r>
            <a:endParaRPr lang="en-US" sz="1500" dirty="0"/>
          </a:p>
        </p:txBody>
      </p:sp>
      <p:sp>
        <p:nvSpPr>
          <p:cNvPr id="10" name="Text 7"/>
          <p:cNvSpPr txBox="1"/>
          <p:nvPr/>
        </p:nvSpPr>
        <p:spPr>
          <a:xfrm>
            <a:off x="822960" y="4434840"/>
            <a:ext cx="4206240" cy="548640"/>
          </a:xfrm>
          <a:prstGeom prst="rect">
            <a:avLst/>
          </a:prstGeom>
          <a:noFill/>
          <a:ln/>
        </p:spPr>
        <p:txBody>
          <a:bodyPr wrap="square" lIns="0" tIns="0" rIns="0" bIns="0" rtlCol="0" anchor="t"/>
          <a:lstStyle/>
          <a:p>
            <a:pPr indent="0" marL="0">
              <a:buNone/>
            </a:pPr>
            <a:r>
              <a:rPr lang="en-US" sz="1500" b="1" dirty="0">
                <a:solidFill>
                  <a:schemeClr val="accent1"/>
                </a:solidFill>
              </a:rPr>
              <a:t>Sortie : </a:t>
            </a:r>
            <a:pPr indent="0" marL="0">
              <a:buNone/>
            </a:pPr>
            <a:r>
              <a:rPr lang="en-US" sz="1500" dirty="0">
                <a:solidFill>
                  <a:schemeClr val="bg1"/>
                </a:solidFill>
              </a:rPr>
              <a:t>un fichier ONNX qui tient dans les 512 Mo de la carte</a:t>
            </a:r>
            <a:endParaRPr lang="en-US" sz="1500" dirty="0"/>
          </a:p>
        </p:txBody>
      </p:sp>
      <p:sp>
        <p:nvSpPr>
          <p:cNvPr id="11" name="Text 8"/>
          <p:cNvSpPr txBox="1"/>
          <p:nvPr/>
        </p:nvSpPr>
        <p:spPr>
          <a:xfrm>
            <a:off x="822960" y="5166360"/>
            <a:ext cx="4206240" cy="365760"/>
          </a:xfrm>
          <a:prstGeom prst="rect">
            <a:avLst/>
          </a:prstGeom>
          <a:noFill/>
          <a:ln/>
        </p:spPr>
        <p:txBody>
          <a:bodyPr wrap="square" lIns="0" tIns="0" rIns="0" bIns="0" rtlCol="0" anchor="t"/>
          <a:lstStyle/>
          <a:p>
            <a:pPr indent="0" marL="0">
              <a:buNone/>
            </a:pPr>
            <a:r>
              <a:rPr lang="en-US" sz="1400" i="1" dirty="0">
                <a:solidFill>
                  <a:schemeClr val="accent6"/>
                </a:solidFill>
              </a:rPr>
              <a:t>Pour qui aime Python et les maths</a:t>
            </a:r>
            <a:endParaRPr lang="en-US" sz="1400" dirty="0"/>
          </a:p>
        </p:txBody>
      </p:sp>
      <p:sp>
        <p:nvSpPr>
          <p:cNvPr id="12" name="CHANTIER 2 · EMBARQUÉ"/>
          <p:cNvSpPr/>
          <p:nvPr/>
        </p:nvSpPr>
        <p:spPr>
          <a:xfrm>
            <a:off x="6885432" y="1645920"/>
            <a:ext cx="4754880" cy="4160520"/>
          </a:xfrm>
          <a:prstGeom prst="roundRect">
            <a:avLst>
              <a:gd name="adj" fmla="val 2637"/>
            </a:avLst>
          </a:prstGeom>
          <a:solidFill>
            <a:schemeClr val="tx2"/>
          </a:solidFill>
          <a:ln w="19050">
            <a:solidFill>
              <a:schemeClr val="accent2"/>
            </a:solidFill>
            <a:prstDash val="solid"/>
          </a:ln>
        </p:spPr>
      </p:sp>
      <p:sp>
        <p:nvSpPr>
          <p:cNvPr id="13" name="chip CHANTIER 2 · EMBARQUÉ"/>
          <p:cNvSpPr/>
          <p:nvPr/>
        </p:nvSpPr>
        <p:spPr>
          <a:xfrm>
            <a:off x="7159752" y="1874520"/>
            <a:ext cx="2399203"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CHANTIER 2 · EMBARQUÉ</a:t>
            </a:r>
            <a:endParaRPr lang="en-US" sz="1100" dirty="0"/>
          </a:p>
        </p:txBody>
      </p:sp>
      <p:sp>
        <p:nvSpPr>
          <p:cNvPr id="14" name="pastille FaMicrochip"/>
          <p:cNvSpPr/>
          <p:nvPr/>
        </p:nvSpPr>
        <p:spPr>
          <a:xfrm>
            <a:off x="10908792" y="1810512"/>
            <a:ext cx="457200" cy="457200"/>
          </a:xfrm>
          <a:prstGeom prst="ellipse">
            <a:avLst/>
          </a:prstGeom>
          <a:solidFill>
            <a:schemeClr val="accent2"/>
          </a:solidFill>
          <a:ln w="12700">
            <a:solidFill>
              <a:schemeClr val="accent2"/>
            </a:solidFill>
            <a:prstDash val="solid"/>
          </a:ln>
        </p:spPr>
      </p:sp>
      <p:pic>
        <p:nvPicPr>
          <p:cNvPr id="15" name="icône FaMicrochip" descr="preencoded.png">    </p:cNvPr>
          <p:cNvPicPr>
            <a:picLocks noChangeAspect="1"/>
          </p:cNvPicPr>
          <p:nvPr/>
        </p:nvPicPr>
        <p:blipFill>
          <a:blip r:embed="rId2"/>
          <a:stretch>
            <a:fillRect/>
          </a:stretch>
        </p:blipFill>
        <p:spPr>
          <a:xfrm>
            <a:off x="11018520" y="1920240"/>
            <a:ext cx="237744" cy="237744"/>
          </a:xfrm>
          <a:prstGeom prst="rect">
            <a:avLst/>
          </a:prstGeom>
        </p:spPr>
      </p:pic>
      <p:sp>
        <p:nvSpPr>
          <p:cNvPr id="16" name="Text 12"/>
          <p:cNvSpPr txBox="1"/>
          <p:nvPr/>
        </p:nvSpPr>
        <p:spPr>
          <a:xfrm>
            <a:off x="7159752" y="2331720"/>
            <a:ext cx="4206240"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Porter l'encodeur sur la carte</a:t>
            </a:r>
            <a:endParaRPr lang="en-US" sz="2000" dirty="0"/>
          </a:p>
        </p:txBody>
      </p:sp>
      <p:sp>
        <p:nvSpPr>
          <p:cNvPr id="17" name="Text 13"/>
          <p:cNvSpPr txBox="1"/>
          <p:nvPr/>
        </p:nvSpPr>
        <p:spPr>
          <a:xfrm>
            <a:off x="7159752" y="2852928"/>
            <a:ext cx="4206240" cy="1417320"/>
          </a:xfrm>
          <a:prstGeom prst="rect">
            <a:avLst/>
          </a:prstGeom>
          <a:noFill/>
          <a:ln/>
        </p:spPr>
        <p:txBody>
          <a:bodyPr wrap="square" lIns="0" tIns="0" rIns="0" bIns="0" rtlCol="0" anchor="t"/>
          <a:lstStyle/>
          <a:p>
            <a:pPr marL="190500" indent="-190500">
              <a:spcAft>
                <a:spcPts val="500"/>
              </a:spcAft>
              <a:buSzPct val="100000"/>
              <a:buChar char="•"/>
            </a:pPr>
            <a:r>
              <a:rPr lang="en-US" sz="1500" dirty="0">
                <a:solidFill>
                  <a:schemeClr val="bg2"/>
                </a:solidFill>
              </a:rPr>
              <a:t>D'abord l'inférence en C sur l'ARM (Aidge)</a:t>
            </a:r>
            <a:endParaRPr lang="en-US" sz="1500" dirty="0"/>
          </a:p>
          <a:p>
            <a:pPr marL="190500" indent="-190500">
              <a:spcAft>
                <a:spcPts val="500"/>
              </a:spcAft>
              <a:buSzPct val="100000"/>
              <a:buChar char="•"/>
            </a:pPr>
            <a:r>
              <a:rPr lang="en-US" sz="1500" dirty="0">
                <a:solidFill>
                  <a:schemeClr val="bg2"/>
                </a:solidFill>
              </a:rPr>
              <a:t>Puis la répartition CPU / FPGA (LoCod)</a:t>
            </a:r>
            <a:endParaRPr lang="en-US" sz="1500" dirty="0"/>
          </a:p>
          <a:p>
            <a:pPr marL="190500" indent="-190500">
              <a:spcAft>
                <a:spcPts val="500"/>
              </a:spcAft>
              <a:buSzPct val="100000"/>
              <a:buChar char="•"/>
            </a:pPr>
            <a:r>
              <a:rPr lang="en-US" sz="1500" dirty="0">
                <a:solidFill>
                  <a:schemeClr val="bg2"/>
                </a:solidFill>
              </a:rPr>
              <a:t>Mesures : temps, mémoire, charge CPU</a:t>
            </a:r>
            <a:endParaRPr lang="en-US" sz="1500" dirty="0"/>
          </a:p>
          <a:p>
            <a:pPr marL="190500" indent="-190500">
              <a:spcAft>
                <a:spcPts val="500"/>
              </a:spcAft>
              <a:buSzPct val="100000"/>
              <a:buChar char="•"/>
            </a:pPr>
            <a:r>
              <a:rPr lang="en-US" sz="1500" dirty="0">
                <a:solidFill>
                  <a:schemeClr val="bg2"/>
                </a:solidFill>
              </a:rPr>
              <a:t>Ressources FPGA et transferts PS / PL</a:t>
            </a:r>
            <a:endParaRPr lang="en-US" sz="1500" dirty="0"/>
          </a:p>
        </p:txBody>
      </p:sp>
      <p:sp>
        <p:nvSpPr>
          <p:cNvPr id="18" name="Text 14"/>
          <p:cNvSpPr txBox="1"/>
          <p:nvPr/>
        </p:nvSpPr>
        <p:spPr>
          <a:xfrm>
            <a:off x="7159752" y="4434840"/>
            <a:ext cx="4206240" cy="548640"/>
          </a:xfrm>
          <a:prstGeom prst="rect">
            <a:avLst/>
          </a:prstGeom>
          <a:noFill/>
          <a:ln/>
        </p:spPr>
        <p:txBody>
          <a:bodyPr wrap="square" lIns="0" tIns="0" rIns="0" bIns="0" rtlCol="0" anchor="t"/>
          <a:lstStyle/>
          <a:p>
            <a:pPr indent="0" marL="0">
              <a:buNone/>
            </a:pPr>
            <a:r>
              <a:rPr lang="en-US" sz="1500" b="1" dirty="0">
                <a:solidFill>
                  <a:schemeClr val="accent2"/>
                </a:solidFill>
              </a:rPr>
              <a:t>Sortie : </a:t>
            </a:r>
            <a:pPr indent="0" marL="0">
              <a:buNone/>
            </a:pPr>
            <a:r>
              <a:rPr lang="en-US" sz="1500" dirty="0">
                <a:solidFill>
                  <a:schemeClr val="bg1"/>
                </a:solidFill>
              </a:rPr>
              <a:t>un binaire, un bitstream et un rapport de mesures</a:t>
            </a:r>
            <a:endParaRPr lang="en-US" sz="1500" dirty="0"/>
          </a:p>
        </p:txBody>
      </p:sp>
      <p:sp>
        <p:nvSpPr>
          <p:cNvPr id="19" name="Text 15"/>
          <p:cNvSpPr txBox="1"/>
          <p:nvPr/>
        </p:nvSpPr>
        <p:spPr>
          <a:xfrm>
            <a:off x="7159752" y="5166360"/>
            <a:ext cx="4206240" cy="365760"/>
          </a:xfrm>
          <a:prstGeom prst="rect">
            <a:avLst/>
          </a:prstGeom>
          <a:noFill/>
          <a:ln/>
        </p:spPr>
        <p:txBody>
          <a:bodyPr wrap="square" lIns="0" tIns="0" rIns="0" bIns="0" rtlCol="0" anchor="t"/>
          <a:lstStyle/>
          <a:p>
            <a:pPr indent="0" marL="0">
              <a:buNone/>
            </a:pPr>
            <a:r>
              <a:rPr lang="en-US" sz="1400" i="1" dirty="0">
                <a:solidFill>
                  <a:schemeClr val="accent6"/>
                </a:solidFill>
              </a:rPr>
              <a:t>Pour qui aime le C et le matériel</a:t>
            </a:r>
            <a:endParaRPr lang="en-US" sz="1400" dirty="0"/>
          </a:p>
        </p:txBody>
      </p:sp>
      <p:sp>
        <p:nvSpPr>
          <p:cNvPr id="20" name="flèche 1"/>
          <p:cNvSpPr/>
          <p:nvPr/>
        </p:nvSpPr>
        <p:spPr>
          <a:xfrm>
            <a:off x="5303520" y="3703320"/>
            <a:ext cx="164592" cy="0"/>
          </a:xfrm>
          <a:prstGeom prst="line">
            <a:avLst/>
          </a:prstGeom>
          <a:noFill/>
          <a:ln w="25400">
            <a:solidFill>
              <a:schemeClr val="bg2"/>
            </a:solidFill>
            <a:prstDash val="solid"/>
          </a:ln>
        </p:spPr>
      </p:sp>
      <p:sp>
        <p:nvSpPr>
          <p:cNvPr id="21" name="flèche 2"/>
          <p:cNvSpPr/>
          <p:nvPr/>
        </p:nvSpPr>
        <p:spPr>
          <a:xfrm>
            <a:off x="6720840" y="3703320"/>
            <a:ext cx="164592" cy="0"/>
          </a:xfrm>
          <a:prstGeom prst="line">
            <a:avLst/>
          </a:prstGeom>
          <a:noFill/>
          <a:ln w="25400">
            <a:solidFill>
              <a:schemeClr val="bg2"/>
            </a:solidFill>
            <a:prstDash val="solid"/>
            <a:tailEnd type="triangle"/>
          </a:ln>
        </p:spPr>
      </p:sp>
      <p:sp>
        <p:nvSpPr>
          <p:cNvPr id="22" name="contrat ONNX"/>
          <p:cNvSpPr/>
          <p:nvPr/>
        </p:nvSpPr>
        <p:spPr>
          <a:xfrm>
            <a:off x="5468112" y="2743200"/>
            <a:ext cx="1252728" cy="1920240"/>
          </a:xfrm>
          <a:prstGeom prst="roundRect">
            <a:avLst>
              <a:gd name="adj" fmla="val 8759"/>
            </a:avLst>
          </a:prstGeom>
          <a:solidFill>
            <a:schemeClr val="tx2"/>
          </a:solidFill>
          <a:ln w="15875">
            <a:solidFill>
              <a:schemeClr val="bg2"/>
            </a:solidFill>
            <a:prstDash val="dash"/>
          </a:ln>
        </p:spPr>
      </p:sp>
      <p:pic>
        <p:nvPicPr>
          <p:cNvPr id="23" name="icône fichier" descr="preencoded.png">    </p:cNvPr>
          <p:cNvPicPr>
            <a:picLocks noChangeAspect="1"/>
          </p:cNvPicPr>
          <p:nvPr/>
        </p:nvPicPr>
        <p:blipFill>
          <a:blip r:embed="rId3"/>
          <a:stretch>
            <a:fillRect/>
          </a:stretch>
        </p:blipFill>
        <p:spPr>
          <a:xfrm>
            <a:off x="5888736" y="2907792"/>
            <a:ext cx="411480" cy="411480"/>
          </a:xfrm>
          <a:prstGeom prst="rect">
            <a:avLst/>
          </a:prstGeom>
        </p:spPr>
      </p:pic>
      <p:sp>
        <p:nvSpPr>
          <p:cNvPr id="24" name="Text 19"/>
          <p:cNvSpPr txBox="1"/>
          <p:nvPr/>
        </p:nvSpPr>
        <p:spPr>
          <a:xfrm>
            <a:off x="5504688" y="3429000"/>
            <a:ext cx="1179576" cy="1097280"/>
          </a:xfrm>
          <a:prstGeom prst="rect">
            <a:avLst/>
          </a:prstGeom>
          <a:noFill/>
          <a:ln/>
        </p:spPr>
        <p:txBody>
          <a:bodyPr wrap="square" lIns="0" tIns="0" rIns="0" bIns="0" rtlCol="0" anchor="t"/>
          <a:lstStyle/>
          <a:p>
            <a:pPr algn="ctr" indent="0" marL="0">
              <a:buNone/>
            </a:pPr>
            <a:r>
              <a:rPr lang="en-US" sz="1200" b="1" dirty="0">
                <a:solidFill>
                  <a:schemeClr val="bg1"/>
                </a:solidFill>
                <a:latin typeface="Arial" pitchFamily="34" charset="0"/>
                <a:ea typeface="Arial" pitchFamily="34" charset="-122"/>
                <a:cs typeface="Arial" pitchFamily="34" charset="-120"/>
              </a:rPr>
              <a:t>encodeur.onnx</a:t>
            </a:r>
            <a:endParaRPr lang="en-US" sz="1200" dirty="0"/>
          </a:p>
          <a:p>
            <a:pPr algn="ctr" indent="0" marL="0">
              <a:buNone/>
            </a:pPr>
            <a:r>
              <a:rPr lang="en-US" sz="1200" dirty="0">
                <a:solidFill>
                  <a:schemeClr val="accent6"/>
                </a:solidFill>
                <a:latin typeface="Arial" pitchFamily="34" charset="0"/>
                <a:ea typeface="Arial" pitchFamily="34" charset="-122"/>
                <a:cs typeface="Arial" pitchFamily="34" charset="-120"/>
              </a:rPr>
              <a:t>+ vecteurs de test</a:t>
            </a:r>
            <a:endParaRPr lang="en-US" sz="1200" dirty="0"/>
          </a:p>
        </p:txBody>
      </p:sp>
      <p:sp>
        <p:nvSpPr>
          <p:cNvPr id="25" name="Text 20"/>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1500" b="1" dirty="0">
                <a:solidFill>
                  <a:schemeClr val="bg2"/>
                </a:solidFill>
              </a:rPr>
              <a:t>Le fichier ONNX est le contrat entre les deux : </a:t>
            </a:r>
            <a:pPr indent="0" marL="0">
              <a:buNone/>
            </a:pPr>
            <a:r>
              <a:rPr lang="en-US" sz="1500" dirty="0">
                <a:solidFill>
                  <a:schemeClr val="bg2"/>
                </a:solidFill>
              </a:rPr>
              <a:t>chaque chantier peut démarrer dès cette semaine sans attendre l'autre.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hip VUE D&amp;apos;ENSEMBLE"/>
          <p:cNvSpPr/>
          <p:nvPr/>
        </p:nvSpPr>
        <p:spPr>
          <a:xfrm>
            <a:off x="548640" y="329184"/>
            <a:ext cx="1709196"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VUE D'ENSEMBLE</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La chaîne complète, du modèle à la carte</a:t>
            </a:r>
            <a:endParaRPr lang="en-US" sz="3000" dirty="0"/>
          </a:p>
        </p:txBody>
      </p:sp>
      <p:pic>
        <p:nvPicPr>
          <p:cNvPr id="4" name="chaîne d'outils" descr="Entraînement, Aidge, LoCod, PYNQ-Z2, mesures, avec une boucle d'optimisation">    </p:cNvPr>
          <p:cNvPicPr>
            <a:picLocks noChangeAspect="1"/>
          </p:cNvPicPr>
          <p:nvPr/>
        </p:nvPicPr>
        <p:blipFill>
          <a:blip r:embed="rId1"/>
          <a:stretch>
            <a:fillRect/>
          </a:stretch>
        </p:blipFill>
        <p:spPr>
          <a:xfrm>
            <a:off x="548640" y="1600200"/>
            <a:ext cx="11091672" cy="4564223"/>
          </a:xfrm>
          <a:prstGeom prst="rect">
            <a:avLst/>
          </a:prstGeom>
        </p:spPr>
      </p:pic>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hip POINT DE DÉPART"/>
          <p:cNvSpPr/>
          <p:nvPr/>
        </p:nvSpPr>
        <p:spPr>
          <a:xfrm>
            <a:off x="548640" y="329184"/>
            <a:ext cx="1807769"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POINT DE DÉPART</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On ne part pas de zéro</a:t>
            </a:r>
            <a:endParaRPr lang="en-US" sz="3000" dirty="0"/>
          </a:p>
        </p:txBody>
      </p:sp>
      <p:sp>
        <p:nvSpPr>
          <p:cNvPr id="4" name="Déjà dans le dépôt"/>
          <p:cNvSpPr/>
          <p:nvPr/>
        </p:nvSpPr>
        <p:spPr>
          <a:xfrm>
            <a:off x="548640" y="1645920"/>
            <a:ext cx="5440680" cy="4480560"/>
          </a:xfrm>
          <a:prstGeom prst="roundRect">
            <a:avLst>
              <a:gd name="adj" fmla="val 2449"/>
            </a:avLst>
          </a:prstGeom>
          <a:solidFill>
            <a:schemeClr val="tx2"/>
          </a:solidFill>
          <a:ln w="12700">
            <a:solidFill>
              <a:schemeClr val="tx2"/>
            </a:solidFill>
            <a:prstDash val="solid"/>
          </a:ln>
        </p:spPr>
      </p:sp>
      <p:sp>
        <p:nvSpPr>
          <p:cNvPr id="5" name="pastille FaCheck"/>
          <p:cNvSpPr/>
          <p:nvPr/>
        </p:nvSpPr>
        <p:spPr>
          <a:xfrm>
            <a:off x="822960" y="1874520"/>
            <a:ext cx="502920" cy="502920"/>
          </a:xfrm>
          <a:prstGeom prst="ellipse">
            <a:avLst/>
          </a:prstGeom>
          <a:solidFill>
            <a:schemeClr val="accent1"/>
          </a:solidFill>
          <a:ln w="12700">
            <a:solidFill>
              <a:schemeClr val="accent1"/>
            </a:solidFill>
            <a:prstDash val="solid"/>
          </a:ln>
        </p:spPr>
      </p:sp>
      <p:pic>
        <p:nvPicPr>
          <p:cNvPr id="6" name="icône FaCheck" descr="preencoded.png">    </p:cNvPr>
          <p:cNvPicPr>
            <a:picLocks noChangeAspect="1"/>
          </p:cNvPicPr>
          <p:nvPr/>
        </p:nvPicPr>
        <p:blipFill>
          <a:blip r:embed="rId1"/>
          <a:stretch>
            <a:fillRect/>
          </a:stretch>
        </p:blipFill>
        <p:spPr>
          <a:xfrm>
            <a:off x="943661" y="1995221"/>
            <a:ext cx="261518" cy="261518"/>
          </a:xfrm>
          <a:prstGeom prst="rect">
            <a:avLst/>
          </a:prstGeom>
        </p:spPr>
      </p:pic>
      <p:sp>
        <p:nvSpPr>
          <p:cNvPr id="7" name="Text 4"/>
          <p:cNvSpPr txBox="1"/>
          <p:nvPr/>
        </p:nvSpPr>
        <p:spPr>
          <a:xfrm>
            <a:off x="1463040" y="1874520"/>
            <a:ext cx="4297680" cy="50292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Déjà dans le dépôt</a:t>
            </a:r>
            <a:endParaRPr lang="en-US" sz="2000" dirty="0"/>
          </a:p>
        </p:txBody>
      </p:sp>
      <p:sp>
        <p:nvSpPr>
          <p:cNvPr id="8" name="Text 5"/>
          <p:cNvSpPr txBox="1"/>
          <p:nvPr/>
        </p:nvSpPr>
        <p:spPr>
          <a:xfrm>
            <a:off x="868680" y="2651760"/>
            <a:ext cx="4846320" cy="731520"/>
          </a:xfrm>
          <a:prstGeom prst="rect">
            <a:avLst/>
          </a:prstGeom>
          <a:noFill/>
          <a:ln/>
        </p:spPr>
        <p:txBody>
          <a:bodyPr wrap="square" lIns="0" tIns="0" rIns="0" bIns="0" rtlCol="0" anchor="t"/>
          <a:lstStyle/>
          <a:p>
            <a:pPr indent="0" marL="0">
              <a:buNone/>
            </a:pPr>
            <a:r>
              <a:rPr lang="en-US" sz="1500" b="1" dirty="0">
                <a:solidFill>
                  <a:schemeClr val="bg1"/>
                </a:solidFill>
              </a:rPr>
              <a:t>Notebook Ballé 2017 : </a:t>
            </a:r>
            <a:pPr indent="0" marL="0">
              <a:buNone/>
            </a:pPr>
            <a:r>
              <a:rPr lang="en-US" sz="1500" dirty="0">
                <a:solidFill>
                  <a:schemeClr val="bg2"/>
                </a:solidFill>
              </a:rPr>
              <a:t>entraînement, évaluation sur Kodak, codeur arithmétique, export ONNX</a:t>
            </a:r>
            <a:endParaRPr lang="en-US" sz="1500" dirty="0"/>
          </a:p>
        </p:txBody>
      </p:sp>
      <p:sp>
        <p:nvSpPr>
          <p:cNvPr id="9" name="Text 6"/>
          <p:cNvSpPr txBox="1"/>
          <p:nvPr/>
        </p:nvSpPr>
        <p:spPr>
          <a:xfrm>
            <a:off x="868680" y="3502152"/>
            <a:ext cx="4846320" cy="731520"/>
          </a:xfrm>
          <a:prstGeom prst="rect">
            <a:avLst/>
          </a:prstGeom>
          <a:noFill/>
          <a:ln/>
        </p:spPr>
        <p:txBody>
          <a:bodyPr wrap="square" lIns="0" tIns="0" rIns="0" bIns="0" rtlCol="0" anchor="t"/>
          <a:lstStyle/>
          <a:p>
            <a:pPr indent="0" marL="0">
              <a:buNone/>
            </a:pPr>
            <a:r>
              <a:rPr lang="en-US" sz="1500" b="1" dirty="0">
                <a:solidFill>
                  <a:schemeClr val="bg1"/>
                </a:solidFill>
              </a:rPr>
              <a:t>Banc d'essai : </a:t>
            </a:r>
            <a:pPr indent="0" marL="0">
              <a:buNone/>
            </a:pPr>
            <a:r>
              <a:rPr lang="en-US" sz="1500" dirty="0">
                <a:solidFill>
                  <a:schemeClr val="bg2"/>
                </a:solidFill>
              </a:rPr>
              <a:t>JPEG, JPEG 2000, WebP et modèles CompressAI comparés sur les mêmes images</a:t>
            </a:r>
            <a:endParaRPr lang="en-US" sz="1500" dirty="0"/>
          </a:p>
        </p:txBody>
      </p:sp>
      <p:sp>
        <p:nvSpPr>
          <p:cNvPr id="10" name="Text 7"/>
          <p:cNvSpPr txBox="1"/>
          <p:nvPr/>
        </p:nvSpPr>
        <p:spPr>
          <a:xfrm>
            <a:off x="868680" y="4352544"/>
            <a:ext cx="4846320" cy="731520"/>
          </a:xfrm>
          <a:prstGeom prst="rect">
            <a:avLst/>
          </a:prstGeom>
          <a:noFill/>
          <a:ln/>
        </p:spPr>
        <p:txBody>
          <a:bodyPr wrap="square" lIns="0" tIns="0" rIns="0" bIns="0" rtlCol="0" anchor="t"/>
          <a:lstStyle/>
          <a:p>
            <a:pPr indent="0" marL="0">
              <a:buNone/>
            </a:pPr>
            <a:r>
              <a:rPr lang="en-US" sz="1500" b="1" dirty="0">
                <a:solidFill>
                  <a:schemeClr val="bg1"/>
                </a:solidFill>
              </a:rPr>
              <a:t>Import dans Aidge vérifié : </a:t>
            </a:r>
            <a:pPr indent="0" marL="0">
              <a:buNone/>
            </a:pPr>
            <a:r>
              <a:rPr lang="en-US" sz="1500" dirty="0">
                <a:solidFill>
                  <a:schemeClr val="bg2"/>
                </a:solidFill>
              </a:rPr>
              <a:t>même résultat qu'ONNX Runtime à 10⁻⁷ près</a:t>
            </a:r>
            <a:endParaRPr lang="en-US" sz="1500" dirty="0"/>
          </a:p>
        </p:txBody>
      </p:sp>
      <p:sp>
        <p:nvSpPr>
          <p:cNvPr id="11" name="Text 8"/>
          <p:cNvSpPr txBox="1"/>
          <p:nvPr/>
        </p:nvSpPr>
        <p:spPr>
          <a:xfrm>
            <a:off x="868680" y="5202936"/>
            <a:ext cx="4846320" cy="731520"/>
          </a:xfrm>
          <a:prstGeom prst="rect">
            <a:avLst/>
          </a:prstGeom>
          <a:noFill/>
          <a:ln/>
        </p:spPr>
        <p:txBody>
          <a:bodyPr wrap="square" lIns="0" tIns="0" rIns="0" bIns="0" rtlCol="0" anchor="t"/>
          <a:lstStyle/>
          <a:p>
            <a:pPr indent="0" marL="0">
              <a:buNone/>
            </a:pPr>
            <a:r>
              <a:rPr lang="en-US" sz="1500" b="1" dirty="0">
                <a:solidFill>
                  <a:schemeClr val="bg1"/>
                </a:solidFill>
              </a:rPr>
              <a:t>Environnement prêt : </a:t>
            </a:r>
            <a:pPr indent="0" marL="0">
              <a:buNone/>
            </a:pPr>
            <a:r>
              <a:rPr lang="en-US" sz="1500" dirty="0">
                <a:solidFill>
                  <a:schemeClr val="bg2"/>
                </a:solidFill>
              </a:rPr>
              <a:t>venv ou Docker, en une commande</a:t>
            </a:r>
            <a:endParaRPr lang="en-US" sz="1500" dirty="0"/>
          </a:p>
        </p:txBody>
      </p:sp>
      <p:sp>
        <p:nvSpPr>
          <p:cNvPr id="12" name="Ce qui manque"/>
          <p:cNvSpPr/>
          <p:nvPr/>
        </p:nvSpPr>
        <p:spPr>
          <a:xfrm>
            <a:off x="6199632" y="1645920"/>
            <a:ext cx="5440680" cy="4480560"/>
          </a:xfrm>
          <a:prstGeom prst="roundRect">
            <a:avLst>
              <a:gd name="adj" fmla="val 2449"/>
            </a:avLst>
          </a:prstGeom>
          <a:solidFill>
            <a:schemeClr val="tx2"/>
          </a:solidFill>
          <a:ln w="12700">
            <a:solidFill>
              <a:schemeClr val="tx2"/>
            </a:solidFill>
            <a:prstDash val="solid"/>
          </a:ln>
        </p:spPr>
      </p:sp>
      <p:sp>
        <p:nvSpPr>
          <p:cNvPr id="13" name="pastille FaHourglassHalf"/>
          <p:cNvSpPr/>
          <p:nvPr/>
        </p:nvSpPr>
        <p:spPr>
          <a:xfrm>
            <a:off x="6473952" y="1874520"/>
            <a:ext cx="502920" cy="502920"/>
          </a:xfrm>
          <a:prstGeom prst="ellipse">
            <a:avLst/>
          </a:prstGeom>
          <a:solidFill>
            <a:schemeClr val="accent2"/>
          </a:solidFill>
          <a:ln w="12700">
            <a:solidFill>
              <a:schemeClr val="accent2"/>
            </a:solidFill>
            <a:prstDash val="solid"/>
          </a:ln>
        </p:spPr>
      </p:sp>
      <p:pic>
        <p:nvPicPr>
          <p:cNvPr id="14" name="icône FaHourglassHalf" descr="preencoded.png">    </p:cNvPr>
          <p:cNvPicPr>
            <a:picLocks noChangeAspect="1"/>
          </p:cNvPicPr>
          <p:nvPr/>
        </p:nvPicPr>
        <p:blipFill>
          <a:blip r:embed="rId2"/>
          <a:stretch>
            <a:fillRect/>
          </a:stretch>
        </p:blipFill>
        <p:spPr>
          <a:xfrm>
            <a:off x="6594653" y="1995221"/>
            <a:ext cx="261518" cy="261518"/>
          </a:xfrm>
          <a:prstGeom prst="rect">
            <a:avLst/>
          </a:prstGeom>
        </p:spPr>
      </p:pic>
      <p:sp>
        <p:nvSpPr>
          <p:cNvPr id="15" name="Text 11"/>
          <p:cNvSpPr txBox="1"/>
          <p:nvPr/>
        </p:nvSpPr>
        <p:spPr>
          <a:xfrm>
            <a:off x="7114032" y="1874520"/>
            <a:ext cx="4297680" cy="502920"/>
          </a:xfrm>
          <a:prstGeom prst="rect">
            <a:avLst/>
          </a:prstGeom>
          <a:noFill/>
          <a:ln/>
        </p:spPr>
        <p:txBody>
          <a:bodyPr wrap="square" lIns="0" tIns="0" rIns="0" bIns="0" rtlCol="0" anchor="ctr"/>
          <a:lstStyle/>
          <a:p>
            <a:pPr indent="0" marL="0">
              <a:buNone/>
            </a:pPr>
            <a:r>
              <a:rPr lang="en-US" sz="2000" b="1" dirty="0">
                <a:solidFill>
                  <a:schemeClr val="accent2"/>
                </a:solidFill>
                <a:latin typeface="Arial" pitchFamily="34" charset="0"/>
                <a:ea typeface="Arial" pitchFamily="34" charset="-122"/>
                <a:cs typeface="Arial" pitchFamily="34" charset="-120"/>
              </a:rPr>
              <a:t>Ce qui manque</a:t>
            </a:r>
            <a:endParaRPr lang="en-US" sz="2000" dirty="0"/>
          </a:p>
        </p:txBody>
      </p:sp>
      <p:sp>
        <p:nvSpPr>
          <p:cNvPr id="16" name="Text 12"/>
          <p:cNvSpPr txBox="1"/>
          <p:nvPr/>
        </p:nvSpPr>
        <p:spPr>
          <a:xfrm>
            <a:off x="6519672" y="2651760"/>
            <a:ext cx="4846320" cy="731520"/>
          </a:xfrm>
          <a:prstGeom prst="rect">
            <a:avLst/>
          </a:prstGeom>
          <a:noFill/>
          <a:ln/>
        </p:spPr>
        <p:txBody>
          <a:bodyPr wrap="square" lIns="0" tIns="0" rIns="0" bIns="0" rtlCol="0" anchor="t"/>
          <a:lstStyle/>
          <a:p>
            <a:pPr indent="0" marL="0">
              <a:buNone/>
            </a:pPr>
            <a:r>
              <a:rPr lang="en-US" sz="1500" b="1" dirty="0">
                <a:solidFill>
                  <a:schemeClr val="bg1"/>
                </a:solidFill>
              </a:rPr>
              <a:t>Un vrai modèle entraîné, </a:t>
            </a:r>
            <a:pPr indent="0" marL="0">
              <a:buNone/>
            </a:pPr>
            <a:r>
              <a:rPr lang="en-US" sz="1500" dirty="0">
                <a:solidFill>
                  <a:schemeClr val="bg2"/>
                </a:solidFill>
              </a:rPr>
              <a:t>sur des images proches du cas d'usage</a:t>
            </a:r>
            <a:endParaRPr lang="en-US" sz="1500" dirty="0"/>
          </a:p>
        </p:txBody>
      </p:sp>
      <p:sp>
        <p:nvSpPr>
          <p:cNvPr id="17" name="Text 13"/>
          <p:cNvSpPr txBox="1"/>
          <p:nvPr/>
        </p:nvSpPr>
        <p:spPr>
          <a:xfrm>
            <a:off x="6519672" y="3502152"/>
            <a:ext cx="4846320" cy="731520"/>
          </a:xfrm>
          <a:prstGeom prst="rect">
            <a:avLst/>
          </a:prstGeom>
          <a:noFill/>
          <a:ln/>
        </p:spPr>
        <p:txBody>
          <a:bodyPr wrap="square" lIns="0" tIns="0" rIns="0" bIns="0" rtlCol="0" anchor="t"/>
          <a:lstStyle/>
          <a:p>
            <a:pPr indent="0" marL="0">
              <a:buNone/>
            </a:pPr>
            <a:r>
              <a:rPr lang="en-US" sz="1500" b="1" dirty="0">
                <a:solidFill>
                  <a:schemeClr val="bg1"/>
                </a:solidFill>
              </a:rPr>
              <a:t>Le code C généré par Aidge, </a:t>
            </a:r>
            <a:pPr indent="0" marL="0">
              <a:buNone/>
            </a:pPr>
            <a:r>
              <a:rPr lang="en-US" sz="1500" dirty="0">
                <a:solidFill>
                  <a:schemeClr val="bg2"/>
                </a:solidFill>
              </a:rPr>
              <a:t>compilé et testé</a:t>
            </a:r>
            <a:endParaRPr lang="en-US" sz="1500" dirty="0"/>
          </a:p>
        </p:txBody>
      </p:sp>
      <p:sp>
        <p:nvSpPr>
          <p:cNvPr id="18" name="Text 14"/>
          <p:cNvSpPr txBox="1"/>
          <p:nvPr/>
        </p:nvSpPr>
        <p:spPr>
          <a:xfrm>
            <a:off x="6519672" y="4352544"/>
            <a:ext cx="4846320" cy="731520"/>
          </a:xfrm>
          <a:prstGeom prst="rect">
            <a:avLst/>
          </a:prstGeom>
          <a:noFill/>
          <a:ln/>
        </p:spPr>
        <p:txBody>
          <a:bodyPr wrap="square" lIns="0" tIns="0" rIns="0" bIns="0" rtlCol="0" anchor="t"/>
          <a:lstStyle/>
          <a:p>
            <a:pPr indent="0" marL="0">
              <a:buNone/>
            </a:pPr>
            <a:r>
              <a:rPr lang="en-US" sz="1500" b="1" dirty="0">
                <a:solidFill>
                  <a:schemeClr val="bg1"/>
                </a:solidFill>
              </a:rPr>
              <a:t>La carte : </a:t>
            </a:r>
            <a:pPr indent="0" marL="0">
              <a:buNone/>
            </a:pPr>
            <a:r>
              <a:rPr lang="en-US" sz="1500" dirty="0">
                <a:solidFill>
                  <a:schemeClr val="bg2"/>
                </a:solidFill>
              </a:rPr>
              <a:t>pas encore arrivée, on avance sur PC en attendant</a:t>
            </a:r>
            <a:endParaRPr lang="en-US" sz="1500" dirty="0"/>
          </a:p>
        </p:txBody>
      </p:sp>
      <p:sp>
        <p:nvSpPr>
          <p:cNvPr id="19" name="Text 15"/>
          <p:cNvSpPr txBox="1"/>
          <p:nvPr/>
        </p:nvSpPr>
        <p:spPr>
          <a:xfrm>
            <a:off x="6519672" y="5202936"/>
            <a:ext cx="4846320" cy="731520"/>
          </a:xfrm>
          <a:prstGeom prst="rect">
            <a:avLst/>
          </a:prstGeom>
          <a:noFill/>
          <a:ln/>
        </p:spPr>
        <p:txBody>
          <a:bodyPr wrap="square" lIns="0" tIns="0" rIns="0" bIns="0" rtlCol="0" anchor="t"/>
          <a:lstStyle/>
          <a:p>
            <a:pPr indent="0" marL="0">
              <a:buNone/>
            </a:pPr>
            <a:r>
              <a:rPr lang="en-US" sz="1500" b="1" dirty="0">
                <a:solidFill>
                  <a:schemeClr val="bg1"/>
                </a:solidFill>
              </a:rPr>
              <a:t>Une organisation d'équipe : </a:t>
            </a:r>
            <a:pPr indent="0" marL="0">
              <a:buNone/>
            </a:pPr>
            <a:r>
              <a:rPr lang="en-US" sz="1500" dirty="0">
                <a:solidFill>
                  <a:schemeClr val="bg2"/>
                </a:solidFill>
              </a:rPr>
              <a:t>c'est l'objet d'aujourd'hui</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hip CHANTIER 1 · MODÈLE"/>
          <p:cNvSpPr/>
          <p:nvPr/>
        </p:nvSpPr>
        <p:spPr>
          <a:xfrm>
            <a:off x="548640" y="329184"/>
            <a:ext cx="2202058"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CHANTIER 1 · MODÈLE</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Entraîner en s'appuyant sur CompressAI</a:t>
            </a:r>
            <a:endParaRPr lang="en-US" sz="3000" dirty="0"/>
          </a:p>
        </p:txBody>
      </p:sp>
      <p:sp>
        <p:nvSpPr>
          <p:cNvPr id="4" name="étape 1"/>
          <p:cNvSpPr/>
          <p:nvPr/>
        </p:nvSpPr>
        <p:spPr>
          <a:xfrm>
            <a:off x="548640" y="1645920"/>
            <a:ext cx="2606040" cy="2560320"/>
          </a:xfrm>
          <a:prstGeom prst="roundRect">
            <a:avLst>
              <a:gd name="adj" fmla="val 4286"/>
            </a:avLst>
          </a:prstGeom>
          <a:solidFill>
            <a:schemeClr val="tx2"/>
          </a:solidFill>
          <a:ln w="12700">
            <a:solidFill>
              <a:schemeClr val="tx2"/>
            </a:solidFill>
            <a:prstDash val="solid"/>
          </a:ln>
        </p:spPr>
      </p:sp>
      <p:sp>
        <p:nvSpPr>
          <p:cNvPr id="5" name="numéro 1"/>
          <p:cNvSpPr/>
          <p:nvPr/>
        </p:nvSpPr>
        <p:spPr>
          <a:xfrm>
            <a:off x="777240" y="184708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777240" y="2450592"/>
            <a:ext cx="2194560"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Reproduire</a:t>
            </a:r>
            <a:endParaRPr lang="en-US" sz="1800" dirty="0"/>
          </a:p>
        </p:txBody>
      </p:sp>
      <p:sp>
        <p:nvSpPr>
          <p:cNvPr id="7" name="Text 5"/>
          <p:cNvSpPr txBox="1"/>
          <p:nvPr/>
        </p:nvSpPr>
        <p:spPr>
          <a:xfrm>
            <a:off x="777240" y="2862072"/>
            <a:ext cx="2194560" cy="1280160"/>
          </a:xfrm>
          <a:prstGeom prst="rect">
            <a:avLst/>
          </a:prstGeom>
          <a:noFill/>
          <a:ln/>
        </p:spPr>
        <p:txBody>
          <a:bodyPr wrap="square" lIns="0" tIns="0" rIns="0" bIns="0" rtlCol="0" anchor="t"/>
          <a:lstStyle/>
          <a:p>
            <a:pPr indent="0" marL="0">
              <a:buNone/>
            </a:pPr>
            <a:r>
              <a:rPr lang="en-US" sz="1400" dirty="0">
                <a:solidFill>
                  <a:schemeClr val="bg2"/>
                </a:solidFill>
              </a:rPr>
              <a:t>Poids pré-entraînés bmshj2018-factorized, le plus proche de Ballé 2017. Première courbe contre JPEG.</a:t>
            </a:r>
            <a:endParaRPr lang="en-US" sz="1400" dirty="0"/>
          </a:p>
        </p:txBody>
      </p:sp>
      <p:sp>
        <p:nvSpPr>
          <p:cNvPr id="8" name="étape 2"/>
          <p:cNvSpPr/>
          <p:nvPr/>
        </p:nvSpPr>
        <p:spPr>
          <a:xfrm>
            <a:off x="3374136" y="1645920"/>
            <a:ext cx="2606040" cy="2560320"/>
          </a:xfrm>
          <a:prstGeom prst="roundRect">
            <a:avLst>
              <a:gd name="adj" fmla="val 4286"/>
            </a:avLst>
          </a:prstGeom>
          <a:solidFill>
            <a:schemeClr val="tx2"/>
          </a:solidFill>
          <a:ln w="12700">
            <a:solidFill>
              <a:schemeClr val="tx2"/>
            </a:solidFill>
            <a:prstDash val="solid"/>
          </a:ln>
        </p:spPr>
      </p:sp>
      <p:sp>
        <p:nvSpPr>
          <p:cNvPr id="9" name="numéro 2"/>
          <p:cNvSpPr/>
          <p:nvPr/>
        </p:nvSpPr>
        <p:spPr>
          <a:xfrm>
            <a:off x="3602736" y="184708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3602736" y="2450592"/>
            <a:ext cx="2194560"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Choisir les données</a:t>
            </a:r>
            <a:endParaRPr lang="en-US" sz="1800" dirty="0"/>
          </a:p>
        </p:txBody>
      </p:sp>
      <p:sp>
        <p:nvSpPr>
          <p:cNvPr id="11" name="Text 9"/>
          <p:cNvSpPr txBox="1"/>
          <p:nvPr/>
        </p:nvSpPr>
        <p:spPr>
          <a:xfrm>
            <a:off x="3602736" y="2862072"/>
            <a:ext cx="2194560" cy="1280160"/>
          </a:xfrm>
          <a:prstGeom prst="rect">
            <a:avLst/>
          </a:prstGeom>
          <a:noFill/>
          <a:ln/>
        </p:spPr>
        <p:txBody>
          <a:bodyPr wrap="square" lIns="0" tIns="0" rIns="0" bIns="0" rtlCol="0" anchor="t"/>
          <a:lstStyle/>
          <a:p>
            <a:pPr indent="0" marL="0">
              <a:buNone/>
            </a:pPr>
            <a:r>
              <a:rPr lang="en-US" sz="1400" dirty="0">
                <a:solidFill>
                  <a:schemeClr val="bg2"/>
                </a:solidFill>
              </a:rPr>
              <a:t>Images proches du rover : sol, niveaux de gris. Kodak reste notre jeu de test commun.</a:t>
            </a:r>
            <a:endParaRPr lang="en-US" sz="1400" dirty="0"/>
          </a:p>
        </p:txBody>
      </p:sp>
      <p:sp>
        <p:nvSpPr>
          <p:cNvPr id="12" name="étape 3"/>
          <p:cNvSpPr/>
          <p:nvPr/>
        </p:nvSpPr>
        <p:spPr>
          <a:xfrm>
            <a:off x="6199632" y="1645920"/>
            <a:ext cx="2606040" cy="2560320"/>
          </a:xfrm>
          <a:prstGeom prst="roundRect">
            <a:avLst>
              <a:gd name="adj" fmla="val 4286"/>
            </a:avLst>
          </a:prstGeom>
          <a:solidFill>
            <a:schemeClr val="tx2"/>
          </a:solidFill>
          <a:ln w="12700">
            <a:solidFill>
              <a:schemeClr val="tx2"/>
            </a:solidFill>
            <a:prstDash val="solid"/>
          </a:ln>
        </p:spPr>
      </p:sp>
      <p:sp>
        <p:nvSpPr>
          <p:cNvPr id="13" name="numéro 3"/>
          <p:cNvSpPr/>
          <p:nvPr/>
        </p:nvSpPr>
        <p:spPr>
          <a:xfrm>
            <a:off x="6428232" y="184708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6428232" y="2450592"/>
            <a:ext cx="2194560"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Entraîner</a:t>
            </a:r>
            <a:endParaRPr lang="en-US" sz="1800" dirty="0"/>
          </a:p>
        </p:txBody>
      </p:sp>
      <p:sp>
        <p:nvSpPr>
          <p:cNvPr id="15" name="Text 13"/>
          <p:cNvSpPr txBox="1"/>
          <p:nvPr/>
        </p:nvSpPr>
        <p:spPr>
          <a:xfrm>
            <a:off x="6428232" y="2862072"/>
            <a:ext cx="2194560" cy="1280160"/>
          </a:xfrm>
          <a:prstGeom prst="rect">
            <a:avLst/>
          </a:prstGeom>
          <a:noFill/>
          <a:ln/>
        </p:spPr>
        <p:txBody>
          <a:bodyPr wrap="square" lIns="0" tIns="0" rIns="0" bIns="0" rtlCol="0" anchor="t"/>
          <a:lstStyle/>
          <a:p>
            <a:pPr indent="0" marL="0">
              <a:buNone/>
            </a:pPr>
            <a:r>
              <a:rPr lang="en-US" sz="1400" dirty="0">
                <a:solidFill>
                  <a:schemeClr val="bg2"/>
                </a:solidFill>
              </a:rPr>
              <a:t>Script train.py de CompressAI. Un modèle par valeur de λ, le réglage débit / qualité.</a:t>
            </a:r>
            <a:endParaRPr lang="en-US" sz="1400" dirty="0"/>
          </a:p>
        </p:txBody>
      </p:sp>
      <p:sp>
        <p:nvSpPr>
          <p:cNvPr id="16" name="étape 4"/>
          <p:cNvSpPr/>
          <p:nvPr/>
        </p:nvSpPr>
        <p:spPr>
          <a:xfrm>
            <a:off x="9025128" y="1645920"/>
            <a:ext cx="2606040" cy="2560320"/>
          </a:xfrm>
          <a:prstGeom prst="roundRect">
            <a:avLst>
              <a:gd name="adj" fmla="val 4286"/>
            </a:avLst>
          </a:prstGeom>
          <a:solidFill>
            <a:schemeClr val="tx2"/>
          </a:solidFill>
          <a:ln w="12700">
            <a:solidFill>
              <a:schemeClr val="tx2"/>
            </a:solidFill>
            <a:prstDash val="solid"/>
          </a:ln>
        </p:spPr>
      </p:sp>
      <p:sp>
        <p:nvSpPr>
          <p:cNvPr id="17" name="numéro 4"/>
          <p:cNvSpPr/>
          <p:nvPr/>
        </p:nvSpPr>
        <p:spPr>
          <a:xfrm>
            <a:off x="9253728" y="1847088"/>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9253728" y="2450592"/>
            <a:ext cx="2194560" cy="36576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Exporter</a:t>
            </a:r>
            <a:endParaRPr lang="en-US" sz="1800" dirty="0"/>
          </a:p>
        </p:txBody>
      </p:sp>
      <p:sp>
        <p:nvSpPr>
          <p:cNvPr id="19" name="Text 17"/>
          <p:cNvSpPr txBox="1"/>
          <p:nvPr/>
        </p:nvSpPr>
        <p:spPr>
          <a:xfrm>
            <a:off x="9253728" y="2862072"/>
            <a:ext cx="2194560" cy="1280160"/>
          </a:xfrm>
          <a:prstGeom prst="rect">
            <a:avLst/>
          </a:prstGeom>
          <a:noFill/>
          <a:ln/>
        </p:spPr>
        <p:txBody>
          <a:bodyPr wrap="square" lIns="0" tIns="0" rIns="0" bIns="0" rtlCol="0" anchor="t"/>
          <a:lstStyle/>
          <a:p>
            <a:pPr indent="0" marL="0">
              <a:buNone/>
            </a:pPr>
            <a:r>
              <a:rPr lang="en-US" sz="1400" dirty="0">
                <a:solidFill>
                  <a:schemeClr val="bg2"/>
                </a:solidFill>
              </a:rPr>
              <a:t>L'encodeur g_a seul en ONNX, avec des paires entrée / sortie pour vérifier le C.</a:t>
            </a:r>
            <a:endParaRPr lang="en-US" sz="1400" dirty="0"/>
          </a:p>
        </p:txBody>
      </p:sp>
      <p:sp>
        <p:nvSpPr>
          <p:cNvPr id="20" name="commande"/>
          <p:cNvSpPr/>
          <p:nvPr/>
        </p:nvSpPr>
        <p:spPr>
          <a:xfrm>
            <a:off x="548640" y="4434840"/>
            <a:ext cx="11091672" cy="777240"/>
          </a:xfrm>
          <a:prstGeom prst="roundRect">
            <a:avLst>
              <a:gd name="adj" fmla="val 14118"/>
            </a:avLst>
          </a:prstGeom>
          <a:solidFill>
            <a:schemeClr val="tx2"/>
          </a:solidFill>
          <a:ln w="12700">
            <a:solidFill>
              <a:schemeClr val="tx2"/>
            </a:solidFill>
            <a:prstDash val="solid"/>
          </a:ln>
        </p:spPr>
      </p:sp>
      <p:sp>
        <p:nvSpPr>
          <p:cNvPr id="21" name="Text 19"/>
          <p:cNvSpPr txBox="1"/>
          <p:nvPr/>
        </p:nvSpPr>
        <p:spPr>
          <a:xfrm>
            <a:off x="777240" y="4434840"/>
            <a:ext cx="10698480" cy="777240"/>
          </a:xfrm>
          <a:prstGeom prst="rect">
            <a:avLst/>
          </a:prstGeom>
          <a:noFill/>
          <a:ln/>
        </p:spPr>
        <p:txBody>
          <a:bodyPr wrap="square" lIns="0" tIns="0" rIns="0" bIns="0" rtlCol="0" anchor="ctr"/>
          <a:lstStyle/>
          <a:p>
            <a:pPr indent="0" marL="0">
              <a:buNone/>
            </a:pPr>
            <a:r>
              <a:rPr lang="en-US" sz="1400" dirty="0">
                <a:solidFill>
                  <a:schemeClr val="accent1"/>
                </a:solidFill>
                <a:latin typeface="Courier New" pitchFamily="34" charset="0"/>
                <a:ea typeface="Courier New" pitchFamily="34" charset="-122"/>
                <a:cs typeface="Courier New" pitchFamily="34" charset="-120"/>
              </a:rPr>
              <a:t>$ </a:t>
            </a:r>
            <a:pPr indent="0" marL="0">
              <a:buNone/>
            </a:pPr>
            <a:r>
              <a:rPr lang="en-US" sz="1400" dirty="0">
                <a:solidFill>
                  <a:schemeClr val="bg1"/>
                </a:solidFill>
                <a:latin typeface="Courier New" pitchFamily="34" charset="0"/>
                <a:ea typeface="Courier New" pitchFamily="34" charset="-122"/>
                <a:cs typeface="Courier New" pitchFamily="34" charset="-120"/>
              </a:rPr>
              <a:t>python examples/train.py -m bmshj2018-factorized -d data/ -e 100 --lambda 0.01 --cuda --save</a:t>
            </a:r>
            <a:endParaRPr lang="en-US" sz="1400" dirty="0"/>
          </a:p>
        </p:txBody>
      </p:sp>
      <p:sp>
        <p:nvSpPr>
          <p:cNvPr id="22" name="pastille FaWindows"/>
          <p:cNvSpPr/>
          <p:nvPr/>
        </p:nvSpPr>
        <p:spPr>
          <a:xfrm>
            <a:off x="548640" y="5440680"/>
            <a:ext cx="502920" cy="502920"/>
          </a:xfrm>
          <a:prstGeom prst="ellipse">
            <a:avLst/>
          </a:prstGeom>
          <a:solidFill>
            <a:schemeClr val="tx2"/>
          </a:solidFill>
          <a:ln w="12700">
            <a:solidFill>
              <a:schemeClr val="tx2"/>
            </a:solidFill>
            <a:prstDash val="solid"/>
          </a:ln>
        </p:spPr>
      </p:sp>
      <p:pic>
        <p:nvPicPr>
          <p:cNvPr id="23" name="icône FaWindows" descr="preencoded.png">    </p:cNvPr>
          <p:cNvPicPr>
            <a:picLocks noChangeAspect="1"/>
          </p:cNvPicPr>
          <p:nvPr/>
        </p:nvPicPr>
        <p:blipFill>
          <a:blip r:embed="rId1"/>
          <a:stretch>
            <a:fillRect/>
          </a:stretch>
        </p:blipFill>
        <p:spPr>
          <a:xfrm>
            <a:off x="669341" y="5561381"/>
            <a:ext cx="261518" cy="261518"/>
          </a:xfrm>
          <a:prstGeom prst="rect">
            <a:avLst/>
          </a:prstGeom>
        </p:spPr>
      </p:pic>
      <p:sp>
        <p:nvSpPr>
          <p:cNvPr id="24" name="Text 21"/>
          <p:cNvSpPr txBox="1"/>
          <p:nvPr/>
        </p:nvSpPr>
        <p:spPr>
          <a:xfrm>
            <a:off x="1234440" y="5440680"/>
            <a:ext cx="10332720" cy="502920"/>
          </a:xfrm>
          <a:prstGeom prst="rect">
            <a:avLst/>
          </a:prstGeom>
          <a:noFill/>
          <a:ln/>
        </p:spPr>
        <p:txBody>
          <a:bodyPr wrap="square" lIns="0" tIns="0" rIns="0" bIns="0" rtlCol="0" anchor="ctr"/>
          <a:lstStyle/>
          <a:p>
            <a:pPr indent="0" marL="0">
              <a:buNone/>
            </a:pPr>
            <a:r>
              <a:rPr lang="en-US" sz="1400" dirty="0">
                <a:solidFill>
                  <a:schemeClr val="accent6"/>
                </a:solidFill>
              </a:rPr>
              <a:t>CompressAI n'a pas de paquet Windows : on entraîne sous Linux, WSL2 ou sur un GPU distant (Colab, serveur de l'école).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hip CHANTIER 1 · MODÈLE"/>
          <p:cNvSpPr/>
          <p:nvPr/>
        </p:nvSpPr>
        <p:spPr>
          <a:xfrm>
            <a:off x="548640" y="329184"/>
            <a:ext cx="2202058"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CHANTIER 1 · MODÈLE</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Optimiser : plus léger, même qualité</a:t>
            </a:r>
            <a:endParaRPr lang="en-US" sz="3000" dirty="0"/>
          </a:p>
        </p:txBody>
      </p:sp>
      <p:sp>
        <p:nvSpPr>
          <p:cNvPr id="4" name="Text 2"/>
          <p:cNvSpPr txBox="1"/>
          <p:nvPr/>
        </p:nvSpPr>
        <p:spPr>
          <a:xfrm>
            <a:off x="548640" y="1645920"/>
            <a:ext cx="3291840" cy="50292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0,88 M</a:t>
            </a:r>
            <a:endParaRPr lang="en-US" sz="3000" dirty="0"/>
          </a:p>
        </p:txBody>
      </p:sp>
      <p:sp>
        <p:nvSpPr>
          <p:cNvPr id="5" name="Text 3"/>
          <p:cNvSpPr txBox="1"/>
          <p:nvPr/>
        </p:nvSpPr>
        <p:spPr>
          <a:xfrm>
            <a:off x="548640" y="2148840"/>
            <a:ext cx="3291840" cy="365760"/>
          </a:xfrm>
          <a:prstGeom prst="rect">
            <a:avLst/>
          </a:prstGeom>
          <a:noFill/>
          <a:ln/>
        </p:spPr>
        <p:txBody>
          <a:bodyPr wrap="square" lIns="0" tIns="0" rIns="0" bIns="0" rtlCol="0" anchor="t"/>
          <a:lstStyle/>
          <a:p>
            <a:pPr indent="0" marL="0">
              <a:buNone/>
            </a:pPr>
            <a:r>
              <a:rPr lang="en-US" sz="1300" dirty="0">
                <a:solidFill>
                  <a:schemeClr val="accent6"/>
                </a:solidFill>
              </a:rPr>
              <a:t>paramètres dans l'encodeur (N = 128)</a:t>
            </a:r>
            <a:endParaRPr lang="en-US" sz="1300" dirty="0"/>
          </a:p>
        </p:txBody>
      </p:sp>
      <p:sp>
        <p:nvSpPr>
          <p:cNvPr id="6" name="Text 4"/>
          <p:cNvSpPr txBox="1"/>
          <p:nvPr/>
        </p:nvSpPr>
        <p:spPr>
          <a:xfrm>
            <a:off x="548640" y="2670048"/>
            <a:ext cx="3291840" cy="50292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 860 Kio</a:t>
            </a:r>
            <a:endParaRPr lang="en-US" sz="3000" dirty="0"/>
          </a:p>
        </p:txBody>
      </p:sp>
      <p:sp>
        <p:nvSpPr>
          <p:cNvPr id="7" name="Text 5"/>
          <p:cNvSpPr txBox="1"/>
          <p:nvPr/>
        </p:nvSpPr>
        <p:spPr>
          <a:xfrm>
            <a:off x="548640" y="3172968"/>
            <a:ext cx="3291840" cy="365760"/>
          </a:xfrm>
          <a:prstGeom prst="rect">
            <a:avLst/>
          </a:prstGeom>
          <a:noFill/>
          <a:ln/>
        </p:spPr>
        <p:txBody>
          <a:bodyPr wrap="square" lIns="0" tIns="0" rIns="0" bIns="0" rtlCol="0" anchor="t"/>
          <a:lstStyle/>
          <a:p>
            <a:pPr indent="0" marL="0">
              <a:buNone/>
            </a:pPr>
            <a:r>
              <a:rPr lang="en-US" sz="1300" dirty="0">
                <a:solidFill>
                  <a:schemeClr val="accent6"/>
                </a:solidFill>
              </a:rPr>
              <a:t>de poids une fois en INT8</a:t>
            </a:r>
            <a:endParaRPr lang="en-US" sz="1300" dirty="0"/>
          </a:p>
        </p:txBody>
      </p:sp>
      <p:sp>
        <p:nvSpPr>
          <p:cNvPr id="8" name="Text 6"/>
          <p:cNvSpPr txBox="1"/>
          <p:nvPr/>
        </p:nvSpPr>
        <p:spPr>
          <a:xfrm>
            <a:off x="548640" y="3694176"/>
            <a:ext cx="3291840" cy="502920"/>
          </a:xfrm>
          <a:prstGeom prst="rect">
            <a:avLst/>
          </a:prstGeom>
          <a:noFill/>
          <a:ln/>
        </p:spPr>
        <p:txBody>
          <a:bodyPr wrap="square" lIns="0" tIns="0" rIns="0" bIns="0" rtlCol="0" anchor="t"/>
          <a:lstStyle/>
          <a:p>
            <a:pPr indent="0" marL="0">
              <a:buNone/>
            </a:pPr>
            <a:r>
              <a:rPr lang="en-US" sz="3000" b="1" dirty="0">
                <a:solidFill>
                  <a:schemeClr val="accent2"/>
                </a:solidFill>
                <a:latin typeface="Arial" pitchFamily="34" charset="0"/>
                <a:ea typeface="Arial" pitchFamily="34" charset="-122"/>
                <a:cs typeface="Arial" pitchFamily="34" charset="-120"/>
              </a:rPr>
              <a:t>655 M</a:t>
            </a:r>
            <a:endParaRPr lang="en-US" sz="3000" dirty="0"/>
          </a:p>
        </p:txBody>
      </p:sp>
      <p:sp>
        <p:nvSpPr>
          <p:cNvPr id="9" name="Text 7"/>
          <p:cNvSpPr txBox="1"/>
          <p:nvPr/>
        </p:nvSpPr>
        <p:spPr>
          <a:xfrm>
            <a:off x="548640" y="4197096"/>
            <a:ext cx="3291840" cy="365760"/>
          </a:xfrm>
          <a:prstGeom prst="rect">
            <a:avLst/>
          </a:prstGeom>
          <a:noFill/>
          <a:ln/>
        </p:spPr>
        <p:txBody>
          <a:bodyPr wrap="square" lIns="0" tIns="0" rIns="0" bIns="0" rtlCol="0" anchor="t"/>
          <a:lstStyle/>
          <a:p>
            <a:pPr indent="0" marL="0">
              <a:buNone/>
            </a:pPr>
            <a:r>
              <a:rPr lang="en-US" sz="1300" dirty="0">
                <a:solidFill>
                  <a:schemeClr val="accent6"/>
                </a:solidFill>
              </a:rPr>
              <a:t>multiplications par tuile 256 × 256</a:t>
            </a:r>
            <a:endParaRPr lang="en-US" sz="1300" dirty="0"/>
          </a:p>
        </p:txBody>
      </p:sp>
      <p:sp>
        <p:nvSpPr>
          <p:cNvPr id="10" name="Text 8"/>
          <p:cNvSpPr txBox="1"/>
          <p:nvPr/>
        </p:nvSpPr>
        <p:spPr>
          <a:xfrm>
            <a:off x="548640" y="4718304"/>
            <a:ext cx="3291840" cy="502920"/>
          </a:xfrm>
          <a:prstGeom prst="rect">
            <a:avLst/>
          </a:prstGeom>
          <a:noFill/>
          <a:ln/>
        </p:spPr>
        <p:txBody>
          <a:bodyPr wrap="square" lIns="0" tIns="0" rIns="0" bIns="0" rtlCol="0" anchor="t"/>
          <a:lstStyle/>
          <a:p>
            <a:pPr indent="0" marL="0">
              <a:buNone/>
            </a:pPr>
            <a:r>
              <a:rPr lang="en-US" sz="3000" b="1" dirty="0">
                <a:solidFill>
                  <a:schemeClr val="accent1"/>
                </a:solidFill>
                <a:latin typeface="Arial" pitchFamily="34" charset="0"/>
                <a:ea typeface="Arial" pitchFamily="34" charset="-122"/>
                <a:cs typeface="Arial" pitchFamily="34" charset="-120"/>
              </a:rPr>
              <a:t>512 Mo</a:t>
            </a:r>
            <a:endParaRPr lang="en-US" sz="3000" dirty="0"/>
          </a:p>
        </p:txBody>
      </p:sp>
      <p:sp>
        <p:nvSpPr>
          <p:cNvPr id="11" name="Text 9"/>
          <p:cNvSpPr txBox="1"/>
          <p:nvPr/>
        </p:nvSpPr>
        <p:spPr>
          <a:xfrm>
            <a:off x="548640" y="5221224"/>
            <a:ext cx="3291840" cy="365760"/>
          </a:xfrm>
          <a:prstGeom prst="rect">
            <a:avLst/>
          </a:prstGeom>
          <a:noFill/>
          <a:ln/>
        </p:spPr>
        <p:txBody>
          <a:bodyPr wrap="square" lIns="0" tIns="0" rIns="0" bIns="0" rtlCol="0" anchor="t"/>
          <a:lstStyle/>
          <a:p>
            <a:pPr indent="0" marL="0">
              <a:buNone/>
            </a:pPr>
            <a:r>
              <a:rPr lang="en-US" sz="1300" dirty="0">
                <a:solidFill>
                  <a:schemeClr val="accent6"/>
                </a:solidFill>
              </a:rPr>
              <a:t>de DDR, partagés avec Linux</a:t>
            </a:r>
            <a:endParaRPr lang="en-US" sz="1300" dirty="0"/>
          </a:p>
        </p:txBody>
      </p:sp>
      <p:sp>
        <p:nvSpPr>
          <p:cNvPr id="12" name="Réduire le nombre de canaux"/>
          <p:cNvSpPr/>
          <p:nvPr/>
        </p:nvSpPr>
        <p:spPr>
          <a:xfrm>
            <a:off x="4160520" y="1645920"/>
            <a:ext cx="3630168" cy="1965960"/>
          </a:xfrm>
          <a:prstGeom prst="roundRect">
            <a:avLst>
              <a:gd name="adj" fmla="val 5581"/>
            </a:avLst>
          </a:prstGeom>
          <a:solidFill>
            <a:schemeClr val="tx2"/>
          </a:solidFill>
          <a:ln w="12700">
            <a:solidFill>
              <a:schemeClr val="tx2"/>
            </a:solidFill>
            <a:prstDash val="solid"/>
          </a:ln>
        </p:spPr>
      </p:sp>
      <p:sp>
        <p:nvSpPr>
          <p:cNvPr id="13" name="pastille FaCompressArrowsAlt"/>
          <p:cNvSpPr/>
          <p:nvPr/>
        </p:nvSpPr>
        <p:spPr>
          <a:xfrm>
            <a:off x="4389120" y="1874520"/>
            <a:ext cx="457200" cy="457200"/>
          </a:xfrm>
          <a:prstGeom prst="ellipse">
            <a:avLst/>
          </a:prstGeom>
          <a:solidFill>
            <a:schemeClr val="accent1"/>
          </a:solidFill>
          <a:ln w="12700">
            <a:solidFill>
              <a:schemeClr val="accent1"/>
            </a:solidFill>
            <a:prstDash val="solid"/>
          </a:ln>
        </p:spPr>
      </p:sp>
      <p:pic>
        <p:nvPicPr>
          <p:cNvPr id="14" name="icône FaCompressArrowsAlt" descr="preencoded.png">    </p:cNvPr>
          <p:cNvPicPr>
            <a:picLocks noChangeAspect="1"/>
          </p:cNvPicPr>
          <p:nvPr/>
        </p:nvPicPr>
        <p:blipFill>
          <a:blip r:embed="rId1"/>
          <a:stretch>
            <a:fillRect/>
          </a:stretch>
        </p:blipFill>
        <p:spPr>
          <a:xfrm>
            <a:off x="4498848" y="1984248"/>
            <a:ext cx="237744" cy="237744"/>
          </a:xfrm>
          <a:prstGeom prst="rect">
            <a:avLst/>
          </a:prstGeom>
        </p:spPr>
      </p:pic>
      <p:sp>
        <p:nvSpPr>
          <p:cNvPr id="15" name="Text 12"/>
          <p:cNvSpPr txBox="1"/>
          <p:nvPr/>
        </p:nvSpPr>
        <p:spPr>
          <a:xfrm>
            <a:off x="4983480" y="1874520"/>
            <a:ext cx="2651760" cy="45720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Réduire le nombre de canaux</a:t>
            </a:r>
            <a:endParaRPr lang="en-US" sz="1700" dirty="0"/>
          </a:p>
        </p:txBody>
      </p:sp>
      <p:sp>
        <p:nvSpPr>
          <p:cNvPr id="16" name="Text 13"/>
          <p:cNvSpPr txBox="1"/>
          <p:nvPr/>
        </p:nvSpPr>
        <p:spPr>
          <a:xfrm>
            <a:off x="4389120" y="2514600"/>
            <a:ext cx="3200400" cy="1005840"/>
          </a:xfrm>
          <a:prstGeom prst="rect">
            <a:avLst/>
          </a:prstGeom>
          <a:noFill/>
          <a:ln/>
        </p:spPr>
        <p:txBody>
          <a:bodyPr wrap="square" lIns="0" tIns="0" rIns="0" bIns="0" rtlCol="0" anchor="t"/>
          <a:lstStyle/>
          <a:p>
            <a:pPr indent="0" marL="0">
              <a:buNone/>
            </a:pPr>
            <a:r>
              <a:rPr lang="en-US" sz="1400" dirty="0">
                <a:solidFill>
                  <a:schemeClr val="bg2"/>
                </a:solidFill>
              </a:rPr>
              <a:t>N = 128 → 64 : environ 4 fois moins de calcul sur les couches 2 et 3.</a:t>
            </a:r>
            <a:endParaRPr lang="en-US" sz="1400" dirty="0"/>
          </a:p>
        </p:txBody>
      </p:sp>
      <p:sp>
        <p:nvSpPr>
          <p:cNvPr id="17" name="Quantifier en INT8"/>
          <p:cNvSpPr/>
          <p:nvPr/>
        </p:nvSpPr>
        <p:spPr>
          <a:xfrm>
            <a:off x="8010144" y="1645920"/>
            <a:ext cx="3630168" cy="1965960"/>
          </a:xfrm>
          <a:prstGeom prst="roundRect">
            <a:avLst>
              <a:gd name="adj" fmla="val 5581"/>
            </a:avLst>
          </a:prstGeom>
          <a:solidFill>
            <a:schemeClr val="tx2"/>
          </a:solidFill>
          <a:ln w="12700">
            <a:solidFill>
              <a:schemeClr val="tx2"/>
            </a:solidFill>
            <a:prstDash val="solid"/>
          </a:ln>
        </p:spPr>
      </p:sp>
      <p:sp>
        <p:nvSpPr>
          <p:cNvPr id="18" name="pastille FaSortNumericDown"/>
          <p:cNvSpPr/>
          <p:nvPr/>
        </p:nvSpPr>
        <p:spPr>
          <a:xfrm>
            <a:off x="8238744" y="1874520"/>
            <a:ext cx="457200" cy="457200"/>
          </a:xfrm>
          <a:prstGeom prst="ellipse">
            <a:avLst/>
          </a:prstGeom>
          <a:solidFill>
            <a:schemeClr val="accent1"/>
          </a:solidFill>
          <a:ln w="12700">
            <a:solidFill>
              <a:schemeClr val="accent1"/>
            </a:solidFill>
            <a:prstDash val="solid"/>
          </a:ln>
        </p:spPr>
      </p:sp>
      <p:pic>
        <p:nvPicPr>
          <p:cNvPr id="19" name="icône FaSortNumericDown" descr="preencoded.png">    </p:cNvPr>
          <p:cNvPicPr>
            <a:picLocks noChangeAspect="1"/>
          </p:cNvPicPr>
          <p:nvPr/>
        </p:nvPicPr>
        <p:blipFill>
          <a:blip r:embed="rId2"/>
          <a:stretch>
            <a:fillRect/>
          </a:stretch>
        </p:blipFill>
        <p:spPr>
          <a:xfrm>
            <a:off x="8348472" y="1984248"/>
            <a:ext cx="237744" cy="237744"/>
          </a:xfrm>
          <a:prstGeom prst="rect">
            <a:avLst/>
          </a:prstGeom>
        </p:spPr>
      </p:pic>
      <p:sp>
        <p:nvSpPr>
          <p:cNvPr id="20" name="Text 16"/>
          <p:cNvSpPr txBox="1"/>
          <p:nvPr/>
        </p:nvSpPr>
        <p:spPr>
          <a:xfrm>
            <a:off x="8833104" y="1874520"/>
            <a:ext cx="2651760" cy="45720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Quantifier en INT8</a:t>
            </a:r>
            <a:endParaRPr lang="en-US" sz="1700" dirty="0"/>
          </a:p>
        </p:txBody>
      </p:sp>
      <p:sp>
        <p:nvSpPr>
          <p:cNvPr id="21" name="Text 17"/>
          <p:cNvSpPr txBox="1"/>
          <p:nvPr/>
        </p:nvSpPr>
        <p:spPr>
          <a:xfrm>
            <a:off x="8238744" y="2514600"/>
            <a:ext cx="3200400" cy="1005840"/>
          </a:xfrm>
          <a:prstGeom prst="rect">
            <a:avLst/>
          </a:prstGeom>
          <a:noFill/>
          <a:ln/>
        </p:spPr>
        <p:txBody>
          <a:bodyPr wrap="square" lIns="0" tIns="0" rIns="0" bIns="0" rtlCol="0" anchor="t"/>
          <a:lstStyle/>
          <a:p>
            <a:pPr indent="0" marL="0">
              <a:buNone/>
            </a:pPr>
            <a:r>
              <a:rPr lang="en-US" sz="1400" dirty="0">
                <a:solidFill>
                  <a:schemeClr val="bg2"/>
                </a:solidFill>
              </a:rPr>
              <a:t>Poids 4 fois plus petits, calcul entier adapté au FPGA. PTQ d'abord, QAT si la qualité chute.</a:t>
            </a:r>
            <a:endParaRPr lang="en-US" sz="1400" dirty="0"/>
          </a:p>
        </p:txBody>
      </p:sp>
      <p:sp>
        <p:nvSpPr>
          <p:cNvPr id="22" name="Découper en tuiles"/>
          <p:cNvSpPr/>
          <p:nvPr/>
        </p:nvSpPr>
        <p:spPr>
          <a:xfrm>
            <a:off x="4160520" y="3794760"/>
            <a:ext cx="3630168" cy="1965960"/>
          </a:xfrm>
          <a:prstGeom prst="roundRect">
            <a:avLst>
              <a:gd name="adj" fmla="val 5581"/>
            </a:avLst>
          </a:prstGeom>
          <a:solidFill>
            <a:schemeClr val="tx2"/>
          </a:solidFill>
          <a:ln w="12700">
            <a:solidFill>
              <a:schemeClr val="tx2"/>
            </a:solidFill>
            <a:prstDash val="solid"/>
          </a:ln>
        </p:spPr>
      </p:sp>
      <p:sp>
        <p:nvSpPr>
          <p:cNvPr id="23" name="pastille FaThLarge"/>
          <p:cNvSpPr/>
          <p:nvPr/>
        </p:nvSpPr>
        <p:spPr>
          <a:xfrm>
            <a:off x="4389120" y="4023360"/>
            <a:ext cx="457200" cy="457200"/>
          </a:xfrm>
          <a:prstGeom prst="ellipse">
            <a:avLst/>
          </a:prstGeom>
          <a:solidFill>
            <a:schemeClr val="accent1"/>
          </a:solidFill>
          <a:ln w="12700">
            <a:solidFill>
              <a:schemeClr val="accent1"/>
            </a:solidFill>
            <a:prstDash val="solid"/>
          </a:ln>
        </p:spPr>
      </p:sp>
      <p:pic>
        <p:nvPicPr>
          <p:cNvPr id="24" name="icône FaThLarge" descr="preencoded.png">    </p:cNvPr>
          <p:cNvPicPr>
            <a:picLocks noChangeAspect="1"/>
          </p:cNvPicPr>
          <p:nvPr/>
        </p:nvPicPr>
        <p:blipFill>
          <a:blip r:embed="rId3"/>
          <a:stretch>
            <a:fillRect/>
          </a:stretch>
        </p:blipFill>
        <p:spPr>
          <a:xfrm>
            <a:off x="4498848" y="4133088"/>
            <a:ext cx="237744" cy="237744"/>
          </a:xfrm>
          <a:prstGeom prst="rect">
            <a:avLst/>
          </a:prstGeom>
        </p:spPr>
      </p:pic>
      <p:sp>
        <p:nvSpPr>
          <p:cNvPr id="25" name="Text 20"/>
          <p:cNvSpPr txBox="1"/>
          <p:nvPr/>
        </p:nvSpPr>
        <p:spPr>
          <a:xfrm>
            <a:off x="4983480" y="4023360"/>
            <a:ext cx="2651760" cy="45720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Découper en tuiles</a:t>
            </a:r>
            <a:endParaRPr lang="en-US" sz="1700" dirty="0"/>
          </a:p>
        </p:txBody>
      </p:sp>
      <p:sp>
        <p:nvSpPr>
          <p:cNvPr id="26" name="Text 21"/>
          <p:cNvSpPr txBox="1"/>
          <p:nvPr/>
        </p:nvSpPr>
        <p:spPr>
          <a:xfrm>
            <a:off x="4389120" y="4663440"/>
            <a:ext cx="3200400" cy="1005840"/>
          </a:xfrm>
          <a:prstGeom prst="rect">
            <a:avLst/>
          </a:prstGeom>
          <a:noFill/>
          <a:ln/>
        </p:spPr>
        <p:txBody>
          <a:bodyPr wrap="square" lIns="0" tIns="0" rIns="0" bIns="0" rtlCol="0" anchor="t"/>
          <a:lstStyle/>
          <a:p>
            <a:pPr indent="0" marL="0">
              <a:buNone/>
            </a:pPr>
            <a:r>
              <a:rPr lang="en-US" sz="1400" dirty="0">
                <a:solidFill>
                  <a:schemeClr val="bg2"/>
                </a:solidFill>
              </a:rPr>
              <a:t>Tuiles 256 × 256 traitées une par une : la mémoire ne dépend plus de la taille de l'image.</a:t>
            </a:r>
            <a:endParaRPr lang="en-US" sz="1400" dirty="0"/>
          </a:p>
        </p:txBody>
      </p:sp>
      <p:sp>
        <p:nvSpPr>
          <p:cNvPr id="27" name="Alléger la GDN"/>
          <p:cNvSpPr/>
          <p:nvPr/>
        </p:nvSpPr>
        <p:spPr>
          <a:xfrm>
            <a:off x="8010144" y="3794760"/>
            <a:ext cx="3630168" cy="1965960"/>
          </a:xfrm>
          <a:prstGeom prst="roundRect">
            <a:avLst>
              <a:gd name="adj" fmla="val 5581"/>
            </a:avLst>
          </a:prstGeom>
          <a:solidFill>
            <a:schemeClr val="tx2"/>
          </a:solidFill>
          <a:ln w="12700">
            <a:solidFill>
              <a:schemeClr val="tx2"/>
            </a:solidFill>
            <a:prstDash val="solid"/>
          </a:ln>
        </p:spPr>
      </p:sp>
      <p:sp>
        <p:nvSpPr>
          <p:cNvPr id="28" name="pastille FaFeatherAlt"/>
          <p:cNvSpPr/>
          <p:nvPr/>
        </p:nvSpPr>
        <p:spPr>
          <a:xfrm>
            <a:off x="8238744" y="4023360"/>
            <a:ext cx="457200" cy="457200"/>
          </a:xfrm>
          <a:prstGeom prst="ellipse">
            <a:avLst/>
          </a:prstGeom>
          <a:solidFill>
            <a:schemeClr val="accent1"/>
          </a:solidFill>
          <a:ln w="12700">
            <a:solidFill>
              <a:schemeClr val="accent1"/>
            </a:solidFill>
            <a:prstDash val="solid"/>
          </a:ln>
        </p:spPr>
      </p:sp>
      <p:pic>
        <p:nvPicPr>
          <p:cNvPr id="29" name="icône FaFeatherAlt" descr="preencoded.png">    </p:cNvPr>
          <p:cNvPicPr>
            <a:picLocks noChangeAspect="1"/>
          </p:cNvPicPr>
          <p:nvPr/>
        </p:nvPicPr>
        <p:blipFill>
          <a:blip r:embed="rId4"/>
          <a:stretch>
            <a:fillRect/>
          </a:stretch>
        </p:blipFill>
        <p:spPr>
          <a:xfrm>
            <a:off x="8348472" y="4133088"/>
            <a:ext cx="237744" cy="237744"/>
          </a:xfrm>
          <a:prstGeom prst="rect">
            <a:avLst/>
          </a:prstGeom>
        </p:spPr>
      </p:pic>
      <p:sp>
        <p:nvSpPr>
          <p:cNvPr id="30" name="Text 24"/>
          <p:cNvSpPr txBox="1"/>
          <p:nvPr/>
        </p:nvSpPr>
        <p:spPr>
          <a:xfrm>
            <a:off x="8833104" y="4023360"/>
            <a:ext cx="2651760" cy="45720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Alléger la GDN</a:t>
            </a:r>
            <a:endParaRPr lang="en-US" sz="1700" dirty="0"/>
          </a:p>
        </p:txBody>
      </p:sp>
      <p:sp>
        <p:nvSpPr>
          <p:cNvPr id="31" name="Text 25"/>
          <p:cNvSpPr txBox="1"/>
          <p:nvPr/>
        </p:nvSpPr>
        <p:spPr>
          <a:xfrm>
            <a:off x="8238744" y="4663440"/>
            <a:ext cx="3200400" cy="1005840"/>
          </a:xfrm>
          <a:prstGeom prst="rect">
            <a:avLst/>
          </a:prstGeom>
          <a:noFill/>
          <a:ln/>
        </p:spPr>
        <p:txBody>
          <a:bodyPr wrap="square" lIns="0" tIns="0" rIns="0" bIns="0" rtlCol="0" anchor="t"/>
          <a:lstStyle/>
          <a:p>
            <a:pPr indent="0" marL="0">
              <a:buNone/>
            </a:pPr>
            <a:r>
              <a:rPr lang="en-US" sz="1400" dirty="0">
                <a:solidFill>
                  <a:schemeClr val="bg2"/>
                </a:solidFill>
              </a:rPr>
              <a:t>Déjà figée en conv 1×1 + racine + division, validée dans Aidge. Tester une version simplifiée.</a:t>
            </a:r>
            <a:endParaRPr lang="en-US" sz="1400" dirty="0"/>
          </a:p>
        </p:txBody>
      </p:sp>
      <p:sp>
        <p:nvSpPr>
          <p:cNvPr id="32" name="Text 26"/>
          <p:cNvSpPr txBox="1"/>
          <p:nvPr/>
        </p:nvSpPr>
        <p:spPr>
          <a:xfrm>
            <a:off x="548640" y="5943600"/>
            <a:ext cx="11091672" cy="365760"/>
          </a:xfrm>
          <a:prstGeom prst="rect">
            <a:avLst/>
          </a:prstGeom>
          <a:noFill/>
          <a:ln/>
        </p:spPr>
        <p:txBody>
          <a:bodyPr wrap="square" lIns="0" tIns="0" rIns="0" bIns="0" rtlCol="0" anchor="t"/>
          <a:lstStyle/>
          <a:p>
            <a:pPr indent="0" marL="0">
              <a:buNone/>
            </a:pPr>
            <a:r>
              <a:rPr lang="en-US" sz="1500" b="1" dirty="0">
                <a:solidFill>
                  <a:schemeClr val="accent2"/>
                </a:solidFill>
              </a:rPr>
              <a:t>Les poids sont légers, c'est le calcul qui coûte. </a:t>
            </a:r>
            <a:pPr indent="0" marL="0">
              <a:buNone/>
            </a:pPr>
            <a:r>
              <a:rPr lang="en-US" sz="1500" dirty="0">
                <a:solidFill>
                  <a:schemeClr val="bg2"/>
                </a:solidFill>
              </a:rPr>
              <a:t>On juge chaque levier sur la courbe débit / qualité : on garde ce qui coûte peu en PSNR.</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hip CHANTIER 2 · EMBARQUÉ"/>
          <p:cNvSpPr/>
          <p:nvPr/>
        </p:nvSpPr>
        <p:spPr>
          <a:xfrm>
            <a:off x="548640" y="329184"/>
            <a:ext cx="2399203"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CHANTIER 2 · EMBARQUÉ</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D'abord du C qui marche, ensuite du C rapide</a:t>
            </a:r>
            <a:endParaRPr lang="en-US" sz="3000" dirty="0"/>
          </a:p>
        </p:txBody>
      </p:sp>
      <p:sp>
        <p:nvSpPr>
          <p:cNvPr id="4" name="ÉTAPE A · SUR PC"/>
          <p:cNvSpPr/>
          <p:nvPr/>
        </p:nvSpPr>
        <p:spPr>
          <a:xfrm>
            <a:off x="548640" y="1645920"/>
            <a:ext cx="3429000" cy="2971800"/>
          </a:xfrm>
          <a:prstGeom prst="roundRect">
            <a:avLst>
              <a:gd name="adj" fmla="val 3692"/>
            </a:avLst>
          </a:prstGeom>
          <a:solidFill>
            <a:schemeClr val="tx2"/>
          </a:solidFill>
          <a:ln w="19050">
            <a:solidFill>
              <a:schemeClr val="accent2"/>
            </a:solidFill>
            <a:prstDash val="solid"/>
          </a:ln>
        </p:spPr>
      </p:sp>
      <p:sp>
        <p:nvSpPr>
          <p:cNvPr id="5" name="chip ÉTAPE A · SUR PC"/>
          <p:cNvSpPr/>
          <p:nvPr/>
        </p:nvSpPr>
        <p:spPr>
          <a:xfrm>
            <a:off x="777240" y="1874520"/>
            <a:ext cx="1906341"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ÉTAPE A · SUR PC</a:t>
            </a:r>
            <a:endParaRPr lang="en-US" sz="1100" dirty="0"/>
          </a:p>
        </p:txBody>
      </p:sp>
      <p:sp>
        <p:nvSpPr>
          <p:cNvPr id="6" name="Text 4"/>
          <p:cNvSpPr txBox="1"/>
          <p:nvPr/>
        </p:nvSpPr>
        <p:spPr>
          <a:xfrm>
            <a:off x="777240" y="2331720"/>
            <a:ext cx="3017520"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Générer et valider le C</a:t>
            </a:r>
            <a:endParaRPr lang="en-US" sz="1800" dirty="0"/>
          </a:p>
        </p:txBody>
      </p:sp>
      <p:sp>
        <p:nvSpPr>
          <p:cNvPr id="7" name="Text 5"/>
          <p:cNvSpPr txBox="1"/>
          <p:nvPr/>
        </p:nvSpPr>
        <p:spPr>
          <a:xfrm>
            <a:off x="777240" y="2834640"/>
            <a:ext cx="3017520" cy="164592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bg2"/>
                </a:solidFill>
              </a:rPr>
              <a:t>Aidge importe l'ONNX</a:t>
            </a:r>
            <a:endParaRPr lang="en-US" sz="1400" dirty="0"/>
          </a:p>
          <a:p>
            <a:pPr marL="190500" indent="-190500">
              <a:spcAft>
                <a:spcPts val="600"/>
              </a:spcAft>
              <a:buSzPct val="100000"/>
              <a:buChar char="•"/>
            </a:pPr>
            <a:r>
              <a:rPr lang="en-US" sz="1400" dirty="0">
                <a:solidFill>
                  <a:schemeClr val="bg2"/>
                </a:solidFill>
              </a:rPr>
              <a:t>Export C (export C++ d'Aidge ou Acetone)</a:t>
            </a:r>
            <a:endParaRPr lang="en-US" sz="1400" dirty="0"/>
          </a:p>
          <a:p>
            <a:pPr marL="190500" indent="-190500">
              <a:spcAft>
                <a:spcPts val="600"/>
              </a:spcAft>
              <a:buSzPct val="100000"/>
              <a:buChar char="•"/>
            </a:pPr>
            <a:r>
              <a:rPr lang="en-US" sz="1400" dirty="0">
                <a:solidFill>
                  <a:schemeClr val="bg2"/>
                </a:solidFill>
              </a:rPr>
              <a:t>Compiler, comparer aux vecteurs de test</a:t>
            </a:r>
            <a:endParaRPr lang="en-US" sz="1400" dirty="0"/>
          </a:p>
        </p:txBody>
      </p:sp>
      <p:sp>
        <p:nvSpPr>
          <p:cNvPr id="8" name="flèche étape"/>
          <p:cNvSpPr/>
          <p:nvPr/>
        </p:nvSpPr>
        <p:spPr>
          <a:xfrm>
            <a:off x="4041648" y="3127248"/>
            <a:ext cx="274320" cy="0"/>
          </a:xfrm>
          <a:prstGeom prst="line">
            <a:avLst/>
          </a:prstGeom>
          <a:noFill/>
          <a:ln w="25400">
            <a:solidFill>
              <a:schemeClr val="accent2"/>
            </a:solidFill>
            <a:prstDash val="solid"/>
            <a:tailEnd type="triangle"/>
          </a:ln>
        </p:spPr>
      </p:sp>
      <p:sp>
        <p:nvSpPr>
          <p:cNvPr id="9" name="ÉTAPE B · SUR L'ARM"/>
          <p:cNvSpPr/>
          <p:nvPr/>
        </p:nvSpPr>
        <p:spPr>
          <a:xfrm>
            <a:off x="4379976" y="1645920"/>
            <a:ext cx="3429000" cy="2971800"/>
          </a:xfrm>
          <a:prstGeom prst="roundRect">
            <a:avLst>
              <a:gd name="adj" fmla="val 3692"/>
            </a:avLst>
          </a:prstGeom>
          <a:solidFill>
            <a:schemeClr val="tx2"/>
          </a:solidFill>
          <a:ln w="19050">
            <a:solidFill>
              <a:schemeClr val="accent2"/>
            </a:solidFill>
            <a:prstDash val="solid"/>
          </a:ln>
        </p:spPr>
      </p:sp>
      <p:sp>
        <p:nvSpPr>
          <p:cNvPr id="10" name="chip ÉTAPE B · SUR L&amp;apos;ARM"/>
          <p:cNvSpPr/>
          <p:nvPr/>
        </p:nvSpPr>
        <p:spPr>
          <a:xfrm>
            <a:off x="4608576" y="1874520"/>
            <a:ext cx="2202058"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ÉTAPE B · SUR L'ARM</a:t>
            </a:r>
            <a:endParaRPr lang="en-US" sz="1100" dirty="0"/>
          </a:p>
        </p:txBody>
      </p:sp>
      <p:sp>
        <p:nvSpPr>
          <p:cNvPr id="11" name="Text 9"/>
          <p:cNvSpPr txBox="1"/>
          <p:nvPr/>
        </p:nvSpPr>
        <p:spPr>
          <a:xfrm>
            <a:off x="4608576" y="2331720"/>
            <a:ext cx="3017520"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Faire tourner sur la carte</a:t>
            </a:r>
            <a:endParaRPr lang="en-US" sz="1800" dirty="0"/>
          </a:p>
        </p:txBody>
      </p:sp>
      <p:sp>
        <p:nvSpPr>
          <p:cNvPr id="12" name="Text 10"/>
          <p:cNvSpPr txBox="1"/>
          <p:nvPr/>
        </p:nvSpPr>
        <p:spPr>
          <a:xfrm>
            <a:off x="4608576" y="2834640"/>
            <a:ext cx="3017520" cy="164592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bg2"/>
                </a:solidFill>
              </a:rPr>
              <a:t>Compilation croisée pour le Cortex-A9</a:t>
            </a:r>
            <a:endParaRPr lang="en-US" sz="1400" dirty="0"/>
          </a:p>
          <a:p>
            <a:pPr marL="190500" indent="-190500">
              <a:spcAft>
                <a:spcPts val="600"/>
              </a:spcAft>
              <a:buSzPct val="100000"/>
              <a:buChar char="•"/>
            </a:pPr>
            <a:r>
              <a:rPr lang="en-US" sz="1400" dirty="0">
                <a:solidFill>
                  <a:schemeClr val="bg2"/>
                </a:solidFill>
              </a:rPr>
              <a:t>Exécution sous Linux (image PYNQ)</a:t>
            </a:r>
            <a:endParaRPr lang="en-US" sz="1400" dirty="0"/>
          </a:p>
          <a:p>
            <a:pPr marL="190500" indent="-190500">
              <a:spcAft>
                <a:spcPts val="600"/>
              </a:spcAft>
              <a:buSzPct val="100000"/>
              <a:buChar char="•"/>
            </a:pPr>
            <a:r>
              <a:rPr lang="en-US" sz="1400" dirty="0">
                <a:solidFill>
                  <a:schemeClr val="bg2"/>
                </a:solidFill>
              </a:rPr>
              <a:t>Mesurer temps par couche, mémoire, CPU</a:t>
            </a:r>
            <a:endParaRPr lang="en-US" sz="1400" dirty="0"/>
          </a:p>
        </p:txBody>
      </p:sp>
      <p:sp>
        <p:nvSpPr>
          <p:cNvPr id="13" name="flèche étape"/>
          <p:cNvSpPr/>
          <p:nvPr/>
        </p:nvSpPr>
        <p:spPr>
          <a:xfrm>
            <a:off x="7872984" y="3127248"/>
            <a:ext cx="274320" cy="0"/>
          </a:xfrm>
          <a:prstGeom prst="line">
            <a:avLst/>
          </a:prstGeom>
          <a:noFill/>
          <a:ln w="25400">
            <a:solidFill>
              <a:schemeClr val="accent2"/>
            </a:solidFill>
            <a:prstDash val="solid"/>
            <a:tailEnd type="triangle"/>
          </a:ln>
        </p:spPr>
      </p:sp>
      <p:sp>
        <p:nvSpPr>
          <p:cNvPr id="14" name="ÉTAPE C · À BORD"/>
          <p:cNvSpPr/>
          <p:nvPr/>
        </p:nvSpPr>
        <p:spPr>
          <a:xfrm>
            <a:off x="8211312" y="1645920"/>
            <a:ext cx="3429000" cy="2971800"/>
          </a:xfrm>
          <a:prstGeom prst="roundRect">
            <a:avLst>
              <a:gd name="adj" fmla="val 3692"/>
            </a:avLst>
          </a:prstGeom>
          <a:solidFill>
            <a:schemeClr val="tx2"/>
          </a:solidFill>
          <a:ln w="19050">
            <a:solidFill>
              <a:schemeClr val="accent2"/>
            </a:solidFill>
            <a:prstDash val="solid"/>
          </a:ln>
        </p:spPr>
      </p:sp>
      <p:sp>
        <p:nvSpPr>
          <p:cNvPr id="15" name="chip ÉTAPE C · À BORD"/>
          <p:cNvSpPr/>
          <p:nvPr/>
        </p:nvSpPr>
        <p:spPr>
          <a:xfrm>
            <a:off x="8439912" y="1874520"/>
            <a:ext cx="1906341"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ÉTAPE C · À BORD</a:t>
            </a:r>
            <a:endParaRPr lang="en-US" sz="1100" dirty="0"/>
          </a:p>
        </p:txBody>
      </p:sp>
      <p:sp>
        <p:nvSpPr>
          <p:cNvPr id="16" name="Text 14"/>
          <p:cNvSpPr txBox="1"/>
          <p:nvPr/>
        </p:nvSpPr>
        <p:spPr>
          <a:xfrm>
            <a:off x="8439912" y="2331720"/>
            <a:ext cx="3017520"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Chaîne complète</a:t>
            </a:r>
            <a:endParaRPr lang="en-US" sz="1800" dirty="0"/>
          </a:p>
        </p:txBody>
      </p:sp>
      <p:sp>
        <p:nvSpPr>
          <p:cNvPr id="17" name="Text 15"/>
          <p:cNvSpPr txBox="1"/>
          <p:nvPr/>
        </p:nvSpPr>
        <p:spPr>
          <a:xfrm>
            <a:off x="8439912" y="2834640"/>
            <a:ext cx="3017520" cy="164592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chemeClr val="bg2"/>
                </a:solidFill>
              </a:rPr>
              <a:t>Ajouter arrondi et codage entropique en C</a:t>
            </a:r>
            <a:endParaRPr lang="en-US" sz="1400" dirty="0"/>
          </a:p>
          <a:p>
            <a:pPr marL="190500" indent="-190500">
              <a:spcAft>
                <a:spcPts val="600"/>
              </a:spcAft>
              <a:buSzPct val="100000"/>
              <a:buChar char="•"/>
            </a:pPr>
            <a:r>
              <a:rPr lang="en-US" sz="1400" dirty="0">
                <a:solidFill>
                  <a:schemeClr val="bg2"/>
                </a:solidFill>
              </a:rPr>
              <a:t>Écrire le train binaire</a:t>
            </a:r>
            <a:endParaRPr lang="en-US" sz="1400" dirty="0"/>
          </a:p>
          <a:p>
            <a:pPr marL="190500" indent="-190500">
              <a:spcAft>
                <a:spcPts val="600"/>
              </a:spcAft>
              <a:buSzPct val="100000"/>
              <a:buChar char="•"/>
            </a:pPr>
            <a:r>
              <a:rPr lang="en-US" sz="1400" dirty="0">
                <a:solidFill>
                  <a:schemeClr val="bg2"/>
                </a:solidFill>
              </a:rPr>
              <a:t>Le décoder au sol : preuve de compression</a:t>
            </a:r>
            <a:endParaRPr lang="en-US" sz="1400" dirty="0"/>
          </a:p>
        </p:txBody>
      </p:sp>
      <p:sp>
        <p:nvSpPr>
          <p:cNvPr id="18" name="règle d'or"/>
          <p:cNvSpPr/>
          <p:nvPr/>
        </p:nvSpPr>
        <p:spPr>
          <a:xfrm>
            <a:off x="548640" y="4846320"/>
            <a:ext cx="11091672" cy="1234440"/>
          </a:xfrm>
          <a:prstGeom prst="roundRect">
            <a:avLst>
              <a:gd name="adj" fmla="val 8889"/>
            </a:avLst>
          </a:prstGeom>
          <a:solidFill>
            <a:schemeClr val="tx2"/>
          </a:solidFill>
          <a:ln w="12700">
            <a:solidFill>
              <a:schemeClr val="tx2"/>
            </a:solidFill>
            <a:prstDash val="solid"/>
          </a:ln>
        </p:spPr>
      </p:sp>
      <p:sp>
        <p:nvSpPr>
          <p:cNvPr id="19" name="pastille FaBalanceScale"/>
          <p:cNvSpPr/>
          <p:nvPr/>
        </p:nvSpPr>
        <p:spPr>
          <a:xfrm>
            <a:off x="777240" y="5120640"/>
            <a:ext cx="548640" cy="548640"/>
          </a:xfrm>
          <a:prstGeom prst="ellipse">
            <a:avLst/>
          </a:prstGeom>
          <a:solidFill>
            <a:schemeClr val="accent2"/>
          </a:solidFill>
          <a:ln w="12700">
            <a:solidFill>
              <a:schemeClr val="accent2"/>
            </a:solidFill>
            <a:prstDash val="solid"/>
          </a:ln>
        </p:spPr>
      </p:sp>
      <p:pic>
        <p:nvPicPr>
          <p:cNvPr id="20" name="icône FaBalanceScale" descr="preencoded.png">    </p:cNvPr>
          <p:cNvPicPr>
            <a:picLocks noChangeAspect="1"/>
          </p:cNvPicPr>
          <p:nvPr/>
        </p:nvPicPr>
        <p:blipFill>
          <a:blip r:embed="rId1"/>
          <a:stretch>
            <a:fillRect/>
          </a:stretch>
        </p:blipFill>
        <p:spPr>
          <a:xfrm>
            <a:off x="908914" y="5252314"/>
            <a:ext cx="285293" cy="285293"/>
          </a:xfrm>
          <a:prstGeom prst="rect">
            <a:avLst/>
          </a:prstGeom>
        </p:spPr>
      </p:pic>
      <p:sp>
        <p:nvSpPr>
          <p:cNvPr id="21" name="Text 18"/>
          <p:cNvSpPr txBox="1"/>
          <p:nvPr/>
        </p:nvSpPr>
        <p:spPr>
          <a:xfrm>
            <a:off x="1554480" y="4956048"/>
            <a:ext cx="9875520" cy="1005840"/>
          </a:xfrm>
          <a:prstGeom prst="rect">
            <a:avLst/>
          </a:prstGeom>
          <a:noFill/>
          <a:ln/>
        </p:spPr>
        <p:txBody>
          <a:bodyPr wrap="square" lIns="0" tIns="0" rIns="0" bIns="0" rtlCol="0" anchor="ctr"/>
          <a:lstStyle/>
          <a:p>
            <a:pPr indent="0" marL="0">
              <a:spcAft>
                <a:spcPts val="400"/>
              </a:spcAft>
              <a:buNone/>
            </a:pPr>
            <a:r>
              <a:rPr lang="en-US" sz="1500" b="1" dirty="0">
                <a:solidFill>
                  <a:schemeClr val="accent2"/>
                </a:solidFill>
              </a:rPr>
              <a:t>Règle d'or : </a:t>
            </a:r>
            <a:pPr indent="0" marL="0">
              <a:spcAft>
                <a:spcPts val="400"/>
              </a:spcAft>
              <a:buNone/>
            </a:pPr>
            <a:r>
              <a:rPr lang="en-US" sz="1500" dirty="0">
                <a:solidFill>
                  <a:schemeClr val="bg1"/>
                </a:solidFill>
              </a:rPr>
              <a:t>à chaque étape, la sortie doit être la même qu'avec PyTorch (à l'arrondi près). Sinon, on ne passe pas à l'étape suivante.</a:t>
            </a:r>
            <a:endParaRPr lang="en-US" sz="1500" dirty="0"/>
          </a:p>
          <a:p>
            <a:pPr indent="0" marL="0">
              <a:spcAft>
                <a:spcPts val="400"/>
              </a:spcAft>
              <a:buNone/>
            </a:pPr>
            <a:r>
              <a:rPr lang="en-US" sz="1400" dirty="0">
                <a:solidFill>
                  <a:schemeClr val="accent6"/>
                </a:solidFill>
              </a:rPr>
              <a:t>La carte n'est pas encore là : l'étape A et la compilation croisée avancent sans elle.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hip CHANTIER 2 · EMBARQUÉ"/>
          <p:cNvSpPr/>
          <p:nvPr/>
        </p:nvSpPr>
        <p:spPr>
          <a:xfrm>
            <a:off x="548640" y="329184"/>
            <a:ext cx="2399203"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CHANTIER 2 · EMBARQUÉ</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Puis LoCod envoie les couches lourdes sur le FPGA</a:t>
            </a:r>
            <a:endParaRPr lang="en-US" sz="3000" dirty="0"/>
          </a:p>
        </p:txBody>
      </p:sp>
      <p:pic>
        <p:nvPicPr>
          <p:cNvPr id="4" name="partition PS PL" descr="Partitionnement PS / PL sur le Zynq-7020">    </p:cNvPr>
          <p:cNvPicPr>
            <a:picLocks noChangeAspect="1"/>
          </p:cNvPicPr>
          <p:nvPr/>
        </p:nvPicPr>
        <p:blipFill>
          <a:blip r:embed="rId1"/>
          <a:stretch>
            <a:fillRect/>
          </a:stretch>
        </p:blipFill>
        <p:spPr>
          <a:xfrm>
            <a:off x="868680" y="1554480"/>
            <a:ext cx="10451592" cy="3825283"/>
          </a:xfrm>
          <a:prstGeom prst="rect">
            <a:avLst/>
          </a:prstGeom>
        </p:spPr>
      </p:pic>
      <p:sp>
        <p:nvSpPr>
          <p:cNvPr id="5" name="Text 2"/>
          <p:cNvSpPr txBox="1"/>
          <p:nvPr/>
        </p:nvSpPr>
        <p:spPr>
          <a:xfrm>
            <a:off x="548640" y="5532120"/>
            <a:ext cx="11091672" cy="685800"/>
          </a:xfrm>
          <a:prstGeom prst="rect">
            <a:avLst/>
          </a:prstGeom>
          <a:noFill/>
          <a:ln/>
        </p:spPr>
        <p:txBody>
          <a:bodyPr wrap="square" lIns="0" tIns="0" rIns="0" bIns="0" rtlCol="0" anchor="t"/>
          <a:lstStyle/>
          <a:p>
            <a:pPr indent="0" marL="0">
              <a:buNone/>
            </a:pPr>
            <a:r>
              <a:rPr lang="en-US" sz="1500" b="1" dirty="0">
                <a:solidFill>
                  <a:schemeClr val="accent2"/>
                </a:solidFill>
              </a:rPr>
              <a:t>Comment : </a:t>
            </a:r>
            <a:pPr indent="0" marL="0">
              <a:buNone/>
            </a:pPr>
            <a:r>
              <a:rPr lang="en-US" sz="1500" dirty="0">
                <a:solidFill>
                  <a:schemeClr val="bg2"/>
                </a:solidFill>
              </a:rPr>
              <a:t>on marque une fonction C avec FPGA(), LoCod génère l'accélérateur et le câblage AXI. </a:t>
            </a:r>
            <a:pPr indent="0" marL="0">
              <a:buNone/>
            </a:pPr>
            <a:r>
              <a:rPr lang="en-US" sz="1500" b="1" dirty="0">
                <a:solidFill>
                  <a:schemeClr val="accent2"/>
                </a:solidFill>
              </a:rPr>
              <a:t>Le vrai enjeu : </a:t>
            </a:r>
            <a:pPr indent="0" marL="0">
              <a:buNone/>
            </a:pPr>
            <a:r>
              <a:rPr lang="en-US" sz="1500" dirty="0">
                <a:solidFill>
                  <a:schemeClr val="bg2"/>
                </a:solidFill>
              </a:rPr>
              <a:t>limiter les allers-retours de données entre processeur et FPGA.</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hip PISTES D&amp;apos;OPTIMISATION"/>
          <p:cNvSpPr/>
          <p:nvPr/>
        </p:nvSpPr>
        <p:spPr>
          <a:xfrm>
            <a:off x="548640" y="329184"/>
            <a:ext cx="2399203"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PISTES D'OPTIMISATION</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Les pistes d'optimisation, par faisabilité</a:t>
            </a:r>
            <a:endParaRPr lang="en-US" sz="3000" dirty="0"/>
          </a:p>
        </p:txBody>
      </p:sp>
      <p:sp>
        <p:nvSpPr>
          <p:cNvPr id="4" name="colonne Facile"/>
          <p:cNvSpPr/>
          <p:nvPr/>
        </p:nvSpPr>
        <p:spPr>
          <a:xfrm>
            <a:off x="548640" y="1600200"/>
            <a:ext cx="3520440" cy="777240"/>
          </a:xfrm>
          <a:prstGeom prst="roundRect">
            <a:avLst>
              <a:gd name="adj" fmla="val 14118"/>
            </a:avLst>
          </a:prstGeom>
          <a:solidFill>
            <a:schemeClr val="tx2"/>
          </a:solidFill>
          <a:ln w="12700">
            <a:solidFill>
              <a:schemeClr val="tx2"/>
            </a:solidFill>
            <a:prstDash val="solid"/>
          </a:ln>
        </p:spPr>
      </p:sp>
      <p:sp>
        <p:nvSpPr>
          <p:cNvPr id="5" name="Text 3"/>
          <p:cNvSpPr txBox="1"/>
          <p:nvPr/>
        </p:nvSpPr>
        <p:spPr>
          <a:xfrm>
            <a:off x="731520" y="1673352"/>
            <a:ext cx="2377440" cy="347472"/>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Facile</a:t>
            </a:r>
            <a:endParaRPr lang="en-US" sz="1900" dirty="0"/>
          </a:p>
        </p:txBody>
      </p:sp>
      <p:sp>
        <p:nvSpPr>
          <p:cNvPr id="6" name="Text 4"/>
          <p:cNvSpPr txBox="1"/>
          <p:nvPr/>
        </p:nvSpPr>
        <p:spPr>
          <a:xfrm>
            <a:off x="731520" y="2029968"/>
            <a:ext cx="2743200" cy="274320"/>
          </a:xfrm>
          <a:prstGeom prst="rect">
            <a:avLst/>
          </a:prstGeom>
          <a:noFill/>
          <a:ln/>
        </p:spPr>
        <p:txBody>
          <a:bodyPr wrap="square" lIns="0" tIns="0" rIns="0" bIns="0" rtlCol="0" anchor="t"/>
          <a:lstStyle/>
          <a:p>
            <a:pPr indent="0" marL="0">
              <a:buNone/>
            </a:pPr>
            <a:r>
              <a:rPr lang="en-US" sz="1200" dirty="0">
                <a:solidFill>
                  <a:schemeClr val="accent6"/>
                </a:solidFill>
              </a:rPr>
              <a:t>quelques jours, sans ré-entraîner</a:t>
            </a:r>
            <a:endParaRPr lang="en-US" sz="1200" dirty="0"/>
          </a:p>
        </p:txBody>
      </p:sp>
      <p:sp>
        <p:nvSpPr>
          <p:cNvPr id="7" name="effort"/>
          <p:cNvSpPr/>
          <p:nvPr/>
        </p:nvSpPr>
        <p:spPr>
          <a:xfrm>
            <a:off x="3200400" y="1783080"/>
            <a:ext cx="164592" cy="164592"/>
          </a:xfrm>
          <a:prstGeom prst="ellipse">
            <a:avLst/>
          </a:prstGeom>
          <a:solidFill>
            <a:schemeClr val="accent5"/>
          </a:solidFill>
          <a:ln w="12700">
            <a:solidFill>
              <a:schemeClr val="accent5"/>
            </a:solidFill>
            <a:prstDash val="solid"/>
          </a:ln>
        </p:spPr>
      </p:sp>
      <p:sp>
        <p:nvSpPr>
          <p:cNvPr id="8" name="effort"/>
          <p:cNvSpPr/>
          <p:nvPr/>
        </p:nvSpPr>
        <p:spPr>
          <a:xfrm>
            <a:off x="3447288" y="1783080"/>
            <a:ext cx="164592" cy="164592"/>
          </a:xfrm>
          <a:prstGeom prst="ellipse">
            <a:avLst/>
          </a:prstGeom>
          <a:solidFill>
            <a:schemeClr val="tx1"/>
          </a:solidFill>
          <a:ln w="12700">
            <a:solidFill>
              <a:schemeClr val="accent5"/>
            </a:solidFill>
            <a:prstDash val="solid"/>
          </a:ln>
        </p:spPr>
      </p:sp>
      <p:sp>
        <p:nvSpPr>
          <p:cNvPr id="9" name="effort"/>
          <p:cNvSpPr/>
          <p:nvPr/>
        </p:nvSpPr>
        <p:spPr>
          <a:xfrm>
            <a:off x="3694176" y="1783080"/>
            <a:ext cx="164592" cy="164592"/>
          </a:xfrm>
          <a:prstGeom prst="ellipse">
            <a:avLst/>
          </a:prstGeom>
          <a:solidFill>
            <a:schemeClr val="tx1"/>
          </a:solidFill>
          <a:ln w="12700">
            <a:solidFill>
              <a:schemeClr val="accent5"/>
            </a:solidFill>
            <a:prstDash val="solid"/>
          </a:ln>
        </p:spPr>
      </p:sp>
      <p:sp>
        <p:nvSpPr>
          <p:cNvPr id="10" name="piste Compiler en -O3 + NEON"/>
          <p:cNvSpPr/>
          <p:nvPr/>
        </p:nvSpPr>
        <p:spPr>
          <a:xfrm>
            <a:off x="548640" y="2514600"/>
            <a:ext cx="3520440" cy="621792"/>
          </a:xfrm>
          <a:prstGeom prst="roundRect">
            <a:avLst>
              <a:gd name="adj" fmla="val 11765"/>
            </a:avLst>
          </a:prstGeom>
          <a:solidFill>
            <a:schemeClr val="tx2"/>
          </a:solidFill>
          <a:ln w="12700">
            <a:solidFill>
              <a:schemeClr val="tx2"/>
            </a:solidFill>
            <a:prstDash val="solid"/>
          </a:ln>
        </p:spPr>
      </p:sp>
      <p:sp>
        <p:nvSpPr>
          <p:cNvPr id="11" name="Text 9"/>
          <p:cNvSpPr txBox="1"/>
          <p:nvPr/>
        </p:nvSpPr>
        <p:spPr>
          <a:xfrm>
            <a:off x="713232" y="2578608"/>
            <a:ext cx="2423160" cy="274320"/>
          </a:xfrm>
          <a:prstGeom prst="rect">
            <a:avLst/>
          </a:prstGeom>
          <a:noFill/>
          <a:ln/>
        </p:spPr>
        <p:txBody>
          <a:bodyPr wrap="square" lIns="0" tIns="0" rIns="0" bIns="0" rtlCol="0" anchor="t"/>
          <a:lstStyle/>
          <a:p>
            <a:pPr indent="0" marL="0">
              <a:buNone/>
            </a:pPr>
            <a:r>
              <a:rPr lang="en-US" sz="1400" b="1" dirty="0">
                <a:solidFill>
                  <a:schemeClr val="bg1"/>
                </a:solidFill>
              </a:rPr>
              <a:t>Compiler en -O3 + NEON</a:t>
            </a:r>
            <a:endParaRPr lang="en-US" sz="1400" dirty="0"/>
          </a:p>
        </p:txBody>
      </p:sp>
      <p:sp>
        <p:nvSpPr>
          <p:cNvPr id="12" name="Text 10"/>
          <p:cNvSpPr txBox="1"/>
          <p:nvPr/>
        </p:nvSpPr>
        <p:spPr>
          <a:xfrm>
            <a:off x="713232" y="2852928"/>
            <a:ext cx="2514600" cy="237744"/>
          </a:xfrm>
          <a:prstGeom prst="rect">
            <a:avLst/>
          </a:prstGeom>
          <a:noFill/>
          <a:ln/>
        </p:spPr>
        <p:txBody>
          <a:bodyPr wrap="square" lIns="0" tIns="0" rIns="0" bIns="0" rtlCol="0" anchor="t"/>
          <a:lstStyle/>
          <a:p>
            <a:pPr indent="0" marL="0">
              <a:buNone/>
            </a:pPr>
            <a:r>
              <a:rPr lang="en-US" sz="1200" dirty="0">
                <a:solidFill>
                  <a:schemeClr val="bg2"/>
                </a:solidFill>
              </a:rPr>
              <a:t>Gain notable, presque gratuit</a:t>
            </a:r>
            <a:endParaRPr lang="en-US" sz="1200" dirty="0"/>
          </a:p>
        </p:txBody>
      </p:sp>
      <p:sp>
        <p:nvSpPr>
          <p:cNvPr id="13" name="chip LOGICIEL"/>
          <p:cNvSpPr/>
          <p:nvPr/>
        </p:nvSpPr>
        <p:spPr>
          <a:xfrm>
            <a:off x="3172968" y="2606040"/>
            <a:ext cx="777240" cy="201168"/>
          </a:xfrm>
          <a:prstGeom prst="roundRect">
            <a:avLst>
              <a:gd name="adj" fmla="val 50000"/>
            </a:avLst>
          </a:prstGeom>
          <a:solidFill>
            <a:schemeClr val="accent3"/>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LOGICIEL</a:t>
            </a:r>
            <a:endParaRPr lang="en-US" sz="800" dirty="0"/>
          </a:p>
        </p:txBody>
      </p:sp>
      <p:sp>
        <p:nvSpPr>
          <p:cNvPr id="14" name="piste Utiliser les 2 cœurs ARM"/>
          <p:cNvSpPr/>
          <p:nvPr/>
        </p:nvSpPr>
        <p:spPr>
          <a:xfrm>
            <a:off x="548640" y="3209544"/>
            <a:ext cx="3520440" cy="621792"/>
          </a:xfrm>
          <a:prstGeom prst="roundRect">
            <a:avLst>
              <a:gd name="adj" fmla="val 11765"/>
            </a:avLst>
          </a:prstGeom>
          <a:solidFill>
            <a:schemeClr val="tx2"/>
          </a:solidFill>
          <a:ln w="12700">
            <a:solidFill>
              <a:schemeClr val="tx2"/>
            </a:solidFill>
            <a:prstDash val="solid"/>
          </a:ln>
        </p:spPr>
      </p:sp>
      <p:sp>
        <p:nvSpPr>
          <p:cNvPr id="15" name="Text 13"/>
          <p:cNvSpPr txBox="1"/>
          <p:nvPr/>
        </p:nvSpPr>
        <p:spPr>
          <a:xfrm>
            <a:off x="713232" y="3273552"/>
            <a:ext cx="2423160" cy="274320"/>
          </a:xfrm>
          <a:prstGeom prst="rect">
            <a:avLst/>
          </a:prstGeom>
          <a:noFill/>
          <a:ln/>
        </p:spPr>
        <p:txBody>
          <a:bodyPr wrap="square" lIns="0" tIns="0" rIns="0" bIns="0" rtlCol="0" anchor="t"/>
          <a:lstStyle/>
          <a:p>
            <a:pPr indent="0" marL="0">
              <a:buNone/>
            </a:pPr>
            <a:r>
              <a:rPr lang="en-US" sz="1400" b="1" dirty="0">
                <a:solidFill>
                  <a:schemeClr val="bg1"/>
                </a:solidFill>
              </a:rPr>
              <a:t>Utiliser les 2 cœurs ARM</a:t>
            </a:r>
            <a:endParaRPr lang="en-US" sz="1400" dirty="0"/>
          </a:p>
        </p:txBody>
      </p:sp>
      <p:sp>
        <p:nvSpPr>
          <p:cNvPr id="16" name="Text 14"/>
          <p:cNvSpPr txBox="1"/>
          <p:nvPr/>
        </p:nvSpPr>
        <p:spPr>
          <a:xfrm>
            <a:off x="713232" y="3547872"/>
            <a:ext cx="2514600" cy="237744"/>
          </a:xfrm>
          <a:prstGeom prst="rect">
            <a:avLst/>
          </a:prstGeom>
          <a:noFill/>
          <a:ln/>
        </p:spPr>
        <p:txBody>
          <a:bodyPr wrap="square" lIns="0" tIns="0" rIns="0" bIns="0" rtlCol="0" anchor="t"/>
          <a:lstStyle/>
          <a:p>
            <a:pPr indent="0" marL="0">
              <a:buNone/>
            </a:pPr>
            <a:r>
              <a:rPr lang="en-US" sz="1200" dirty="0">
                <a:solidFill>
                  <a:schemeClr val="bg2"/>
                </a:solidFill>
              </a:rPr>
              <a:t>Une tuile par cœur : jusqu'à ×2</a:t>
            </a:r>
            <a:endParaRPr lang="en-US" sz="1200" dirty="0"/>
          </a:p>
        </p:txBody>
      </p:sp>
      <p:sp>
        <p:nvSpPr>
          <p:cNvPr id="17" name="chip LOGICIEL"/>
          <p:cNvSpPr/>
          <p:nvPr/>
        </p:nvSpPr>
        <p:spPr>
          <a:xfrm>
            <a:off x="3172968" y="3300984"/>
            <a:ext cx="777240" cy="201168"/>
          </a:xfrm>
          <a:prstGeom prst="roundRect">
            <a:avLst>
              <a:gd name="adj" fmla="val 50000"/>
            </a:avLst>
          </a:prstGeom>
          <a:solidFill>
            <a:schemeClr val="accent3"/>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LOGICIEL</a:t>
            </a:r>
            <a:endParaRPr lang="en-US" sz="800" dirty="0"/>
          </a:p>
        </p:txBody>
      </p:sp>
      <p:sp>
        <p:nvSpPr>
          <p:cNvPr id="18" name="piste INT8 PTQ avec Aidge"/>
          <p:cNvSpPr/>
          <p:nvPr/>
        </p:nvSpPr>
        <p:spPr>
          <a:xfrm>
            <a:off x="548640" y="3904488"/>
            <a:ext cx="3520440" cy="621792"/>
          </a:xfrm>
          <a:prstGeom prst="roundRect">
            <a:avLst>
              <a:gd name="adj" fmla="val 11765"/>
            </a:avLst>
          </a:prstGeom>
          <a:solidFill>
            <a:schemeClr val="tx2"/>
          </a:solidFill>
          <a:ln w="12700">
            <a:solidFill>
              <a:schemeClr val="tx2"/>
            </a:solidFill>
            <a:prstDash val="solid"/>
          </a:ln>
        </p:spPr>
      </p:sp>
      <p:sp>
        <p:nvSpPr>
          <p:cNvPr id="19" name="Text 17"/>
          <p:cNvSpPr txBox="1"/>
          <p:nvPr/>
        </p:nvSpPr>
        <p:spPr>
          <a:xfrm>
            <a:off x="713232" y="3968496"/>
            <a:ext cx="2423160" cy="274320"/>
          </a:xfrm>
          <a:prstGeom prst="rect">
            <a:avLst/>
          </a:prstGeom>
          <a:noFill/>
          <a:ln/>
        </p:spPr>
        <p:txBody>
          <a:bodyPr wrap="square" lIns="0" tIns="0" rIns="0" bIns="0" rtlCol="0" anchor="t"/>
          <a:lstStyle/>
          <a:p>
            <a:pPr indent="0" marL="0">
              <a:buNone/>
            </a:pPr>
            <a:r>
              <a:rPr lang="en-US" sz="1400" b="1" dirty="0">
                <a:solidFill>
                  <a:schemeClr val="bg1"/>
                </a:solidFill>
              </a:rPr>
              <a:t>INT8 PTQ avec Aidge</a:t>
            </a:r>
            <a:endParaRPr lang="en-US" sz="1400" dirty="0"/>
          </a:p>
        </p:txBody>
      </p:sp>
      <p:sp>
        <p:nvSpPr>
          <p:cNvPr id="20" name="Text 18"/>
          <p:cNvSpPr txBox="1"/>
          <p:nvPr/>
        </p:nvSpPr>
        <p:spPr>
          <a:xfrm>
            <a:off x="713232" y="4242816"/>
            <a:ext cx="2514600" cy="237744"/>
          </a:xfrm>
          <a:prstGeom prst="rect">
            <a:avLst/>
          </a:prstGeom>
          <a:noFill/>
          <a:ln/>
        </p:spPr>
        <p:txBody>
          <a:bodyPr wrap="square" lIns="0" tIns="0" rIns="0" bIns="0" rtlCol="0" anchor="t"/>
          <a:lstStyle/>
          <a:p>
            <a:pPr indent="0" marL="0">
              <a:buNone/>
            </a:pPr>
            <a:r>
              <a:rPr lang="en-US" sz="1200" dirty="0">
                <a:solidFill>
                  <a:schemeClr val="bg2"/>
                </a:solidFill>
              </a:rPr>
              <a:t>Poids ÷ 4, sans ré-entraîner</a:t>
            </a:r>
            <a:endParaRPr lang="en-US" sz="1200" dirty="0"/>
          </a:p>
        </p:txBody>
      </p:sp>
      <p:sp>
        <p:nvSpPr>
          <p:cNvPr id="21" name="chip QUANTIF"/>
          <p:cNvSpPr/>
          <p:nvPr/>
        </p:nvSpPr>
        <p:spPr>
          <a:xfrm>
            <a:off x="3172968" y="3995928"/>
            <a:ext cx="777240" cy="201168"/>
          </a:xfrm>
          <a:prstGeom prst="roundRect">
            <a:avLst>
              <a:gd name="adj" fmla="val 50000"/>
            </a:avLst>
          </a:prstGeom>
          <a:solidFill>
            <a:schemeClr val="accent4"/>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QUANTIF</a:t>
            </a:r>
            <a:endParaRPr lang="en-US" sz="800" dirty="0"/>
          </a:p>
        </p:txBody>
      </p:sp>
      <p:sp>
        <p:nvSpPr>
          <p:cNvPr id="22" name="piste Taille de tuile"/>
          <p:cNvSpPr/>
          <p:nvPr/>
        </p:nvSpPr>
        <p:spPr>
          <a:xfrm>
            <a:off x="548640" y="4599432"/>
            <a:ext cx="3520440" cy="621792"/>
          </a:xfrm>
          <a:prstGeom prst="roundRect">
            <a:avLst>
              <a:gd name="adj" fmla="val 11765"/>
            </a:avLst>
          </a:prstGeom>
          <a:solidFill>
            <a:schemeClr val="tx2"/>
          </a:solidFill>
          <a:ln w="12700">
            <a:solidFill>
              <a:schemeClr val="tx2"/>
            </a:solidFill>
            <a:prstDash val="solid"/>
          </a:ln>
        </p:spPr>
      </p:sp>
      <p:sp>
        <p:nvSpPr>
          <p:cNvPr id="23" name="Text 21"/>
          <p:cNvSpPr txBox="1"/>
          <p:nvPr/>
        </p:nvSpPr>
        <p:spPr>
          <a:xfrm>
            <a:off x="713232" y="4663440"/>
            <a:ext cx="2423160" cy="274320"/>
          </a:xfrm>
          <a:prstGeom prst="rect">
            <a:avLst/>
          </a:prstGeom>
          <a:noFill/>
          <a:ln/>
        </p:spPr>
        <p:txBody>
          <a:bodyPr wrap="square" lIns="0" tIns="0" rIns="0" bIns="0" rtlCol="0" anchor="t"/>
          <a:lstStyle/>
          <a:p>
            <a:pPr indent="0" marL="0">
              <a:buNone/>
            </a:pPr>
            <a:r>
              <a:rPr lang="en-US" sz="1400" b="1" dirty="0">
                <a:solidFill>
                  <a:schemeClr val="bg1"/>
                </a:solidFill>
              </a:rPr>
              <a:t>Taille de tuile</a:t>
            </a:r>
            <a:endParaRPr lang="en-US" sz="1400" dirty="0"/>
          </a:p>
        </p:txBody>
      </p:sp>
      <p:sp>
        <p:nvSpPr>
          <p:cNvPr id="24" name="Text 22"/>
          <p:cNvSpPr txBox="1"/>
          <p:nvPr/>
        </p:nvSpPr>
        <p:spPr>
          <a:xfrm>
            <a:off x="713232" y="4937760"/>
            <a:ext cx="2514600" cy="237744"/>
          </a:xfrm>
          <a:prstGeom prst="rect">
            <a:avLst/>
          </a:prstGeom>
          <a:noFill/>
          <a:ln/>
        </p:spPr>
        <p:txBody>
          <a:bodyPr wrap="square" lIns="0" tIns="0" rIns="0" bIns="0" rtlCol="0" anchor="t"/>
          <a:lstStyle/>
          <a:p>
            <a:pPr indent="0" marL="0">
              <a:buNone/>
            </a:pPr>
            <a:r>
              <a:rPr lang="en-US" sz="1200" dirty="0">
                <a:solidFill>
                  <a:schemeClr val="bg2"/>
                </a:solidFill>
              </a:rPr>
              <a:t>Maîtrise le pic mémoire</a:t>
            </a:r>
            <a:endParaRPr lang="en-US" sz="1200" dirty="0"/>
          </a:p>
        </p:txBody>
      </p:sp>
      <p:sp>
        <p:nvSpPr>
          <p:cNvPr id="25" name="chip LOGICIEL"/>
          <p:cNvSpPr/>
          <p:nvPr/>
        </p:nvSpPr>
        <p:spPr>
          <a:xfrm>
            <a:off x="3172968" y="4690872"/>
            <a:ext cx="777240" cy="201168"/>
          </a:xfrm>
          <a:prstGeom prst="roundRect">
            <a:avLst>
              <a:gd name="adj" fmla="val 50000"/>
            </a:avLst>
          </a:prstGeom>
          <a:solidFill>
            <a:schemeClr val="accent3"/>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LOGICIEL</a:t>
            </a:r>
            <a:endParaRPr lang="en-US" sz="800" dirty="0"/>
          </a:p>
        </p:txBody>
      </p:sp>
      <p:sp>
        <p:nvSpPr>
          <p:cNvPr id="26" name="piste Fine-tuning lunaire"/>
          <p:cNvSpPr/>
          <p:nvPr/>
        </p:nvSpPr>
        <p:spPr>
          <a:xfrm>
            <a:off x="548640" y="5294376"/>
            <a:ext cx="3520440" cy="621792"/>
          </a:xfrm>
          <a:prstGeom prst="roundRect">
            <a:avLst>
              <a:gd name="adj" fmla="val 11765"/>
            </a:avLst>
          </a:prstGeom>
          <a:solidFill>
            <a:schemeClr val="tx2"/>
          </a:solidFill>
          <a:ln w="12700">
            <a:solidFill>
              <a:schemeClr val="tx2"/>
            </a:solidFill>
            <a:prstDash val="solid"/>
          </a:ln>
        </p:spPr>
      </p:sp>
      <p:sp>
        <p:nvSpPr>
          <p:cNvPr id="27" name="Text 25"/>
          <p:cNvSpPr txBox="1"/>
          <p:nvPr/>
        </p:nvSpPr>
        <p:spPr>
          <a:xfrm>
            <a:off x="713232" y="5358384"/>
            <a:ext cx="2423160" cy="274320"/>
          </a:xfrm>
          <a:prstGeom prst="rect">
            <a:avLst/>
          </a:prstGeom>
          <a:noFill/>
          <a:ln/>
        </p:spPr>
        <p:txBody>
          <a:bodyPr wrap="square" lIns="0" tIns="0" rIns="0" bIns="0" rtlCol="0" anchor="t"/>
          <a:lstStyle/>
          <a:p>
            <a:pPr indent="0" marL="0">
              <a:buNone/>
            </a:pPr>
            <a:r>
              <a:rPr lang="en-US" sz="1400" b="1" dirty="0">
                <a:solidFill>
                  <a:schemeClr val="bg1"/>
                </a:solidFill>
              </a:rPr>
              <a:t>Fine-tuning lunaire</a:t>
            </a:r>
            <a:endParaRPr lang="en-US" sz="1400" dirty="0"/>
          </a:p>
        </p:txBody>
      </p:sp>
      <p:sp>
        <p:nvSpPr>
          <p:cNvPr id="28" name="Text 26"/>
          <p:cNvSpPr txBox="1"/>
          <p:nvPr/>
        </p:nvSpPr>
        <p:spPr>
          <a:xfrm>
            <a:off x="713232" y="5632704"/>
            <a:ext cx="2514600" cy="237744"/>
          </a:xfrm>
          <a:prstGeom prst="rect">
            <a:avLst/>
          </a:prstGeom>
          <a:noFill/>
          <a:ln/>
        </p:spPr>
        <p:txBody>
          <a:bodyPr wrap="square" lIns="0" tIns="0" rIns="0" bIns="0" rtlCol="0" anchor="t"/>
          <a:lstStyle/>
          <a:p>
            <a:pPr indent="0" marL="0">
              <a:buNone/>
            </a:pPr>
            <a:r>
              <a:rPr lang="en-US" sz="1200" dirty="0">
                <a:solidFill>
                  <a:schemeClr val="bg2"/>
                </a:solidFill>
              </a:rPr>
              <a:t>Moins de bits, même calcul</a:t>
            </a:r>
            <a:endParaRPr lang="en-US" sz="1200" dirty="0"/>
          </a:p>
        </p:txBody>
      </p:sp>
      <p:sp>
        <p:nvSpPr>
          <p:cNvPr id="29" name="chip MODÈLE"/>
          <p:cNvSpPr/>
          <p:nvPr/>
        </p:nvSpPr>
        <p:spPr>
          <a:xfrm>
            <a:off x="3172968" y="5385816"/>
            <a:ext cx="777240" cy="201168"/>
          </a:xfrm>
          <a:prstGeom prst="roundRect">
            <a:avLst>
              <a:gd name="adj" fmla="val 50000"/>
            </a:avLst>
          </a:prstGeom>
          <a:solidFill>
            <a:schemeClr val="accent1"/>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MODÈLE</a:t>
            </a:r>
            <a:endParaRPr lang="en-US" sz="800" dirty="0"/>
          </a:p>
        </p:txBody>
      </p:sp>
      <p:sp>
        <p:nvSpPr>
          <p:cNvPr id="30" name="colonne Moyen"/>
          <p:cNvSpPr/>
          <p:nvPr/>
        </p:nvSpPr>
        <p:spPr>
          <a:xfrm>
            <a:off x="4334256" y="1600200"/>
            <a:ext cx="3520440" cy="777240"/>
          </a:xfrm>
          <a:prstGeom prst="roundRect">
            <a:avLst>
              <a:gd name="adj" fmla="val 14118"/>
            </a:avLst>
          </a:prstGeom>
          <a:solidFill>
            <a:schemeClr val="tx2"/>
          </a:solidFill>
          <a:ln w="12700">
            <a:solidFill>
              <a:schemeClr val="tx2"/>
            </a:solidFill>
            <a:prstDash val="solid"/>
          </a:ln>
        </p:spPr>
      </p:sp>
      <p:sp>
        <p:nvSpPr>
          <p:cNvPr id="31" name="Text 29"/>
          <p:cNvSpPr txBox="1"/>
          <p:nvPr/>
        </p:nvSpPr>
        <p:spPr>
          <a:xfrm>
            <a:off x="4517136" y="1673352"/>
            <a:ext cx="2377440" cy="347472"/>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Moyen</a:t>
            </a:r>
            <a:endParaRPr lang="en-US" sz="1900" dirty="0"/>
          </a:p>
        </p:txBody>
      </p:sp>
      <p:sp>
        <p:nvSpPr>
          <p:cNvPr id="32" name="Text 30"/>
          <p:cNvSpPr txBox="1"/>
          <p:nvPr/>
        </p:nvSpPr>
        <p:spPr>
          <a:xfrm>
            <a:off x="4517136" y="2029968"/>
            <a:ext cx="2743200" cy="274320"/>
          </a:xfrm>
          <a:prstGeom prst="rect">
            <a:avLst/>
          </a:prstGeom>
          <a:noFill/>
          <a:ln/>
        </p:spPr>
        <p:txBody>
          <a:bodyPr wrap="square" lIns="0" tIns="0" rIns="0" bIns="0" rtlCol="0" anchor="t"/>
          <a:lstStyle/>
          <a:p>
            <a:pPr indent="0" marL="0">
              <a:buNone/>
            </a:pPr>
            <a:r>
              <a:rPr lang="en-US" sz="1200" dirty="0">
                <a:solidFill>
                  <a:schemeClr val="accent6"/>
                </a:solidFill>
              </a:rPr>
              <a:t>ré-entraîner ou 1er accélérateur</a:t>
            </a:r>
            <a:endParaRPr lang="en-US" sz="1200" dirty="0"/>
          </a:p>
        </p:txBody>
      </p:sp>
      <p:sp>
        <p:nvSpPr>
          <p:cNvPr id="33" name="effort"/>
          <p:cNvSpPr/>
          <p:nvPr/>
        </p:nvSpPr>
        <p:spPr>
          <a:xfrm>
            <a:off x="6986016" y="1783080"/>
            <a:ext cx="164592" cy="164592"/>
          </a:xfrm>
          <a:prstGeom prst="ellipse">
            <a:avLst/>
          </a:prstGeom>
          <a:solidFill>
            <a:schemeClr val="accent5"/>
          </a:solidFill>
          <a:ln w="12700">
            <a:solidFill>
              <a:schemeClr val="accent5"/>
            </a:solidFill>
            <a:prstDash val="solid"/>
          </a:ln>
        </p:spPr>
      </p:sp>
      <p:sp>
        <p:nvSpPr>
          <p:cNvPr id="34" name="effort"/>
          <p:cNvSpPr/>
          <p:nvPr/>
        </p:nvSpPr>
        <p:spPr>
          <a:xfrm>
            <a:off x="7232904" y="1783080"/>
            <a:ext cx="164592" cy="164592"/>
          </a:xfrm>
          <a:prstGeom prst="ellipse">
            <a:avLst/>
          </a:prstGeom>
          <a:solidFill>
            <a:schemeClr val="accent5"/>
          </a:solidFill>
          <a:ln w="12700">
            <a:solidFill>
              <a:schemeClr val="accent5"/>
            </a:solidFill>
            <a:prstDash val="solid"/>
          </a:ln>
        </p:spPr>
      </p:sp>
      <p:sp>
        <p:nvSpPr>
          <p:cNvPr id="35" name="effort"/>
          <p:cNvSpPr/>
          <p:nvPr/>
        </p:nvSpPr>
        <p:spPr>
          <a:xfrm>
            <a:off x="7479792" y="1783080"/>
            <a:ext cx="164592" cy="164592"/>
          </a:xfrm>
          <a:prstGeom prst="ellipse">
            <a:avLst/>
          </a:prstGeom>
          <a:solidFill>
            <a:schemeClr val="tx1"/>
          </a:solidFill>
          <a:ln w="12700">
            <a:solidFill>
              <a:schemeClr val="accent5"/>
            </a:solidFill>
            <a:prstDash val="solid"/>
          </a:ln>
        </p:spPr>
      </p:sp>
      <p:sp>
        <p:nvSpPr>
          <p:cNvPr id="36" name="piste N = 128 → 64 canaux"/>
          <p:cNvSpPr/>
          <p:nvPr/>
        </p:nvSpPr>
        <p:spPr>
          <a:xfrm>
            <a:off x="4334256" y="2514600"/>
            <a:ext cx="3520440" cy="621792"/>
          </a:xfrm>
          <a:prstGeom prst="roundRect">
            <a:avLst>
              <a:gd name="adj" fmla="val 11765"/>
            </a:avLst>
          </a:prstGeom>
          <a:solidFill>
            <a:schemeClr val="tx2"/>
          </a:solidFill>
          <a:ln w="12700">
            <a:solidFill>
              <a:schemeClr val="tx2"/>
            </a:solidFill>
            <a:prstDash val="solid"/>
          </a:ln>
        </p:spPr>
      </p:sp>
      <p:sp>
        <p:nvSpPr>
          <p:cNvPr id="37" name="Text 35"/>
          <p:cNvSpPr txBox="1"/>
          <p:nvPr/>
        </p:nvSpPr>
        <p:spPr>
          <a:xfrm>
            <a:off x="4498848" y="2578608"/>
            <a:ext cx="2423160" cy="274320"/>
          </a:xfrm>
          <a:prstGeom prst="rect">
            <a:avLst/>
          </a:prstGeom>
          <a:noFill/>
          <a:ln/>
        </p:spPr>
        <p:txBody>
          <a:bodyPr wrap="square" lIns="0" tIns="0" rIns="0" bIns="0" rtlCol="0" anchor="t"/>
          <a:lstStyle/>
          <a:p>
            <a:pPr indent="0" marL="0">
              <a:buNone/>
            </a:pPr>
            <a:r>
              <a:rPr lang="en-US" sz="1400" b="1" dirty="0">
                <a:solidFill>
                  <a:schemeClr val="bg1"/>
                </a:solidFill>
              </a:rPr>
              <a:t>N = 128 → 64 canaux</a:t>
            </a:r>
            <a:endParaRPr lang="en-US" sz="1400" dirty="0"/>
          </a:p>
        </p:txBody>
      </p:sp>
      <p:sp>
        <p:nvSpPr>
          <p:cNvPr id="38" name="Text 36"/>
          <p:cNvSpPr txBox="1"/>
          <p:nvPr/>
        </p:nvSpPr>
        <p:spPr>
          <a:xfrm>
            <a:off x="4498848" y="2852928"/>
            <a:ext cx="2514600" cy="237744"/>
          </a:xfrm>
          <a:prstGeom prst="rect">
            <a:avLst/>
          </a:prstGeom>
          <a:noFill/>
          <a:ln/>
        </p:spPr>
        <p:txBody>
          <a:bodyPr wrap="square" lIns="0" tIns="0" rIns="0" bIns="0" rtlCol="0" anchor="t"/>
          <a:lstStyle/>
          <a:p>
            <a:pPr indent="0" marL="0">
              <a:buNone/>
            </a:pPr>
            <a:r>
              <a:rPr lang="en-US" sz="1200" dirty="0">
                <a:solidFill>
                  <a:schemeClr val="bg2"/>
                </a:solidFill>
              </a:rPr>
              <a:t>≈ 3,8 × moins de calcul</a:t>
            </a:r>
            <a:endParaRPr lang="en-US" sz="1200" dirty="0"/>
          </a:p>
        </p:txBody>
      </p:sp>
      <p:sp>
        <p:nvSpPr>
          <p:cNvPr id="39" name="chip MODÈLE"/>
          <p:cNvSpPr/>
          <p:nvPr/>
        </p:nvSpPr>
        <p:spPr>
          <a:xfrm>
            <a:off x="6958584" y="2606040"/>
            <a:ext cx="777240" cy="201168"/>
          </a:xfrm>
          <a:prstGeom prst="roundRect">
            <a:avLst>
              <a:gd name="adj" fmla="val 50000"/>
            </a:avLst>
          </a:prstGeom>
          <a:solidFill>
            <a:schemeClr val="accent1"/>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MODÈLE</a:t>
            </a:r>
            <a:endParaRPr lang="en-US" sz="800" dirty="0"/>
          </a:p>
        </p:txBody>
      </p:sp>
      <p:sp>
        <p:nvSpPr>
          <p:cNvPr id="40" name="piste QAT INT8"/>
          <p:cNvSpPr/>
          <p:nvPr/>
        </p:nvSpPr>
        <p:spPr>
          <a:xfrm>
            <a:off x="4334256" y="3209544"/>
            <a:ext cx="3520440" cy="621792"/>
          </a:xfrm>
          <a:prstGeom prst="roundRect">
            <a:avLst>
              <a:gd name="adj" fmla="val 11765"/>
            </a:avLst>
          </a:prstGeom>
          <a:solidFill>
            <a:schemeClr val="tx2"/>
          </a:solidFill>
          <a:ln w="12700">
            <a:solidFill>
              <a:schemeClr val="tx2"/>
            </a:solidFill>
            <a:prstDash val="solid"/>
          </a:ln>
        </p:spPr>
      </p:sp>
      <p:sp>
        <p:nvSpPr>
          <p:cNvPr id="41" name="Text 39"/>
          <p:cNvSpPr txBox="1"/>
          <p:nvPr/>
        </p:nvSpPr>
        <p:spPr>
          <a:xfrm>
            <a:off x="4498848" y="3273552"/>
            <a:ext cx="2423160" cy="274320"/>
          </a:xfrm>
          <a:prstGeom prst="rect">
            <a:avLst/>
          </a:prstGeom>
          <a:noFill/>
          <a:ln/>
        </p:spPr>
        <p:txBody>
          <a:bodyPr wrap="square" lIns="0" tIns="0" rIns="0" bIns="0" rtlCol="0" anchor="t"/>
          <a:lstStyle/>
          <a:p>
            <a:pPr indent="0" marL="0">
              <a:buNone/>
            </a:pPr>
            <a:r>
              <a:rPr lang="en-US" sz="1400" b="1" dirty="0">
                <a:solidFill>
                  <a:schemeClr val="bg1"/>
                </a:solidFill>
              </a:rPr>
              <a:t>QAT INT8</a:t>
            </a:r>
            <a:endParaRPr lang="en-US" sz="1400" dirty="0"/>
          </a:p>
        </p:txBody>
      </p:sp>
      <p:sp>
        <p:nvSpPr>
          <p:cNvPr id="42" name="Text 40"/>
          <p:cNvSpPr txBox="1"/>
          <p:nvPr/>
        </p:nvSpPr>
        <p:spPr>
          <a:xfrm>
            <a:off x="4498848" y="3547872"/>
            <a:ext cx="2514600" cy="237744"/>
          </a:xfrm>
          <a:prstGeom prst="rect">
            <a:avLst/>
          </a:prstGeom>
          <a:noFill/>
          <a:ln/>
        </p:spPr>
        <p:txBody>
          <a:bodyPr wrap="square" lIns="0" tIns="0" rIns="0" bIns="0" rtlCol="0" anchor="t"/>
          <a:lstStyle/>
          <a:p>
            <a:pPr indent="0" marL="0">
              <a:buNone/>
            </a:pPr>
            <a:r>
              <a:rPr lang="en-US" sz="1200" dirty="0">
                <a:solidFill>
                  <a:schemeClr val="bg2"/>
                </a:solidFill>
              </a:rPr>
              <a:t>Récupère la perte de la PTQ</a:t>
            </a:r>
            <a:endParaRPr lang="en-US" sz="1200" dirty="0"/>
          </a:p>
        </p:txBody>
      </p:sp>
      <p:sp>
        <p:nvSpPr>
          <p:cNvPr id="43" name="chip QUANTIF"/>
          <p:cNvSpPr/>
          <p:nvPr/>
        </p:nvSpPr>
        <p:spPr>
          <a:xfrm>
            <a:off x="6958584" y="3300984"/>
            <a:ext cx="777240" cy="201168"/>
          </a:xfrm>
          <a:prstGeom prst="roundRect">
            <a:avLst>
              <a:gd name="adj" fmla="val 50000"/>
            </a:avLst>
          </a:prstGeom>
          <a:solidFill>
            <a:schemeClr val="accent4"/>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QUANTIF</a:t>
            </a:r>
            <a:endParaRPr lang="en-US" sz="800" dirty="0"/>
          </a:p>
        </p:txBody>
      </p:sp>
      <p:sp>
        <p:nvSpPr>
          <p:cNvPr id="44" name="piste Couche 2 sur FPGA"/>
          <p:cNvSpPr/>
          <p:nvPr/>
        </p:nvSpPr>
        <p:spPr>
          <a:xfrm>
            <a:off x="4334256" y="3904488"/>
            <a:ext cx="3520440" cy="621792"/>
          </a:xfrm>
          <a:prstGeom prst="roundRect">
            <a:avLst>
              <a:gd name="adj" fmla="val 11765"/>
            </a:avLst>
          </a:prstGeom>
          <a:solidFill>
            <a:schemeClr val="tx2"/>
          </a:solidFill>
          <a:ln w="12700">
            <a:solidFill>
              <a:schemeClr val="tx2"/>
            </a:solidFill>
            <a:prstDash val="solid"/>
          </a:ln>
        </p:spPr>
      </p:sp>
      <p:sp>
        <p:nvSpPr>
          <p:cNvPr id="45" name="Text 43"/>
          <p:cNvSpPr txBox="1"/>
          <p:nvPr/>
        </p:nvSpPr>
        <p:spPr>
          <a:xfrm>
            <a:off x="4498848" y="3968496"/>
            <a:ext cx="2423160" cy="274320"/>
          </a:xfrm>
          <a:prstGeom prst="rect">
            <a:avLst/>
          </a:prstGeom>
          <a:noFill/>
          <a:ln/>
        </p:spPr>
        <p:txBody>
          <a:bodyPr wrap="square" lIns="0" tIns="0" rIns="0" bIns="0" rtlCol="0" anchor="t"/>
          <a:lstStyle/>
          <a:p>
            <a:pPr indent="0" marL="0">
              <a:buNone/>
            </a:pPr>
            <a:r>
              <a:rPr lang="en-US" sz="1400" b="1" dirty="0">
                <a:solidFill>
                  <a:schemeClr val="bg1"/>
                </a:solidFill>
              </a:rPr>
              <a:t>Couche 2 sur FPGA</a:t>
            </a:r>
            <a:endParaRPr lang="en-US" sz="1400" dirty="0"/>
          </a:p>
        </p:txBody>
      </p:sp>
      <p:sp>
        <p:nvSpPr>
          <p:cNvPr id="46" name="Text 44"/>
          <p:cNvSpPr txBox="1"/>
          <p:nvPr/>
        </p:nvSpPr>
        <p:spPr>
          <a:xfrm>
            <a:off x="4498848" y="4242816"/>
            <a:ext cx="2514600" cy="237744"/>
          </a:xfrm>
          <a:prstGeom prst="rect">
            <a:avLst/>
          </a:prstGeom>
          <a:noFill/>
          <a:ln/>
        </p:spPr>
        <p:txBody>
          <a:bodyPr wrap="square" lIns="0" tIns="0" rIns="0" bIns="0" rtlCol="0" anchor="t"/>
          <a:lstStyle/>
          <a:p>
            <a:pPr indent="0" marL="0">
              <a:buNone/>
            </a:pPr>
            <a:r>
              <a:rPr lang="en-US" sz="1200" dirty="0">
                <a:solidFill>
                  <a:schemeClr val="bg2"/>
                </a:solidFill>
              </a:rPr>
              <a:t>64 % des calculs, via LoCod</a:t>
            </a:r>
            <a:endParaRPr lang="en-US" sz="1200" dirty="0"/>
          </a:p>
        </p:txBody>
      </p:sp>
      <p:sp>
        <p:nvSpPr>
          <p:cNvPr id="47" name="chip MATÉRIEL"/>
          <p:cNvSpPr/>
          <p:nvPr/>
        </p:nvSpPr>
        <p:spPr>
          <a:xfrm>
            <a:off x="6958584" y="3995928"/>
            <a:ext cx="777240" cy="201168"/>
          </a:xfrm>
          <a:prstGeom prst="roundRect">
            <a:avLst>
              <a:gd name="adj" fmla="val 50000"/>
            </a:avLst>
          </a:prstGeom>
          <a:solidFill>
            <a:schemeClr val="accent2"/>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MATÉRIEL</a:t>
            </a:r>
            <a:endParaRPr lang="en-US" sz="800" dirty="0"/>
          </a:p>
        </p:txBody>
      </p:sp>
      <p:sp>
        <p:nvSpPr>
          <p:cNvPr id="48" name="piste GDN simplifiée"/>
          <p:cNvSpPr/>
          <p:nvPr/>
        </p:nvSpPr>
        <p:spPr>
          <a:xfrm>
            <a:off x="4334256" y="4599432"/>
            <a:ext cx="3520440" cy="621792"/>
          </a:xfrm>
          <a:prstGeom prst="roundRect">
            <a:avLst>
              <a:gd name="adj" fmla="val 11765"/>
            </a:avLst>
          </a:prstGeom>
          <a:solidFill>
            <a:schemeClr val="tx2"/>
          </a:solidFill>
          <a:ln w="12700">
            <a:solidFill>
              <a:schemeClr val="tx2"/>
            </a:solidFill>
            <a:prstDash val="solid"/>
          </a:ln>
        </p:spPr>
      </p:sp>
      <p:sp>
        <p:nvSpPr>
          <p:cNvPr id="49" name="Text 47"/>
          <p:cNvSpPr txBox="1"/>
          <p:nvPr/>
        </p:nvSpPr>
        <p:spPr>
          <a:xfrm>
            <a:off x="4498848" y="4663440"/>
            <a:ext cx="2423160" cy="274320"/>
          </a:xfrm>
          <a:prstGeom prst="rect">
            <a:avLst/>
          </a:prstGeom>
          <a:noFill/>
          <a:ln/>
        </p:spPr>
        <p:txBody>
          <a:bodyPr wrap="square" lIns="0" tIns="0" rIns="0" bIns="0" rtlCol="0" anchor="t"/>
          <a:lstStyle/>
          <a:p>
            <a:pPr indent="0" marL="0">
              <a:buNone/>
            </a:pPr>
            <a:r>
              <a:rPr lang="en-US" sz="1400" b="1" dirty="0">
                <a:solidFill>
                  <a:schemeClr val="bg1"/>
                </a:solidFill>
              </a:rPr>
              <a:t>GDN simplifiée</a:t>
            </a:r>
            <a:endParaRPr lang="en-US" sz="1400" dirty="0"/>
          </a:p>
        </p:txBody>
      </p:sp>
      <p:sp>
        <p:nvSpPr>
          <p:cNvPr id="50" name="Text 48"/>
          <p:cNvSpPr txBox="1"/>
          <p:nvPr/>
        </p:nvSpPr>
        <p:spPr>
          <a:xfrm>
            <a:off x="4498848" y="4937760"/>
            <a:ext cx="2514600" cy="237744"/>
          </a:xfrm>
          <a:prstGeom prst="rect">
            <a:avLst/>
          </a:prstGeom>
          <a:noFill/>
          <a:ln/>
        </p:spPr>
        <p:txBody>
          <a:bodyPr wrap="square" lIns="0" tIns="0" rIns="0" bIns="0" rtlCol="0" anchor="t"/>
          <a:lstStyle/>
          <a:p>
            <a:pPr indent="0" marL="0">
              <a:buNone/>
            </a:pPr>
            <a:r>
              <a:rPr lang="en-US" sz="1200" dirty="0">
                <a:solidFill>
                  <a:schemeClr val="bg2"/>
                </a:solidFill>
              </a:rPr>
              <a:t>Ni racine ni division</a:t>
            </a:r>
            <a:endParaRPr lang="en-US" sz="1200" dirty="0"/>
          </a:p>
        </p:txBody>
      </p:sp>
      <p:sp>
        <p:nvSpPr>
          <p:cNvPr id="51" name="chip MODÈLE"/>
          <p:cNvSpPr/>
          <p:nvPr/>
        </p:nvSpPr>
        <p:spPr>
          <a:xfrm>
            <a:off x="6958584" y="4690872"/>
            <a:ext cx="777240" cy="201168"/>
          </a:xfrm>
          <a:prstGeom prst="roundRect">
            <a:avLst>
              <a:gd name="adj" fmla="val 50000"/>
            </a:avLst>
          </a:prstGeom>
          <a:solidFill>
            <a:schemeClr val="accent1"/>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MODÈLE</a:t>
            </a:r>
            <a:endParaRPr lang="en-US" sz="800" dirty="0"/>
          </a:p>
        </p:txBody>
      </p:sp>
      <p:sp>
        <p:nvSpPr>
          <p:cNvPr id="52" name="piste Export C++ ou Acetone"/>
          <p:cNvSpPr/>
          <p:nvPr/>
        </p:nvSpPr>
        <p:spPr>
          <a:xfrm>
            <a:off x="4334256" y="5294376"/>
            <a:ext cx="3520440" cy="621792"/>
          </a:xfrm>
          <a:prstGeom prst="roundRect">
            <a:avLst>
              <a:gd name="adj" fmla="val 11765"/>
            </a:avLst>
          </a:prstGeom>
          <a:solidFill>
            <a:schemeClr val="tx2"/>
          </a:solidFill>
          <a:ln w="12700">
            <a:solidFill>
              <a:schemeClr val="tx2"/>
            </a:solidFill>
            <a:prstDash val="solid"/>
          </a:ln>
        </p:spPr>
      </p:sp>
      <p:sp>
        <p:nvSpPr>
          <p:cNvPr id="53" name="Text 51"/>
          <p:cNvSpPr txBox="1"/>
          <p:nvPr/>
        </p:nvSpPr>
        <p:spPr>
          <a:xfrm>
            <a:off x="4498848" y="5358384"/>
            <a:ext cx="2423160" cy="274320"/>
          </a:xfrm>
          <a:prstGeom prst="rect">
            <a:avLst/>
          </a:prstGeom>
          <a:noFill/>
          <a:ln/>
        </p:spPr>
        <p:txBody>
          <a:bodyPr wrap="square" lIns="0" tIns="0" rIns="0" bIns="0" rtlCol="0" anchor="t"/>
          <a:lstStyle/>
          <a:p>
            <a:pPr indent="0" marL="0">
              <a:buNone/>
            </a:pPr>
            <a:r>
              <a:rPr lang="en-US" sz="1400" b="1" dirty="0">
                <a:solidFill>
                  <a:schemeClr val="bg1"/>
                </a:solidFill>
              </a:rPr>
              <a:t>Export C++ ou Acetone</a:t>
            </a:r>
            <a:endParaRPr lang="en-US" sz="1400" dirty="0"/>
          </a:p>
        </p:txBody>
      </p:sp>
      <p:sp>
        <p:nvSpPr>
          <p:cNvPr id="54" name="Text 52"/>
          <p:cNvSpPr txBox="1"/>
          <p:nvPr/>
        </p:nvSpPr>
        <p:spPr>
          <a:xfrm>
            <a:off x="4498848" y="5632704"/>
            <a:ext cx="2514600" cy="237744"/>
          </a:xfrm>
          <a:prstGeom prst="rect">
            <a:avLst/>
          </a:prstGeom>
          <a:noFill/>
          <a:ln/>
        </p:spPr>
        <p:txBody>
          <a:bodyPr wrap="square" lIns="0" tIns="0" rIns="0" bIns="0" rtlCol="0" anchor="t"/>
          <a:lstStyle/>
          <a:p>
            <a:pPr indent="0" marL="0">
              <a:buNone/>
            </a:pPr>
            <a:r>
              <a:rPr lang="en-US" sz="1200" dirty="0">
                <a:solidFill>
                  <a:schemeClr val="bg2"/>
                </a:solidFill>
              </a:rPr>
              <a:t>Garder le code le plus rapide</a:t>
            </a:r>
            <a:endParaRPr lang="en-US" sz="1200" dirty="0"/>
          </a:p>
        </p:txBody>
      </p:sp>
      <p:sp>
        <p:nvSpPr>
          <p:cNvPr id="55" name="chip LOGICIEL"/>
          <p:cNvSpPr/>
          <p:nvPr/>
        </p:nvSpPr>
        <p:spPr>
          <a:xfrm>
            <a:off x="6958584" y="5385816"/>
            <a:ext cx="777240" cy="201168"/>
          </a:xfrm>
          <a:prstGeom prst="roundRect">
            <a:avLst>
              <a:gd name="adj" fmla="val 50000"/>
            </a:avLst>
          </a:prstGeom>
          <a:solidFill>
            <a:schemeClr val="accent3"/>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LOGICIEL</a:t>
            </a:r>
            <a:endParaRPr lang="en-US" sz="800" dirty="0"/>
          </a:p>
        </p:txBody>
      </p:sp>
      <p:sp>
        <p:nvSpPr>
          <p:cNvPr id="56" name="colonne Ambitieux"/>
          <p:cNvSpPr/>
          <p:nvPr/>
        </p:nvSpPr>
        <p:spPr>
          <a:xfrm>
            <a:off x="8119872" y="1600200"/>
            <a:ext cx="3520440" cy="777240"/>
          </a:xfrm>
          <a:prstGeom prst="roundRect">
            <a:avLst>
              <a:gd name="adj" fmla="val 14118"/>
            </a:avLst>
          </a:prstGeom>
          <a:solidFill>
            <a:schemeClr val="tx2"/>
          </a:solidFill>
          <a:ln w="12700">
            <a:solidFill>
              <a:schemeClr val="tx2"/>
            </a:solidFill>
            <a:prstDash val="solid"/>
          </a:ln>
        </p:spPr>
      </p:sp>
      <p:sp>
        <p:nvSpPr>
          <p:cNvPr id="57" name="Text 55"/>
          <p:cNvSpPr txBox="1"/>
          <p:nvPr/>
        </p:nvSpPr>
        <p:spPr>
          <a:xfrm>
            <a:off x="8302752" y="1673352"/>
            <a:ext cx="2377440" cy="347472"/>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Ambitieux</a:t>
            </a:r>
            <a:endParaRPr lang="en-US" sz="1900" dirty="0"/>
          </a:p>
        </p:txBody>
      </p:sp>
      <p:sp>
        <p:nvSpPr>
          <p:cNvPr id="58" name="Text 56"/>
          <p:cNvSpPr txBox="1"/>
          <p:nvPr/>
        </p:nvSpPr>
        <p:spPr>
          <a:xfrm>
            <a:off x="8302752" y="2029968"/>
            <a:ext cx="2743200" cy="274320"/>
          </a:xfrm>
          <a:prstGeom prst="rect">
            <a:avLst/>
          </a:prstGeom>
          <a:noFill/>
          <a:ln/>
        </p:spPr>
        <p:txBody>
          <a:bodyPr wrap="square" lIns="0" tIns="0" rIns="0" bIns="0" rtlCol="0" anchor="t"/>
          <a:lstStyle/>
          <a:p>
            <a:pPr indent="0" marL="0">
              <a:buNone/>
            </a:pPr>
            <a:r>
              <a:rPr lang="en-US" sz="1200" dirty="0">
                <a:solidFill>
                  <a:schemeClr val="accent6"/>
                </a:solidFill>
              </a:rPr>
              <a:t>si le temps le permet</a:t>
            </a:r>
            <a:endParaRPr lang="en-US" sz="1200" dirty="0"/>
          </a:p>
        </p:txBody>
      </p:sp>
      <p:sp>
        <p:nvSpPr>
          <p:cNvPr id="59" name="effort"/>
          <p:cNvSpPr/>
          <p:nvPr/>
        </p:nvSpPr>
        <p:spPr>
          <a:xfrm>
            <a:off x="10771632" y="1783080"/>
            <a:ext cx="164592" cy="164592"/>
          </a:xfrm>
          <a:prstGeom prst="ellipse">
            <a:avLst/>
          </a:prstGeom>
          <a:solidFill>
            <a:schemeClr val="accent5"/>
          </a:solidFill>
          <a:ln w="12700">
            <a:solidFill>
              <a:schemeClr val="accent5"/>
            </a:solidFill>
            <a:prstDash val="solid"/>
          </a:ln>
        </p:spPr>
      </p:sp>
      <p:sp>
        <p:nvSpPr>
          <p:cNvPr id="60" name="effort"/>
          <p:cNvSpPr/>
          <p:nvPr/>
        </p:nvSpPr>
        <p:spPr>
          <a:xfrm>
            <a:off x="11018520" y="1783080"/>
            <a:ext cx="164592" cy="164592"/>
          </a:xfrm>
          <a:prstGeom prst="ellipse">
            <a:avLst/>
          </a:prstGeom>
          <a:solidFill>
            <a:schemeClr val="accent5"/>
          </a:solidFill>
          <a:ln w="12700">
            <a:solidFill>
              <a:schemeClr val="accent5"/>
            </a:solidFill>
            <a:prstDash val="solid"/>
          </a:ln>
        </p:spPr>
      </p:sp>
      <p:sp>
        <p:nvSpPr>
          <p:cNvPr id="61" name="effort"/>
          <p:cNvSpPr/>
          <p:nvPr/>
        </p:nvSpPr>
        <p:spPr>
          <a:xfrm>
            <a:off x="11265408" y="1783080"/>
            <a:ext cx="164592" cy="164592"/>
          </a:xfrm>
          <a:prstGeom prst="ellipse">
            <a:avLst/>
          </a:prstGeom>
          <a:solidFill>
            <a:schemeClr val="accent5"/>
          </a:solidFill>
          <a:ln w="12700">
            <a:solidFill>
              <a:schemeClr val="accent5"/>
            </a:solidFill>
            <a:prstDash val="solid"/>
          </a:ln>
        </p:spPr>
      </p:sp>
      <p:sp>
        <p:nvSpPr>
          <p:cNvPr id="62" name="piste Encodeur entier sur FPGA"/>
          <p:cNvSpPr/>
          <p:nvPr/>
        </p:nvSpPr>
        <p:spPr>
          <a:xfrm>
            <a:off x="8119872" y="2514600"/>
            <a:ext cx="3520440" cy="621792"/>
          </a:xfrm>
          <a:prstGeom prst="roundRect">
            <a:avLst>
              <a:gd name="adj" fmla="val 11765"/>
            </a:avLst>
          </a:prstGeom>
          <a:solidFill>
            <a:schemeClr val="tx2"/>
          </a:solidFill>
          <a:ln w="12700">
            <a:solidFill>
              <a:schemeClr val="tx2"/>
            </a:solidFill>
            <a:prstDash val="solid"/>
          </a:ln>
        </p:spPr>
      </p:sp>
      <p:sp>
        <p:nvSpPr>
          <p:cNvPr id="63" name="Text 61"/>
          <p:cNvSpPr txBox="1"/>
          <p:nvPr/>
        </p:nvSpPr>
        <p:spPr>
          <a:xfrm>
            <a:off x="8284464" y="2578608"/>
            <a:ext cx="2423160" cy="274320"/>
          </a:xfrm>
          <a:prstGeom prst="rect">
            <a:avLst/>
          </a:prstGeom>
          <a:noFill/>
          <a:ln/>
        </p:spPr>
        <p:txBody>
          <a:bodyPr wrap="square" lIns="0" tIns="0" rIns="0" bIns="0" rtlCol="0" anchor="t"/>
          <a:lstStyle/>
          <a:p>
            <a:pPr indent="0" marL="0">
              <a:buNone/>
            </a:pPr>
            <a:r>
              <a:rPr lang="en-US" sz="1400" b="1" dirty="0">
                <a:solidFill>
                  <a:schemeClr val="bg1"/>
                </a:solidFill>
              </a:rPr>
              <a:t>Encodeur entier sur FPGA</a:t>
            </a:r>
            <a:endParaRPr lang="en-US" sz="1400" dirty="0"/>
          </a:p>
        </p:txBody>
      </p:sp>
      <p:sp>
        <p:nvSpPr>
          <p:cNvPr id="64" name="Text 62"/>
          <p:cNvSpPr txBox="1"/>
          <p:nvPr/>
        </p:nvSpPr>
        <p:spPr>
          <a:xfrm>
            <a:off x="8284464" y="2852928"/>
            <a:ext cx="2514600" cy="237744"/>
          </a:xfrm>
          <a:prstGeom prst="rect">
            <a:avLst/>
          </a:prstGeom>
          <a:noFill/>
          <a:ln/>
        </p:spPr>
        <p:txBody>
          <a:bodyPr wrap="square" lIns="0" tIns="0" rIns="0" bIns="0" rtlCol="0" anchor="t"/>
          <a:lstStyle/>
          <a:p>
            <a:pPr indent="0" marL="0">
              <a:buNone/>
            </a:pPr>
            <a:r>
              <a:rPr lang="en-US" sz="1200" dirty="0">
                <a:solidFill>
                  <a:schemeClr val="bg2"/>
                </a:solidFill>
              </a:rPr>
              <a:t>Poids en BRAM si N = 64</a:t>
            </a:r>
            <a:endParaRPr lang="en-US" sz="1200" dirty="0"/>
          </a:p>
        </p:txBody>
      </p:sp>
      <p:sp>
        <p:nvSpPr>
          <p:cNvPr id="65" name="chip MATÉRIEL"/>
          <p:cNvSpPr/>
          <p:nvPr/>
        </p:nvSpPr>
        <p:spPr>
          <a:xfrm>
            <a:off x="10744200" y="2606040"/>
            <a:ext cx="777240" cy="201168"/>
          </a:xfrm>
          <a:prstGeom prst="roundRect">
            <a:avLst>
              <a:gd name="adj" fmla="val 50000"/>
            </a:avLst>
          </a:prstGeom>
          <a:solidFill>
            <a:schemeClr val="accent2"/>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MATÉRIEL</a:t>
            </a:r>
            <a:endParaRPr lang="en-US" sz="800" dirty="0"/>
          </a:p>
        </p:txBody>
      </p:sp>
      <p:sp>
        <p:nvSpPr>
          <p:cNvPr id="66" name="piste Double tampon PS / PL"/>
          <p:cNvSpPr/>
          <p:nvPr/>
        </p:nvSpPr>
        <p:spPr>
          <a:xfrm>
            <a:off x="8119872" y="3209544"/>
            <a:ext cx="3520440" cy="621792"/>
          </a:xfrm>
          <a:prstGeom prst="roundRect">
            <a:avLst>
              <a:gd name="adj" fmla="val 11765"/>
            </a:avLst>
          </a:prstGeom>
          <a:solidFill>
            <a:schemeClr val="tx2"/>
          </a:solidFill>
          <a:ln w="12700">
            <a:solidFill>
              <a:schemeClr val="tx2"/>
            </a:solidFill>
            <a:prstDash val="solid"/>
          </a:ln>
        </p:spPr>
      </p:sp>
      <p:sp>
        <p:nvSpPr>
          <p:cNvPr id="67" name="Text 65"/>
          <p:cNvSpPr txBox="1"/>
          <p:nvPr/>
        </p:nvSpPr>
        <p:spPr>
          <a:xfrm>
            <a:off x="8284464" y="3273552"/>
            <a:ext cx="2423160" cy="274320"/>
          </a:xfrm>
          <a:prstGeom prst="rect">
            <a:avLst/>
          </a:prstGeom>
          <a:noFill/>
          <a:ln/>
        </p:spPr>
        <p:txBody>
          <a:bodyPr wrap="square" lIns="0" tIns="0" rIns="0" bIns="0" rtlCol="0" anchor="t"/>
          <a:lstStyle/>
          <a:p>
            <a:pPr indent="0" marL="0">
              <a:buNone/>
            </a:pPr>
            <a:r>
              <a:rPr lang="en-US" sz="1400" b="1" dirty="0">
                <a:solidFill>
                  <a:schemeClr val="bg1"/>
                </a:solidFill>
              </a:rPr>
              <a:t>Double tampon PS / PL</a:t>
            </a:r>
            <a:endParaRPr lang="en-US" sz="1400" dirty="0"/>
          </a:p>
        </p:txBody>
      </p:sp>
      <p:sp>
        <p:nvSpPr>
          <p:cNvPr id="68" name="Text 66"/>
          <p:cNvSpPr txBox="1"/>
          <p:nvPr/>
        </p:nvSpPr>
        <p:spPr>
          <a:xfrm>
            <a:off x="8284464" y="3547872"/>
            <a:ext cx="2514600" cy="237744"/>
          </a:xfrm>
          <a:prstGeom prst="rect">
            <a:avLst/>
          </a:prstGeom>
          <a:noFill/>
          <a:ln/>
        </p:spPr>
        <p:txBody>
          <a:bodyPr wrap="square" lIns="0" tIns="0" rIns="0" bIns="0" rtlCol="0" anchor="t"/>
          <a:lstStyle/>
          <a:p>
            <a:pPr indent="0" marL="0">
              <a:buNone/>
            </a:pPr>
            <a:r>
              <a:rPr lang="en-US" sz="1200" dirty="0">
                <a:solidFill>
                  <a:schemeClr val="bg2"/>
                </a:solidFill>
              </a:rPr>
              <a:t>Masque le temps de transfert</a:t>
            </a:r>
            <a:endParaRPr lang="en-US" sz="1200" dirty="0"/>
          </a:p>
        </p:txBody>
      </p:sp>
      <p:sp>
        <p:nvSpPr>
          <p:cNvPr id="69" name="chip MATÉRIEL"/>
          <p:cNvSpPr/>
          <p:nvPr/>
        </p:nvSpPr>
        <p:spPr>
          <a:xfrm>
            <a:off x="10744200" y="3300984"/>
            <a:ext cx="777240" cy="201168"/>
          </a:xfrm>
          <a:prstGeom prst="roundRect">
            <a:avLst>
              <a:gd name="adj" fmla="val 50000"/>
            </a:avLst>
          </a:prstGeom>
          <a:solidFill>
            <a:schemeClr val="accent2"/>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MATÉRIEL</a:t>
            </a:r>
            <a:endParaRPr lang="en-US" sz="800" dirty="0"/>
          </a:p>
        </p:txBody>
      </p:sp>
      <p:sp>
        <p:nvSpPr>
          <p:cNvPr id="70" name="piste Convolutions séparables"/>
          <p:cNvSpPr/>
          <p:nvPr/>
        </p:nvSpPr>
        <p:spPr>
          <a:xfrm>
            <a:off x="8119872" y="3904488"/>
            <a:ext cx="3520440" cy="621792"/>
          </a:xfrm>
          <a:prstGeom prst="roundRect">
            <a:avLst>
              <a:gd name="adj" fmla="val 11765"/>
            </a:avLst>
          </a:prstGeom>
          <a:solidFill>
            <a:schemeClr val="tx2"/>
          </a:solidFill>
          <a:ln w="12700">
            <a:solidFill>
              <a:schemeClr val="tx2"/>
            </a:solidFill>
            <a:prstDash val="solid"/>
          </a:ln>
        </p:spPr>
      </p:sp>
      <p:sp>
        <p:nvSpPr>
          <p:cNvPr id="71" name="Text 69"/>
          <p:cNvSpPr txBox="1"/>
          <p:nvPr/>
        </p:nvSpPr>
        <p:spPr>
          <a:xfrm>
            <a:off x="8284464" y="3968496"/>
            <a:ext cx="2423160" cy="274320"/>
          </a:xfrm>
          <a:prstGeom prst="rect">
            <a:avLst/>
          </a:prstGeom>
          <a:noFill/>
          <a:ln/>
        </p:spPr>
        <p:txBody>
          <a:bodyPr wrap="square" lIns="0" tIns="0" rIns="0" bIns="0" rtlCol="0" anchor="t"/>
          <a:lstStyle/>
          <a:p>
            <a:pPr indent="0" marL="0">
              <a:buNone/>
            </a:pPr>
            <a:r>
              <a:rPr lang="en-US" sz="1400" b="1" dirty="0">
                <a:solidFill>
                  <a:schemeClr val="bg1"/>
                </a:solidFill>
              </a:rPr>
              <a:t>Convolutions séparables</a:t>
            </a:r>
            <a:endParaRPr lang="en-US" sz="1400" dirty="0"/>
          </a:p>
        </p:txBody>
      </p:sp>
      <p:sp>
        <p:nvSpPr>
          <p:cNvPr id="72" name="Text 70"/>
          <p:cNvSpPr txBox="1"/>
          <p:nvPr/>
        </p:nvSpPr>
        <p:spPr>
          <a:xfrm>
            <a:off x="8284464" y="4242816"/>
            <a:ext cx="2514600" cy="237744"/>
          </a:xfrm>
          <a:prstGeom prst="rect">
            <a:avLst/>
          </a:prstGeom>
          <a:noFill/>
          <a:ln/>
        </p:spPr>
        <p:txBody>
          <a:bodyPr wrap="square" lIns="0" tIns="0" rIns="0" bIns="0" rtlCol="0" anchor="t"/>
          <a:lstStyle/>
          <a:p>
            <a:pPr indent="0" marL="0">
              <a:buNone/>
            </a:pPr>
            <a:r>
              <a:rPr lang="en-US" sz="1200" dirty="0">
                <a:solidFill>
                  <a:schemeClr val="bg2"/>
                </a:solidFill>
              </a:rPr>
              <a:t>Jusqu'à ×20 sur couches 2 et 3</a:t>
            </a:r>
            <a:endParaRPr lang="en-US" sz="1200" dirty="0"/>
          </a:p>
        </p:txBody>
      </p:sp>
      <p:sp>
        <p:nvSpPr>
          <p:cNvPr id="73" name="chip MODÈLE"/>
          <p:cNvSpPr/>
          <p:nvPr/>
        </p:nvSpPr>
        <p:spPr>
          <a:xfrm>
            <a:off x="10744200" y="3995928"/>
            <a:ext cx="777240" cy="201168"/>
          </a:xfrm>
          <a:prstGeom prst="roundRect">
            <a:avLst>
              <a:gd name="adj" fmla="val 50000"/>
            </a:avLst>
          </a:prstGeom>
          <a:solidFill>
            <a:schemeClr val="accent1"/>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MODÈLE</a:t>
            </a:r>
            <a:endParaRPr lang="en-US" sz="800" dirty="0"/>
          </a:p>
        </p:txBody>
      </p:sp>
      <p:sp>
        <p:nvSpPr>
          <p:cNvPr id="74" name="piste INT4 ou précision mixte"/>
          <p:cNvSpPr/>
          <p:nvPr/>
        </p:nvSpPr>
        <p:spPr>
          <a:xfrm>
            <a:off x="8119872" y="4599432"/>
            <a:ext cx="3520440" cy="621792"/>
          </a:xfrm>
          <a:prstGeom prst="roundRect">
            <a:avLst>
              <a:gd name="adj" fmla="val 11765"/>
            </a:avLst>
          </a:prstGeom>
          <a:solidFill>
            <a:schemeClr val="tx2"/>
          </a:solidFill>
          <a:ln w="12700">
            <a:solidFill>
              <a:schemeClr val="tx2"/>
            </a:solidFill>
            <a:prstDash val="solid"/>
          </a:ln>
        </p:spPr>
      </p:sp>
      <p:sp>
        <p:nvSpPr>
          <p:cNvPr id="75" name="Text 73"/>
          <p:cNvSpPr txBox="1"/>
          <p:nvPr/>
        </p:nvSpPr>
        <p:spPr>
          <a:xfrm>
            <a:off x="8284464" y="4663440"/>
            <a:ext cx="2423160" cy="274320"/>
          </a:xfrm>
          <a:prstGeom prst="rect">
            <a:avLst/>
          </a:prstGeom>
          <a:noFill/>
          <a:ln/>
        </p:spPr>
        <p:txBody>
          <a:bodyPr wrap="square" lIns="0" tIns="0" rIns="0" bIns="0" rtlCol="0" anchor="t"/>
          <a:lstStyle/>
          <a:p>
            <a:pPr indent="0" marL="0">
              <a:buNone/>
            </a:pPr>
            <a:r>
              <a:rPr lang="en-US" sz="1400" b="1" dirty="0">
                <a:solidFill>
                  <a:schemeClr val="bg1"/>
                </a:solidFill>
              </a:rPr>
              <a:t>INT4 ou précision mixte</a:t>
            </a:r>
            <a:endParaRPr lang="en-US" sz="1400" dirty="0"/>
          </a:p>
        </p:txBody>
      </p:sp>
      <p:sp>
        <p:nvSpPr>
          <p:cNvPr id="76" name="Text 74"/>
          <p:cNvSpPr txBox="1"/>
          <p:nvPr/>
        </p:nvSpPr>
        <p:spPr>
          <a:xfrm>
            <a:off x="8284464" y="4937760"/>
            <a:ext cx="2514600" cy="237744"/>
          </a:xfrm>
          <a:prstGeom prst="rect">
            <a:avLst/>
          </a:prstGeom>
          <a:noFill/>
          <a:ln/>
        </p:spPr>
        <p:txBody>
          <a:bodyPr wrap="square" lIns="0" tIns="0" rIns="0" bIns="0" rtlCol="0" anchor="t"/>
          <a:lstStyle/>
          <a:p>
            <a:pPr indent="0" marL="0">
              <a:buNone/>
            </a:pPr>
            <a:r>
              <a:rPr lang="en-US" sz="1200" dirty="0">
                <a:solidFill>
                  <a:schemeClr val="bg2"/>
                </a:solidFill>
              </a:rPr>
              <a:t>Moins de BRAM et de DSP</a:t>
            </a:r>
            <a:endParaRPr lang="en-US" sz="1200" dirty="0"/>
          </a:p>
        </p:txBody>
      </p:sp>
      <p:sp>
        <p:nvSpPr>
          <p:cNvPr id="77" name="chip QUANTIF"/>
          <p:cNvSpPr/>
          <p:nvPr/>
        </p:nvSpPr>
        <p:spPr>
          <a:xfrm>
            <a:off x="10744200" y="4690872"/>
            <a:ext cx="777240" cy="201168"/>
          </a:xfrm>
          <a:prstGeom prst="roundRect">
            <a:avLst>
              <a:gd name="adj" fmla="val 50000"/>
            </a:avLst>
          </a:prstGeom>
          <a:solidFill>
            <a:schemeClr val="accent4"/>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QUANTIF</a:t>
            </a:r>
            <a:endParaRPr lang="en-US" sz="800" dirty="0"/>
          </a:p>
        </p:txBody>
      </p:sp>
      <p:sp>
        <p:nvSpPr>
          <p:cNvPr id="78" name="piste Élagage + distillation"/>
          <p:cNvSpPr/>
          <p:nvPr/>
        </p:nvSpPr>
        <p:spPr>
          <a:xfrm>
            <a:off x="8119872" y="5294376"/>
            <a:ext cx="3520440" cy="621792"/>
          </a:xfrm>
          <a:prstGeom prst="roundRect">
            <a:avLst>
              <a:gd name="adj" fmla="val 11765"/>
            </a:avLst>
          </a:prstGeom>
          <a:solidFill>
            <a:schemeClr val="tx2"/>
          </a:solidFill>
          <a:ln w="12700">
            <a:solidFill>
              <a:schemeClr val="tx2"/>
            </a:solidFill>
            <a:prstDash val="solid"/>
          </a:ln>
        </p:spPr>
      </p:sp>
      <p:sp>
        <p:nvSpPr>
          <p:cNvPr id="79" name="Text 77"/>
          <p:cNvSpPr txBox="1"/>
          <p:nvPr/>
        </p:nvSpPr>
        <p:spPr>
          <a:xfrm>
            <a:off x="8284464" y="5358384"/>
            <a:ext cx="2423160" cy="274320"/>
          </a:xfrm>
          <a:prstGeom prst="rect">
            <a:avLst/>
          </a:prstGeom>
          <a:noFill/>
          <a:ln/>
        </p:spPr>
        <p:txBody>
          <a:bodyPr wrap="square" lIns="0" tIns="0" rIns="0" bIns="0" rtlCol="0" anchor="t"/>
          <a:lstStyle/>
          <a:p>
            <a:pPr indent="0" marL="0">
              <a:buNone/>
            </a:pPr>
            <a:r>
              <a:rPr lang="en-US" sz="1400" b="1" dirty="0">
                <a:solidFill>
                  <a:schemeClr val="bg1"/>
                </a:solidFill>
              </a:rPr>
              <a:t>Élagage + distillation</a:t>
            </a:r>
            <a:endParaRPr lang="en-US" sz="1400" dirty="0"/>
          </a:p>
        </p:txBody>
      </p:sp>
      <p:sp>
        <p:nvSpPr>
          <p:cNvPr id="80" name="Text 78"/>
          <p:cNvSpPr txBox="1"/>
          <p:nvPr/>
        </p:nvSpPr>
        <p:spPr>
          <a:xfrm>
            <a:off x="8284464" y="5632704"/>
            <a:ext cx="2514600" cy="237744"/>
          </a:xfrm>
          <a:prstGeom prst="rect">
            <a:avLst/>
          </a:prstGeom>
          <a:noFill/>
          <a:ln/>
        </p:spPr>
        <p:txBody>
          <a:bodyPr wrap="square" lIns="0" tIns="0" rIns="0" bIns="0" rtlCol="0" anchor="t"/>
          <a:lstStyle/>
          <a:p>
            <a:pPr indent="0" marL="0">
              <a:buNone/>
            </a:pPr>
            <a:r>
              <a:rPr lang="en-US" sz="1200" dirty="0">
                <a:solidFill>
                  <a:schemeClr val="bg2"/>
                </a:solidFill>
              </a:rPr>
              <a:t>Plus petit, qualité gardée</a:t>
            </a:r>
            <a:endParaRPr lang="en-US" sz="1200" dirty="0"/>
          </a:p>
        </p:txBody>
      </p:sp>
      <p:sp>
        <p:nvSpPr>
          <p:cNvPr id="81" name="chip MODÈLE"/>
          <p:cNvSpPr/>
          <p:nvPr/>
        </p:nvSpPr>
        <p:spPr>
          <a:xfrm>
            <a:off x="10744200" y="5385816"/>
            <a:ext cx="777240" cy="201168"/>
          </a:xfrm>
          <a:prstGeom prst="roundRect">
            <a:avLst>
              <a:gd name="adj" fmla="val 50000"/>
            </a:avLst>
          </a:prstGeom>
          <a:solidFill>
            <a:schemeClr val="accent1"/>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MODÈLE</a:t>
            </a:r>
            <a:endParaRPr lang="en-US" sz="800" dirty="0"/>
          </a:p>
        </p:txBody>
      </p:sp>
      <p:sp>
        <p:nvSpPr>
          <p:cNvPr id="82" name="Text 80"/>
          <p:cNvSpPr txBox="1"/>
          <p:nvPr/>
        </p:nvSpPr>
        <p:spPr>
          <a:xfrm>
            <a:off x="548640" y="6053328"/>
            <a:ext cx="731520" cy="219456"/>
          </a:xfrm>
          <a:prstGeom prst="rect">
            <a:avLst/>
          </a:prstGeom>
          <a:noFill/>
          <a:ln/>
        </p:spPr>
        <p:txBody>
          <a:bodyPr wrap="square" lIns="0" tIns="0" rIns="0" bIns="0" rtlCol="0" anchor="ctr"/>
          <a:lstStyle/>
          <a:p>
            <a:pPr indent="0" marL="0">
              <a:buNone/>
            </a:pPr>
            <a:r>
              <a:rPr lang="en-US" sz="1100" dirty="0">
                <a:solidFill>
                  <a:schemeClr val="accent6"/>
                </a:solidFill>
              </a:rPr>
              <a:t>Famille :</a:t>
            </a:r>
            <a:endParaRPr lang="en-US" sz="1100" dirty="0"/>
          </a:p>
        </p:txBody>
      </p:sp>
      <p:sp>
        <p:nvSpPr>
          <p:cNvPr id="83" name="chip MODÈLE"/>
          <p:cNvSpPr/>
          <p:nvPr/>
        </p:nvSpPr>
        <p:spPr>
          <a:xfrm>
            <a:off x="1280160" y="6062472"/>
            <a:ext cx="777240" cy="201168"/>
          </a:xfrm>
          <a:prstGeom prst="roundRect">
            <a:avLst>
              <a:gd name="adj" fmla="val 50000"/>
            </a:avLst>
          </a:prstGeom>
          <a:solidFill>
            <a:schemeClr val="accent1"/>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MODÈLE</a:t>
            </a:r>
            <a:endParaRPr lang="en-US" sz="800" dirty="0"/>
          </a:p>
        </p:txBody>
      </p:sp>
      <p:sp>
        <p:nvSpPr>
          <p:cNvPr id="84" name="chip QUANTIF"/>
          <p:cNvSpPr/>
          <p:nvPr/>
        </p:nvSpPr>
        <p:spPr>
          <a:xfrm>
            <a:off x="2194560" y="6062472"/>
            <a:ext cx="777240" cy="201168"/>
          </a:xfrm>
          <a:prstGeom prst="roundRect">
            <a:avLst>
              <a:gd name="adj" fmla="val 50000"/>
            </a:avLst>
          </a:prstGeom>
          <a:solidFill>
            <a:schemeClr val="accent4"/>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QUANTIF</a:t>
            </a:r>
            <a:endParaRPr lang="en-US" sz="800" dirty="0"/>
          </a:p>
        </p:txBody>
      </p:sp>
      <p:sp>
        <p:nvSpPr>
          <p:cNvPr id="85" name="chip LOGICIEL"/>
          <p:cNvSpPr/>
          <p:nvPr/>
        </p:nvSpPr>
        <p:spPr>
          <a:xfrm>
            <a:off x="3108960" y="6062472"/>
            <a:ext cx="777240" cy="201168"/>
          </a:xfrm>
          <a:prstGeom prst="roundRect">
            <a:avLst>
              <a:gd name="adj" fmla="val 50000"/>
            </a:avLst>
          </a:prstGeom>
          <a:solidFill>
            <a:schemeClr val="accent3"/>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LOGICIEL</a:t>
            </a:r>
            <a:endParaRPr lang="en-US" sz="800" dirty="0"/>
          </a:p>
        </p:txBody>
      </p:sp>
      <p:sp>
        <p:nvSpPr>
          <p:cNvPr id="86" name="chip MATÉRIEL"/>
          <p:cNvSpPr/>
          <p:nvPr/>
        </p:nvSpPr>
        <p:spPr>
          <a:xfrm>
            <a:off x="4023360" y="6062472"/>
            <a:ext cx="777240" cy="201168"/>
          </a:xfrm>
          <a:prstGeom prst="roundRect">
            <a:avLst>
              <a:gd name="adj" fmla="val 50000"/>
            </a:avLst>
          </a:prstGeom>
          <a:solidFill>
            <a:schemeClr val="accent2"/>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MATÉRIEL</a:t>
            </a:r>
            <a:endParaRPr lang="en-US" sz="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hip LE LIVRABLE"/>
          <p:cNvSpPr/>
          <p:nvPr/>
        </p:nvSpPr>
        <p:spPr>
          <a:xfrm>
            <a:off x="548640" y="329184"/>
            <a:ext cx="141348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LE LIVRABLE</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Une commande, tous les scénarios côte à côte</a:t>
            </a:r>
            <a:endParaRPr lang="en-US" sz="3000" dirty="0"/>
          </a:p>
        </p:txBody>
      </p:sp>
      <p:sp>
        <p:nvSpPr>
          <p:cNvPr id="4" name="Docker + compose"/>
          <p:cNvSpPr/>
          <p:nvPr/>
        </p:nvSpPr>
        <p:spPr>
          <a:xfrm>
            <a:off x="548640" y="1645920"/>
            <a:ext cx="3429000" cy="3337560"/>
          </a:xfrm>
          <a:prstGeom prst="roundRect">
            <a:avLst>
              <a:gd name="adj" fmla="val 3288"/>
            </a:avLst>
          </a:prstGeom>
          <a:solidFill>
            <a:schemeClr val="tx2"/>
          </a:solidFill>
          <a:ln w="19050">
            <a:solidFill>
              <a:schemeClr val="accent3"/>
            </a:solidFill>
            <a:prstDash val="solid"/>
          </a:ln>
        </p:spPr>
      </p:sp>
      <p:sp>
        <p:nvSpPr>
          <p:cNvPr id="5" name="pastille FaDocker"/>
          <p:cNvSpPr/>
          <p:nvPr/>
        </p:nvSpPr>
        <p:spPr>
          <a:xfrm>
            <a:off x="777240" y="1874520"/>
            <a:ext cx="502920" cy="502920"/>
          </a:xfrm>
          <a:prstGeom prst="ellipse">
            <a:avLst/>
          </a:prstGeom>
          <a:solidFill>
            <a:schemeClr val="accent3"/>
          </a:solidFill>
          <a:ln w="12700">
            <a:solidFill>
              <a:schemeClr val="accent3"/>
            </a:solidFill>
            <a:prstDash val="solid"/>
          </a:ln>
        </p:spPr>
      </p:sp>
      <p:pic>
        <p:nvPicPr>
          <p:cNvPr id="6" name="icône FaDocker" descr="preencoded.png">    </p:cNvPr>
          <p:cNvPicPr>
            <a:picLocks noChangeAspect="1"/>
          </p:cNvPicPr>
          <p:nvPr/>
        </p:nvPicPr>
        <p:blipFill>
          <a:blip r:embed="rId1"/>
          <a:stretch>
            <a:fillRect/>
          </a:stretch>
        </p:blipFill>
        <p:spPr>
          <a:xfrm>
            <a:off x="897941" y="1995221"/>
            <a:ext cx="261518" cy="261518"/>
          </a:xfrm>
          <a:prstGeom prst="rect">
            <a:avLst/>
          </a:prstGeom>
        </p:spPr>
      </p:pic>
      <p:sp>
        <p:nvSpPr>
          <p:cNvPr id="7" name="Text 4"/>
          <p:cNvSpPr txBox="1"/>
          <p:nvPr/>
        </p:nvSpPr>
        <p:spPr>
          <a:xfrm>
            <a:off x="1417320" y="1874520"/>
            <a:ext cx="2423160" cy="50292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Docker + compose</a:t>
            </a:r>
            <a:endParaRPr lang="en-US" sz="1800" dirty="0"/>
          </a:p>
        </p:txBody>
      </p:sp>
      <p:sp>
        <p:nvSpPr>
          <p:cNvPr id="8" name="Text 5"/>
          <p:cNvSpPr txBox="1"/>
          <p:nvPr/>
        </p:nvSpPr>
        <p:spPr>
          <a:xfrm>
            <a:off x="777240" y="2560320"/>
            <a:ext cx="3017520" cy="822960"/>
          </a:xfrm>
          <a:prstGeom prst="rect">
            <a:avLst/>
          </a:prstGeom>
          <a:noFill/>
          <a:ln/>
        </p:spPr>
        <p:txBody>
          <a:bodyPr wrap="square" lIns="0" tIns="0" rIns="0" bIns="0" rtlCol="0" anchor="t"/>
          <a:lstStyle/>
          <a:p>
            <a:pPr indent="0" marL="0">
              <a:buNone/>
            </a:pPr>
            <a:r>
              <a:rPr lang="en-US" sz="1400" dirty="0">
                <a:solidFill>
                  <a:schemeClr val="bg2"/>
                </a:solidFill>
              </a:rPr>
              <a:t>Le même environnement pour toute l'équipe et pour le jury, sous Windows comme sous Linux.</a:t>
            </a:r>
            <a:endParaRPr lang="en-US" sz="1400" dirty="0"/>
          </a:p>
        </p:txBody>
      </p:sp>
      <p:sp>
        <p:nvSpPr>
          <p:cNvPr id="9" name="flèche stack"/>
          <p:cNvSpPr/>
          <p:nvPr/>
        </p:nvSpPr>
        <p:spPr>
          <a:xfrm>
            <a:off x="4041648" y="3291840"/>
            <a:ext cx="274320" cy="0"/>
          </a:xfrm>
          <a:prstGeom prst="line">
            <a:avLst/>
          </a:prstGeom>
          <a:noFill/>
          <a:ln w="25400">
            <a:solidFill>
              <a:schemeClr val="bg2"/>
            </a:solidFill>
            <a:prstDash val="solid"/>
            <a:tailEnd type="triangle"/>
          </a:ln>
        </p:spPr>
      </p:sp>
      <p:sp>
        <p:nvSpPr>
          <p:cNvPr id="10" name="Des scénarios"/>
          <p:cNvSpPr/>
          <p:nvPr/>
        </p:nvSpPr>
        <p:spPr>
          <a:xfrm>
            <a:off x="4379976" y="1645920"/>
            <a:ext cx="3429000" cy="3337560"/>
          </a:xfrm>
          <a:prstGeom prst="roundRect">
            <a:avLst>
              <a:gd name="adj" fmla="val 3288"/>
            </a:avLst>
          </a:prstGeom>
          <a:solidFill>
            <a:schemeClr val="tx2"/>
          </a:solidFill>
          <a:ln w="19050">
            <a:solidFill>
              <a:schemeClr val="accent1"/>
            </a:solidFill>
            <a:prstDash val="solid"/>
          </a:ln>
        </p:spPr>
      </p:sp>
      <p:sp>
        <p:nvSpPr>
          <p:cNvPr id="11" name="pastille FaSlidersH"/>
          <p:cNvSpPr/>
          <p:nvPr/>
        </p:nvSpPr>
        <p:spPr>
          <a:xfrm>
            <a:off x="4608576" y="1874520"/>
            <a:ext cx="502920" cy="502920"/>
          </a:xfrm>
          <a:prstGeom prst="ellipse">
            <a:avLst/>
          </a:prstGeom>
          <a:solidFill>
            <a:schemeClr val="accent1"/>
          </a:solidFill>
          <a:ln w="12700">
            <a:solidFill>
              <a:schemeClr val="accent1"/>
            </a:solidFill>
            <a:prstDash val="solid"/>
          </a:ln>
        </p:spPr>
      </p:sp>
      <p:pic>
        <p:nvPicPr>
          <p:cNvPr id="12" name="icône FaSlidersH" descr="preencoded.png">    </p:cNvPr>
          <p:cNvPicPr>
            <a:picLocks noChangeAspect="1"/>
          </p:cNvPicPr>
          <p:nvPr/>
        </p:nvPicPr>
        <p:blipFill>
          <a:blip r:embed="rId2"/>
          <a:stretch>
            <a:fillRect/>
          </a:stretch>
        </p:blipFill>
        <p:spPr>
          <a:xfrm>
            <a:off x="4729277" y="1995221"/>
            <a:ext cx="261518" cy="261518"/>
          </a:xfrm>
          <a:prstGeom prst="rect">
            <a:avLst/>
          </a:prstGeom>
        </p:spPr>
      </p:pic>
      <p:sp>
        <p:nvSpPr>
          <p:cNvPr id="13" name="Text 9"/>
          <p:cNvSpPr txBox="1"/>
          <p:nvPr/>
        </p:nvSpPr>
        <p:spPr>
          <a:xfrm>
            <a:off x="5248656" y="1874520"/>
            <a:ext cx="2423160" cy="50292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Des scénarios</a:t>
            </a:r>
            <a:endParaRPr lang="en-US" sz="1800" dirty="0"/>
          </a:p>
        </p:txBody>
      </p:sp>
      <p:sp>
        <p:nvSpPr>
          <p:cNvPr id="14" name="Text 10"/>
          <p:cNvSpPr txBox="1"/>
          <p:nvPr/>
        </p:nvSpPr>
        <p:spPr>
          <a:xfrm>
            <a:off x="4608576" y="2560320"/>
            <a:ext cx="3017520" cy="822960"/>
          </a:xfrm>
          <a:prstGeom prst="rect">
            <a:avLst/>
          </a:prstGeom>
          <a:noFill/>
          <a:ln/>
        </p:spPr>
        <p:txBody>
          <a:bodyPr wrap="square" lIns="0" tIns="0" rIns="0" bIns="0" rtlCol="0" anchor="t"/>
          <a:lstStyle/>
          <a:p>
            <a:pPr indent="0" marL="0">
              <a:buNone/>
            </a:pPr>
            <a:r>
              <a:rPr lang="en-US" sz="1400" dirty="0">
                <a:solidFill>
                  <a:schemeClr val="bg2"/>
                </a:solidFill>
              </a:rPr>
              <a:t>Un scénario = un fichier de config : taille du modèle, précision, tuilage, moteur.</a:t>
            </a:r>
            <a:endParaRPr lang="en-US" sz="1400" dirty="0"/>
          </a:p>
        </p:txBody>
      </p:sp>
      <p:sp>
        <p:nvSpPr>
          <p:cNvPr id="15" name="flèche stack"/>
          <p:cNvSpPr/>
          <p:nvPr/>
        </p:nvSpPr>
        <p:spPr>
          <a:xfrm>
            <a:off x="7872984" y="3291840"/>
            <a:ext cx="274320" cy="0"/>
          </a:xfrm>
          <a:prstGeom prst="line">
            <a:avLst/>
          </a:prstGeom>
          <a:noFill/>
          <a:ln w="25400">
            <a:solidFill>
              <a:schemeClr val="bg2"/>
            </a:solidFill>
            <a:prstDash val="solid"/>
            <a:tailEnd type="triangle"/>
          </a:ln>
        </p:spPr>
      </p:sp>
      <p:sp>
        <p:nvSpPr>
          <p:cNvPr id="16" name="Une interface Gradio"/>
          <p:cNvSpPr/>
          <p:nvPr/>
        </p:nvSpPr>
        <p:spPr>
          <a:xfrm>
            <a:off x="8211312" y="1645920"/>
            <a:ext cx="3429000" cy="3337560"/>
          </a:xfrm>
          <a:prstGeom prst="roundRect">
            <a:avLst>
              <a:gd name="adj" fmla="val 3288"/>
            </a:avLst>
          </a:prstGeom>
          <a:solidFill>
            <a:schemeClr val="tx2"/>
          </a:solidFill>
          <a:ln w="19050">
            <a:solidFill>
              <a:schemeClr val="accent2"/>
            </a:solidFill>
            <a:prstDash val="solid"/>
          </a:ln>
        </p:spPr>
      </p:sp>
      <p:sp>
        <p:nvSpPr>
          <p:cNvPr id="17" name="pastille FaChartLine"/>
          <p:cNvSpPr/>
          <p:nvPr/>
        </p:nvSpPr>
        <p:spPr>
          <a:xfrm>
            <a:off x="8439912" y="1874520"/>
            <a:ext cx="502920" cy="502920"/>
          </a:xfrm>
          <a:prstGeom prst="ellipse">
            <a:avLst/>
          </a:prstGeom>
          <a:solidFill>
            <a:schemeClr val="accent2"/>
          </a:solidFill>
          <a:ln w="12700">
            <a:solidFill>
              <a:schemeClr val="accent2"/>
            </a:solidFill>
            <a:prstDash val="solid"/>
          </a:ln>
        </p:spPr>
      </p:sp>
      <p:pic>
        <p:nvPicPr>
          <p:cNvPr id="18" name="icône FaChartLine" descr="preencoded.png">    </p:cNvPr>
          <p:cNvPicPr>
            <a:picLocks noChangeAspect="1"/>
          </p:cNvPicPr>
          <p:nvPr/>
        </p:nvPicPr>
        <p:blipFill>
          <a:blip r:embed="rId3"/>
          <a:stretch>
            <a:fillRect/>
          </a:stretch>
        </p:blipFill>
        <p:spPr>
          <a:xfrm>
            <a:off x="8560613" y="1995221"/>
            <a:ext cx="261518" cy="261518"/>
          </a:xfrm>
          <a:prstGeom prst="rect">
            <a:avLst/>
          </a:prstGeom>
        </p:spPr>
      </p:pic>
      <p:sp>
        <p:nvSpPr>
          <p:cNvPr id="19" name="Text 14"/>
          <p:cNvSpPr txBox="1"/>
          <p:nvPr/>
        </p:nvSpPr>
        <p:spPr>
          <a:xfrm>
            <a:off x="9079992" y="1874520"/>
            <a:ext cx="2423160" cy="502920"/>
          </a:xfrm>
          <a:prstGeom prst="rect">
            <a:avLst/>
          </a:prstGeom>
          <a:noFill/>
          <a:ln/>
        </p:spPr>
        <p:txBody>
          <a:bodyPr wrap="square" lIns="0" tIns="0" rIns="0" bIns="0" rtlCol="0" anchor="ctr"/>
          <a:lstStyle/>
          <a:p>
            <a:pPr indent="0" marL="0">
              <a:buNone/>
            </a:pPr>
            <a:r>
              <a:rPr lang="en-US" sz="1800" b="1" dirty="0">
                <a:solidFill>
                  <a:schemeClr val="bg1"/>
                </a:solidFill>
                <a:latin typeface="Arial" pitchFamily="34" charset="0"/>
                <a:ea typeface="Arial" pitchFamily="34" charset="-122"/>
                <a:cs typeface="Arial" pitchFamily="34" charset="-120"/>
              </a:rPr>
              <a:t>Une interface Gradio</a:t>
            </a:r>
            <a:endParaRPr lang="en-US" sz="1800" dirty="0"/>
          </a:p>
        </p:txBody>
      </p:sp>
      <p:sp>
        <p:nvSpPr>
          <p:cNvPr id="20" name="Text 15"/>
          <p:cNvSpPr txBox="1"/>
          <p:nvPr/>
        </p:nvSpPr>
        <p:spPr>
          <a:xfrm>
            <a:off x="8439912" y="2560320"/>
            <a:ext cx="3017520" cy="822960"/>
          </a:xfrm>
          <a:prstGeom prst="rect">
            <a:avLst/>
          </a:prstGeom>
          <a:noFill/>
          <a:ln/>
        </p:spPr>
        <p:txBody>
          <a:bodyPr wrap="square" lIns="0" tIns="0" rIns="0" bIns="0" rtlCol="0" anchor="t"/>
          <a:lstStyle/>
          <a:p>
            <a:pPr indent="0" marL="0">
              <a:buNone/>
            </a:pPr>
            <a:r>
              <a:rPr lang="en-US" sz="1400" dirty="0">
                <a:solidFill>
                  <a:schemeClr val="bg2"/>
                </a:solidFill>
              </a:rPr>
              <a:t>Lance les scénarios en parallèle et superpose les résultats sur les mêmes graphes.</a:t>
            </a:r>
            <a:endParaRPr lang="en-US" sz="1400" dirty="0"/>
          </a:p>
        </p:txBody>
      </p:sp>
      <p:sp>
        <p:nvSpPr>
          <p:cNvPr id="21" name="ligne docker compose up"/>
          <p:cNvSpPr/>
          <p:nvPr/>
        </p:nvSpPr>
        <p:spPr>
          <a:xfrm>
            <a:off x="777240" y="3520440"/>
            <a:ext cx="2971800" cy="310896"/>
          </a:xfrm>
          <a:prstGeom prst="roundRect">
            <a:avLst>
              <a:gd name="adj" fmla="val 17647"/>
            </a:avLst>
          </a:prstGeom>
          <a:solidFill>
            <a:schemeClr val="tx1"/>
          </a:solidFill>
          <a:ln w="9525">
            <a:solidFill>
              <a:schemeClr val="accent3"/>
            </a:solidFill>
          </a:ln>
        </p:spPr>
        <p:txBody>
          <a:bodyPr wrap="square" lIns="76200" tIns="76200" rIns="76200" bIns="7620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docker compose up</a:t>
            </a:r>
            <a:endParaRPr lang="en-US" sz="1200" dirty="0"/>
          </a:p>
        </p:txBody>
      </p:sp>
      <p:sp>
        <p:nvSpPr>
          <p:cNvPr id="22" name="ligne app      → Gradio :7860"/>
          <p:cNvSpPr/>
          <p:nvPr/>
        </p:nvSpPr>
        <p:spPr>
          <a:xfrm>
            <a:off x="777240" y="3931920"/>
            <a:ext cx="2971800" cy="310896"/>
          </a:xfrm>
          <a:prstGeom prst="roundRect">
            <a:avLst>
              <a:gd name="adj" fmla="val 17647"/>
            </a:avLst>
          </a:prstGeom>
          <a:solidFill>
            <a:schemeClr val="tx1"/>
          </a:solidFill>
          <a:ln w="9525">
            <a:solidFill>
              <a:schemeClr val="accent3"/>
            </a:solidFill>
          </a:ln>
        </p:spPr>
        <p:txBody>
          <a:bodyPr wrap="square" lIns="76200" tIns="76200" rIns="76200" bIns="7620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app      → Gradio :7860</a:t>
            </a:r>
            <a:endParaRPr lang="en-US" sz="1200" dirty="0"/>
          </a:p>
        </p:txBody>
      </p:sp>
      <p:sp>
        <p:nvSpPr>
          <p:cNvPr id="23" name="ligne notebook → Jupyter :8888"/>
          <p:cNvSpPr/>
          <p:nvPr/>
        </p:nvSpPr>
        <p:spPr>
          <a:xfrm>
            <a:off x="777240" y="4343400"/>
            <a:ext cx="2971800" cy="310896"/>
          </a:xfrm>
          <a:prstGeom prst="roundRect">
            <a:avLst>
              <a:gd name="adj" fmla="val 17647"/>
            </a:avLst>
          </a:prstGeom>
          <a:solidFill>
            <a:schemeClr val="tx1"/>
          </a:solidFill>
          <a:ln w="9525">
            <a:solidFill>
              <a:schemeClr val="accent3"/>
            </a:solidFill>
          </a:ln>
        </p:spPr>
        <p:txBody>
          <a:bodyPr wrap="square" lIns="76200" tIns="76200" rIns="76200" bIns="7620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notebook → Jupyter :8888</a:t>
            </a:r>
            <a:endParaRPr lang="en-US" sz="1200" dirty="0"/>
          </a:p>
        </p:txBody>
      </p:sp>
      <p:sp>
        <p:nvSpPr>
          <p:cNvPr id="24" name="ligne A  FP32 · N=128 (réf.)"/>
          <p:cNvSpPr/>
          <p:nvPr/>
        </p:nvSpPr>
        <p:spPr>
          <a:xfrm>
            <a:off x="4608576" y="3456432"/>
            <a:ext cx="2971800" cy="310896"/>
          </a:xfrm>
          <a:prstGeom prst="roundRect">
            <a:avLst>
              <a:gd name="adj" fmla="val 17647"/>
            </a:avLst>
          </a:prstGeom>
          <a:solidFill>
            <a:schemeClr val="tx1"/>
          </a:solidFill>
          <a:ln w="9525">
            <a:solidFill>
              <a:schemeClr val="accent1"/>
            </a:solidFill>
          </a:ln>
        </p:spPr>
        <p:txBody>
          <a:bodyPr wrap="square" lIns="76200" tIns="76200" rIns="76200" bIns="7620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A  FP32 · N=128 (réf.)</a:t>
            </a:r>
            <a:endParaRPr lang="en-US" sz="1200" dirty="0"/>
          </a:p>
        </p:txBody>
      </p:sp>
      <p:sp>
        <p:nvSpPr>
          <p:cNvPr id="25" name="ligne B  INT8 PTQ · N=128"/>
          <p:cNvSpPr/>
          <p:nvPr/>
        </p:nvSpPr>
        <p:spPr>
          <a:xfrm>
            <a:off x="4608576" y="3813048"/>
            <a:ext cx="2971800" cy="310896"/>
          </a:xfrm>
          <a:prstGeom prst="roundRect">
            <a:avLst>
              <a:gd name="adj" fmla="val 17647"/>
            </a:avLst>
          </a:prstGeom>
          <a:solidFill>
            <a:schemeClr val="tx1"/>
          </a:solidFill>
          <a:ln w="9525">
            <a:solidFill>
              <a:schemeClr val="accent1"/>
            </a:solidFill>
          </a:ln>
        </p:spPr>
        <p:txBody>
          <a:bodyPr wrap="square" lIns="76200" tIns="76200" rIns="76200" bIns="7620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B  INT8 PTQ · N=128</a:t>
            </a:r>
            <a:endParaRPr lang="en-US" sz="1200" dirty="0"/>
          </a:p>
        </p:txBody>
      </p:sp>
      <p:sp>
        <p:nvSpPr>
          <p:cNvPr id="26" name="ligne C  INT8 QAT · N=64"/>
          <p:cNvSpPr/>
          <p:nvPr/>
        </p:nvSpPr>
        <p:spPr>
          <a:xfrm>
            <a:off x="4608576" y="4169664"/>
            <a:ext cx="2971800" cy="310896"/>
          </a:xfrm>
          <a:prstGeom prst="roundRect">
            <a:avLst>
              <a:gd name="adj" fmla="val 17647"/>
            </a:avLst>
          </a:prstGeom>
          <a:solidFill>
            <a:schemeClr val="tx1"/>
          </a:solidFill>
          <a:ln w="9525">
            <a:solidFill>
              <a:schemeClr val="accent1"/>
            </a:solidFill>
          </a:ln>
        </p:spPr>
        <p:txBody>
          <a:bodyPr wrap="square" lIns="76200" tIns="76200" rIns="76200" bIns="7620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C  INT8 QAT · N=64</a:t>
            </a:r>
            <a:endParaRPr lang="en-US" sz="1200" dirty="0"/>
          </a:p>
        </p:txBody>
      </p:sp>
      <p:sp>
        <p:nvSpPr>
          <p:cNvPr id="27" name="ligne D  INT8 · N=64 · tuiles"/>
          <p:cNvSpPr/>
          <p:nvPr/>
        </p:nvSpPr>
        <p:spPr>
          <a:xfrm>
            <a:off x="4608576" y="4526280"/>
            <a:ext cx="2971800" cy="310896"/>
          </a:xfrm>
          <a:prstGeom prst="roundRect">
            <a:avLst>
              <a:gd name="adj" fmla="val 17647"/>
            </a:avLst>
          </a:prstGeom>
          <a:solidFill>
            <a:schemeClr val="tx1"/>
          </a:solidFill>
          <a:ln w="9525">
            <a:solidFill>
              <a:schemeClr val="accent1"/>
            </a:solidFill>
          </a:ln>
        </p:spPr>
        <p:txBody>
          <a:bodyPr wrap="square" lIns="76200" tIns="76200" rIns="76200" bIns="76200" rtlCol="0" anchor="ctr"/>
          <a:lstStyle/>
          <a:p>
            <a:pPr algn="l" indent="0" marL="0">
              <a:buNone/>
            </a:pPr>
            <a:r>
              <a:rPr lang="en-US" sz="1200" dirty="0">
                <a:solidFill>
                  <a:schemeClr val="bg1"/>
                </a:solidFill>
                <a:latin typeface="Courier New" pitchFamily="34" charset="0"/>
                <a:ea typeface="Courier New" pitchFamily="34" charset="-122"/>
                <a:cs typeface="Courier New" pitchFamily="34" charset="-120"/>
              </a:rPr>
              <a:t>D  INT8 · N=64 · tuiles</a:t>
            </a:r>
            <a:endParaRPr lang="en-US" sz="1200" dirty="0"/>
          </a:p>
        </p:txBody>
      </p:sp>
      <p:sp>
        <p:nvSpPr>
          <p:cNvPr id="28" name="Text 23"/>
          <p:cNvSpPr txBox="1"/>
          <p:nvPr/>
        </p:nvSpPr>
        <p:spPr>
          <a:xfrm>
            <a:off x="8439912" y="3474720"/>
            <a:ext cx="3017520" cy="1417320"/>
          </a:xfrm>
          <a:prstGeom prst="rect">
            <a:avLst/>
          </a:prstGeom>
          <a:noFill/>
          <a:ln/>
        </p:spPr>
        <p:txBody>
          <a:bodyPr wrap="square" lIns="0" tIns="0" rIns="0" bIns="0" rtlCol="0" anchor="t"/>
          <a:lstStyle/>
          <a:p>
            <a:pPr marL="190500" indent="-190500">
              <a:spcAft>
                <a:spcPts val="400"/>
              </a:spcAft>
              <a:buSzPct val="100000"/>
              <a:buChar char="•"/>
            </a:pPr>
            <a:r>
              <a:rPr lang="en-US" sz="1400" dirty="0">
                <a:solidFill>
                  <a:schemeClr val="bg2"/>
                </a:solidFill>
              </a:rPr>
              <a:t>Courbe débit / qualité</a:t>
            </a:r>
            <a:endParaRPr lang="en-US" sz="1400" dirty="0"/>
          </a:p>
          <a:p>
            <a:pPr marL="190500" indent="-190500">
              <a:spcAft>
                <a:spcPts val="400"/>
              </a:spcAft>
              <a:buSzPct val="100000"/>
              <a:buChar char="•"/>
            </a:pPr>
            <a:r>
              <a:rPr lang="en-US" sz="1400" dirty="0">
                <a:solidFill>
                  <a:schemeClr val="bg2"/>
                </a:solidFill>
              </a:rPr>
              <a:t>Temps et charge CPU</a:t>
            </a:r>
            <a:endParaRPr lang="en-US" sz="1400" dirty="0"/>
          </a:p>
          <a:p>
            <a:pPr marL="190500" indent="-190500">
              <a:spcAft>
                <a:spcPts val="400"/>
              </a:spcAft>
              <a:buSzPct val="100000"/>
              <a:buChar char="•"/>
            </a:pPr>
            <a:r>
              <a:rPr lang="en-US" sz="1400" dirty="0">
                <a:solidFill>
                  <a:schemeClr val="bg2"/>
                </a:solidFill>
              </a:rPr>
              <a:t>Mémoire et ressources FPGA</a:t>
            </a:r>
            <a:endParaRPr lang="en-US" sz="1400" dirty="0"/>
          </a:p>
          <a:p>
            <a:pPr marL="190500" indent="-190500">
              <a:spcAft>
                <a:spcPts val="400"/>
              </a:spcAft>
              <a:buSzPct val="100000"/>
              <a:buChar char="•"/>
            </a:pPr>
            <a:r>
              <a:rPr lang="en-US" sz="1400" dirty="0">
                <a:solidFill>
                  <a:schemeClr val="bg2"/>
                </a:solidFill>
              </a:rPr>
              <a:t>Moteur : PyTorch, ONNX, Aidge</a:t>
            </a:r>
            <a:endParaRPr lang="en-US" sz="1400" dirty="0"/>
          </a:p>
        </p:txBody>
      </p:sp>
      <p:sp>
        <p:nvSpPr>
          <p:cNvPr id="29" name="message jury"/>
          <p:cNvSpPr/>
          <p:nvPr/>
        </p:nvSpPr>
        <p:spPr>
          <a:xfrm>
            <a:off x="548640" y="5212080"/>
            <a:ext cx="11091672" cy="868680"/>
          </a:xfrm>
          <a:prstGeom prst="roundRect">
            <a:avLst>
              <a:gd name="adj" fmla="val 12632"/>
            </a:avLst>
          </a:prstGeom>
          <a:solidFill>
            <a:schemeClr val="tx2"/>
          </a:solidFill>
          <a:ln w="12700">
            <a:solidFill>
              <a:schemeClr val="tx2"/>
            </a:solidFill>
            <a:prstDash val="solid"/>
          </a:ln>
        </p:spPr>
      </p:sp>
      <p:sp>
        <p:nvSpPr>
          <p:cNvPr id="30" name="pastille FaGavel"/>
          <p:cNvSpPr/>
          <p:nvPr/>
        </p:nvSpPr>
        <p:spPr>
          <a:xfrm>
            <a:off x="777240" y="5394960"/>
            <a:ext cx="502920" cy="502920"/>
          </a:xfrm>
          <a:prstGeom prst="ellipse">
            <a:avLst/>
          </a:prstGeom>
          <a:solidFill>
            <a:schemeClr val="accent5"/>
          </a:solidFill>
          <a:ln w="12700">
            <a:solidFill>
              <a:schemeClr val="accent5"/>
            </a:solidFill>
            <a:prstDash val="solid"/>
          </a:ln>
        </p:spPr>
      </p:sp>
      <p:pic>
        <p:nvPicPr>
          <p:cNvPr id="31" name="icône FaGavel" descr="preencoded.png">    </p:cNvPr>
          <p:cNvPicPr>
            <a:picLocks noChangeAspect="1"/>
          </p:cNvPicPr>
          <p:nvPr/>
        </p:nvPicPr>
        <p:blipFill>
          <a:blip r:embed="rId4"/>
          <a:stretch>
            <a:fillRect/>
          </a:stretch>
        </p:blipFill>
        <p:spPr>
          <a:xfrm>
            <a:off x="897941" y="5515661"/>
            <a:ext cx="261518" cy="261518"/>
          </a:xfrm>
          <a:prstGeom prst="rect">
            <a:avLst/>
          </a:prstGeom>
        </p:spPr>
      </p:pic>
      <p:sp>
        <p:nvSpPr>
          <p:cNvPr id="32" name="Text 26"/>
          <p:cNvSpPr txBox="1"/>
          <p:nvPr/>
        </p:nvSpPr>
        <p:spPr>
          <a:xfrm>
            <a:off x="1463040" y="5257800"/>
            <a:ext cx="9966960" cy="777240"/>
          </a:xfrm>
          <a:prstGeom prst="rect">
            <a:avLst/>
          </a:prstGeom>
          <a:noFill/>
          <a:ln/>
        </p:spPr>
        <p:txBody>
          <a:bodyPr wrap="square" lIns="0" tIns="0" rIns="0" bIns="0" rtlCol="0" anchor="ctr"/>
          <a:lstStyle/>
          <a:p>
            <a:pPr indent="0" marL="0">
              <a:buNone/>
            </a:pPr>
            <a:r>
              <a:rPr lang="en-US" sz="1500" b="1" dirty="0">
                <a:solidFill>
                  <a:schemeClr val="accent5"/>
                </a:solidFill>
              </a:rPr>
              <a:t>Pour le jury : </a:t>
            </a:r>
            <a:pPr indent="0" marL="0">
              <a:buNone/>
            </a:pPr>
            <a:r>
              <a:rPr lang="en-US" sz="1500" dirty="0">
                <a:solidFill>
                  <a:schemeClr val="bg1"/>
                </a:solidFill>
              </a:rPr>
              <a:t>git clone, docker compose up, et toute la démo tourne. </a:t>
            </a:r>
            <a:endParaRPr lang="en-US" sz="1500" dirty="0"/>
          </a:p>
          <a:p>
            <a:pPr indent="0" marL="0">
              <a:buNone/>
            </a:pPr>
            <a:r>
              <a:rPr lang="en-US" sz="1300" dirty="0">
                <a:solidFill>
                  <a:schemeClr val="accent6"/>
                </a:solidFill>
              </a:rPr>
              <a:t>L'image Docker est en CPU : parfait pour comparer et démontrer, l'entraînement sur GPU reste à part.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hip PLANNING"/>
          <p:cNvSpPr/>
          <p:nvPr/>
        </p:nvSpPr>
        <p:spPr>
          <a:xfrm>
            <a:off x="548640" y="329184"/>
            <a:ext cx="1117763"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PLANNING</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Quatre jalons d'ici Noël</a:t>
            </a:r>
            <a:endParaRPr lang="en-US" sz="3000" dirty="0"/>
          </a:p>
        </p:txBody>
      </p:sp>
      <p:sp>
        <p:nvSpPr>
          <p:cNvPr id="4" name="frise"/>
          <p:cNvSpPr/>
          <p:nvPr/>
        </p:nvSpPr>
        <p:spPr>
          <a:xfrm>
            <a:off x="1874520" y="2011680"/>
            <a:ext cx="9692640" cy="0"/>
          </a:xfrm>
          <a:prstGeom prst="line">
            <a:avLst/>
          </a:prstGeom>
          <a:noFill/>
          <a:ln w="25400">
            <a:solidFill>
              <a:schemeClr val="accent6"/>
            </a:solidFill>
            <a:prstDash val="solid"/>
          </a:ln>
        </p:spPr>
      </p:sp>
      <p:sp>
        <p:nvSpPr>
          <p:cNvPr id="5" name="chip MODÈLE"/>
          <p:cNvSpPr/>
          <p:nvPr/>
        </p:nvSpPr>
        <p:spPr>
          <a:xfrm>
            <a:off x="548640" y="2834640"/>
            <a:ext cx="114300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MODÈLE</a:t>
            </a:r>
            <a:endParaRPr lang="en-US" sz="1100" dirty="0"/>
          </a:p>
        </p:txBody>
      </p:sp>
      <p:sp>
        <p:nvSpPr>
          <p:cNvPr id="6" name="chip EMBARQUÉ"/>
          <p:cNvSpPr/>
          <p:nvPr/>
        </p:nvSpPr>
        <p:spPr>
          <a:xfrm>
            <a:off x="548640" y="4526280"/>
            <a:ext cx="114300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EMBARQUÉ</a:t>
            </a:r>
            <a:endParaRPr lang="en-US" sz="1100" dirty="0"/>
          </a:p>
        </p:txBody>
      </p:sp>
      <p:sp>
        <p:nvSpPr>
          <p:cNvPr id="7" name="jalon J1 · 25 oct."/>
          <p:cNvSpPr/>
          <p:nvPr/>
        </p:nvSpPr>
        <p:spPr>
          <a:xfrm>
            <a:off x="2688336" y="1911096"/>
            <a:ext cx="201168" cy="201168"/>
          </a:xfrm>
          <a:prstGeom prst="ellipse">
            <a:avLst/>
          </a:prstGeom>
          <a:solidFill>
            <a:schemeClr val="accent4"/>
          </a:solidFill>
          <a:ln w="25400">
            <a:solidFill>
              <a:schemeClr val="tx1"/>
            </a:solidFill>
            <a:prstDash val="solid"/>
          </a:ln>
        </p:spPr>
      </p:sp>
      <p:sp>
        <p:nvSpPr>
          <p:cNvPr id="8" name="Text 6"/>
          <p:cNvSpPr txBox="1"/>
          <p:nvPr/>
        </p:nvSpPr>
        <p:spPr>
          <a:xfrm>
            <a:off x="1874520" y="1572768"/>
            <a:ext cx="1828800" cy="292608"/>
          </a:xfrm>
          <a:prstGeom prst="rect">
            <a:avLst/>
          </a:prstGeom>
          <a:noFill/>
          <a:ln/>
        </p:spPr>
        <p:txBody>
          <a:bodyPr wrap="square" lIns="0" tIns="0" rIns="0" bIns="0" rtlCol="0" anchor="t"/>
          <a:lstStyle/>
          <a:p>
            <a:pPr algn="ctr" indent="0" marL="0">
              <a:buNone/>
            </a:pPr>
            <a:r>
              <a:rPr lang="en-US" sz="1500" b="1" dirty="0">
                <a:solidFill>
                  <a:schemeClr val="bg1"/>
                </a:solidFill>
                <a:latin typeface="Arial" pitchFamily="34" charset="0"/>
                <a:ea typeface="Arial" pitchFamily="34" charset="-122"/>
                <a:cs typeface="Arial" pitchFamily="34" charset="-120"/>
              </a:rPr>
              <a:t>J1 · 25 oct.</a:t>
            </a:r>
            <a:endParaRPr lang="en-US" sz="1500" dirty="0"/>
          </a:p>
        </p:txBody>
      </p:sp>
      <p:sp>
        <p:nvSpPr>
          <p:cNvPr id="9" name="modèle J1 · 25 oct."/>
          <p:cNvSpPr/>
          <p:nvPr/>
        </p:nvSpPr>
        <p:spPr>
          <a:xfrm>
            <a:off x="1874520" y="2331720"/>
            <a:ext cx="1828800" cy="1463040"/>
          </a:xfrm>
          <a:prstGeom prst="roundRect">
            <a:avLst>
              <a:gd name="adj" fmla="val 7500"/>
            </a:avLst>
          </a:prstGeom>
          <a:solidFill>
            <a:schemeClr val="tx2"/>
          </a:solidFill>
          <a:ln w="19050">
            <a:solidFill>
              <a:schemeClr val="accent1"/>
            </a:solidFill>
            <a:prstDash val="solid"/>
          </a:ln>
        </p:spPr>
      </p:sp>
      <p:sp>
        <p:nvSpPr>
          <p:cNvPr id="10" name="Text 8"/>
          <p:cNvSpPr txBox="1"/>
          <p:nvPr/>
        </p:nvSpPr>
        <p:spPr>
          <a:xfrm>
            <a:off x="2011680" y="2450592"/>
            <a:ext cx="1554480" cy="1280160"/>
          </a:xfrm>
          <a:prstGeom prst="rect">
            <a:avLst/>
          </a:prstGeom>
          <a:noFill/>
          <a:ln/>
        </p:spPr>
        <p:txBody>
          <a:bodyPr wrap="square" lIns="0" tIns="0" rIns="0" bIns="0" rtlCol="0" anchor="t"/>
          <a:lstStyle/>
          <a:p>
            <a:pPr indent="0" marL="0">
              <a:buNone/>
            </a:pPr>
            <a:r>
              <a:rPr lang="en-US" sz="1300" dirty="0">
                <a:solidFill>
                  <a:schemeClr val="bg2"/>
                </a:solidFill>
              </a:rPr>
              <a:t>Environnement OK pour tous. Courbe CompressAI contre JPEG</a:t>
            </a:r>
            <a:endParaRPr lang="en-US" sz="1300" dirty="0"/>
          </a:p>
        </p:txBody>
      </p:sp>
      <p:sp>
        <p:nvSpPr>
          <p:cNvPr id="11" name="embarqué J1 · 25 oct."/>
          <p:cNvSpPr/>
          <p:nvPr/>
        </p:nvSpPr>
        <p:spPr>
          <a:xfrm>
            <a:off x="1874520" y="4023360"/>
            <a:ext cx="1828800" cy="1463040"/>
          </a:xfrm>
          <a:prstGeom prst="roundRect">
            <a:avLst>
              <a:gd name="adj" fmla="val 7500"/>
            </a:avLst>
          </a:prstGeom>
          <a:solidFill>
            <a:schemeClr val="tx2"/>
          </a:solidFill>
          <a:ln w="19050">
            <a:solidFill>
              <a:schemeClr val="accent2"/>
            </a:solidFill>
            <a:prstDash val="solid"/>
          </a:ln>
        </p:spPr>
      </p:sp>
      <p:sp>
        <p:nvSpPr>
          <p:cNvPr id="12" name="Text 10"/>
          <p:cNvSpPr txBox="1"/>
          <p:nvPr/>
        </p:nvSpPr>
        <p:spPr>
          <a:xfrm>
            <a:off x="2011680" y="4142232"/>
            <a:ext cx="1554480" cy="1280160"/>
          </a:xfrm>
          <a:prstGeom prst="rect">
            <a:avLst/>
          </a:prstGeom>
          <a:noFill/>
          <a:ln/>
        </p:spPr>
        <p:txBody>
          <a:bodyPr wrap="square" lIns="0" tIns="0" rIns="0" bIns="0" rtlCol="0" anchor="t"/>
          <a:lstStyle/>
          <a:p>
            <a:pPr indent="0" marL="0">
              <a:buNone/>
            </a:pPr>
            <a:r>
              <a:rPr lang="en-US" sz="1300" dirty="0">
                <a:solidFill>
                  <a:schemeClr val="bg2"/>
                </a:solidFill>
              </a:rPr>
              <a:t>Aidge : un petit réseau → code C → exécuté sur PC</a:t>
            </a:r>
            <a:endParaRPr lang="en-US" sz="1300" dirty="0"/>
          </a:p>
        </p:txBody>
      </p:sp>
      <p:sp>
        <p:nvSpPr>
          <p:cNvPr id="13" name="jalon J2 · 15 nov."/>
          <p:cNvSpPr/>
          <p:nvPr/>
        </p:nvSpPr>
        <p:spPr>
          <a:xfrm>
            <a:off x="4654296" y="1911096"/>
            <a:ext cx="201168" cy="201168"/>
          </a:xfrm>
          <a:prstGeom prst="ellipse">
            <a:avLst/>
          </a:prstGeom>
          <a:solidFill>
            <a:schemeClr val="accent4"/>
          </a:solidFill>
          <a:ln w="25400">
            <a:solidFill>
              <a:schemeClr val="tx1"/>
            </a:solidFill>
            <a:prstDash val="solid"/>
          </a:ln>
        </p:spPr>
      </p:sp>
      <p:sp>
        <p:nvSpPr>
          <p:cNvPr id="14" name="Text 12"/>
          <p:cNvSpPr txBox="1"/>
          <p:nvPr/>
        </p:nvSpPr>
        <p:spPr>
          <a:xfrm>
            <a:off x="3840480" y="1572768"/>
            <a:ext cx="1828800" cy="292608"/>
          </a:xfrm>
          <a:prstGeom prst="rect">
            <a:avLst/>
          </a:prstGeom>
          <a:noFill/>
          <a:ln/>
        </p:spPr>
        <p:txBody>
          <a:bodyPr wrap="square" lIns="0" tIns="0" rIns="0" bIns="0" rtlCol="0" anchor="t"/>
          <a:lstStyle/>
          <a:p>
            <a:pPr algn="ctr" indent="0" marL="0">
              <a:buNone/>
            </a:pPr>
            <a:r>
              <a:rPr lang="en-US" sz="1500" b="1" dirty="0">
                <a:solidFill>
                  <a:schemeClr val="bg1"/>
                </a:solidFill>
                <a:latin typeface="Arial" pitchFamily="34" charset="0"/>
                <a:ea typeface="Arial" pitchFamily="34" charset="-122"/>
                <a:cs typeface="Arial" pitchFamily="34" charset="-120"/>
              </a:rPr>
              <a:t>J2 · 15 nov.</a:t>
            </a:r>
            <a:endParaRPr lang="en-US" sz="1500" dirty="0"/>
          </a:p>
        </p:txBody>
      </p:sp>
      <p:sp>
        <p:nvSpPr>
          <p:cNvPr id="15" name="modèle J2 · 15 nov."/>
          <p:cNvSpPr/>
          <p:nvPr/>
        </p:nvSpPr>
        <p:spPr>
          <a:xfrm>
            <a:off x="3840480" y="2331720"/>
            <a:ext cx="1828800" cy="1463040"/>
          </a:xfrm>
          <a:prstGeom prst="roundRect">
            <a:avLst>
              <a:gd name="adj" fmla="val 7500"/>
            </a:avLst>
          </a:prstGeom>
          <a:solidFill>
            <a:schemeClr val="tx2"/>
          </a:solidFill>
          <a:ln w="19050">
            <a:solidFill>
              <a:schemeClr val="accent1"/>
            </a:solidFill>
            <a:prstDash val="solid"/>
          </a:ln>
        </p:spPr>
      </p:sp>
      <p:sp>
        <p:nvSpPr>
          <p:cNvPr id="16" name="Text 14"/>
          <p:cNvSpPr txBox="1"/>
          <p:nvPr/>
        </p:nvSpPr>
        <p:spPr>
          <a:xfrm>
            <a:off x="3977640" y="2450592"/>
            <a:ext cx="1554480" cy="1280160"/>
          </a:xfrm>
          <a:prstGeom prst="rect">
            <a:avLst/>
          </a:prstGeom>
          <a:noFill/>
          <a:ln/>
        </p:spPr>
        <p:txBody>
          <a:bodyPr wrap="square" lIns="0" tIns="0" rIns="0" bIns="0" rtlCol="0" anchor="t"/>
          <a:lstStyle/>
          <a:p>
            <a:pPr indent="0" marL="0">
              <a:buNone/>
            </a:pPr>
            <a:r>
              <a:rPr lang="en-US" sz="1300" dirty="0">
                <a:solidFill>
                  <a:schemeClr val="bg2"/>
                </a:solidFill>
              </a:rPr>
              <a:t>Modèle v1 entraîné, exporté en ONNX avec ses vecteurs de test</a:t>
            </a:r>
            <a:endParaRPr lang="en-US" sz="1300" dirty="0"/>
          </a:p>
        </p:txBody>
      </p:sp>
      <p:sp>
        <p:nvSpPr>
          <p:cNvPr id="17" name="embarqué J2 · 15 nov."/>
          <p:cNvSpPr/>
          <p:nvPr/>
        </p:nvSpPr>
        <p:spPr>
          <a:xfrm>
            <a:off x="3840480" y="4023360"/>
            <a:ext cx="1828800" cy="1463040"/>
          </a:xfrm>
          <a:prstGeom prst="roundRect">
            <a:avLst>
              <a:gd name="adj" fmla="val 7500"/>
            </a:avLst>
          </a:prstGeom>
          <a:solidFill>
            <a:schemeClr val="tx2"/>
          </a:solidFill>
          <a:ln w="19050">
            <a:solidFill>
              <a:schemeClr val="accent2"/>
            </a:solidFill>
            <a:prstDash val="solid"/>
          </a:ln>
        </p:spPr>
      </p:sp>
      <p:sp>
        <p:nvSpPr>
          <p:cNvPr id="18" name="Text 16"/>
          <p:cNvSpPr txBox="1"/>
          <p:nvPr/>
        </p:nvSpPr>
        <p:spPr>
          <a:xfrm>
            <a:off x="3977640" y="4142232"/>
            <a:ext cx="1554480" cy="1280160"/>
          </a:xfrm>
          <a:prstGeom prst="rect">
            <a:avLst/>
          </a:prstGeom>
          <a:noFill/>
          <a:ln/>
        </p:spPr>
        <p:txBody>
          <a:bodyPr wrap="square" lIns="0" tIns="0" rIns="0" bIns="0" rtlCol="0" anchor="t"/>
          <a:lstStyle/>
          <a:p>
            <a:pPr indent="0" marL="0">
              <a:buNone/>
            </a:pPr>
            <a:r>
              <a:rPr lang="en-US" sz="1300" dirty="0">
                <a:solidFill>
                  <a:schemeClr val="bg2"/>
                </a:solidFill>
              </a:rPr>
              <a:t>Encodeur v1 en C, validé sur PC</a:t>
            </a:r>
            <a:endParaRPr lang="en-US" sz="1300" dirty="0"/>
          </a:p>
        </p:txBody>
      </p:sp>
      <p:sp>
        <p:nvSpPr>
          <p:cNvPr id="19" name="jalon J3 · 6 déc."/>
          <p:cNvSpPr/>
          <p:nvPr/>
        </p:nvSpPr>
        <p:spPr>
          <a:xfrm>
            <a:off x="6620256" y="1911096"/>
            <a:ext cx="201168" cy="201168"/>
          </a:xfrm>
          <a:prstGeom prst="ellipse">
            <a:avLst/>
          </a:prstGeom>
          <a:solidFill>
            <a:schemeClr val="accent4"/>
          </a:solidFill>
          <a:ln w="25400">
            <a:solidFill>
              <a:schemeClr val="tx1"/>
            </a:solidFill>
            <a:prstDash val="solid"/>
          </a:ln>
        </p:spPr>
      </p:sp>
      <p:sp>
        <p:nvSpPr>
          <p:cNvPr id="20" name="Text 18"/>
          <p:cNvSpPr txBox="1"/>
          <p:nvPr/>
        </p:nvSpPr>
        <p:spPr>
          <a:xfrm>
            <a:off x="5806440" y="1572768"/>
            <a:ext cx="1828800" cy="292608"/>
          </a:xfrm>
          <a:prstGeom prst="rect">
            <a:avLst/>
          </a:prstGeom>
          <a:noFill/>
          <a:ln/>
        </p:spPr>
        <p:txBody>
          <a:bodyPr wrap="square" lIns="0" tIns="0" rIns="0" bIns="0" rtlCol="0" anchor="t"/>
          <a:lstStyle/>
          <a:p>
            <a:pPr algn="ctr" indent="0" marL="0">
              <a:buNone/>
            </a:pPr>
            <a:r>
              <a:rPr lang="en-US" sz="1500" b="1" dirty="0">
                <a:solidFill>
                  <a:schemeClr val="bg1"/>
                </a:solidFill>
                <a:latin typeface="Arial" pitchFamily="34" charset="0"/>
                <a:ea typeface="Arial" pitchFamily="34" charset="-122"/>
                <a:cs typeface="Arial" pitchFamily="34" charset="-120"/>
              </a:rPr>
              <a:t>J3 · 6 déc.</a:t>
            </a:r>
            <a:endParaRPr lang="en-US" sz="1500" dirty="0"/>
          </a:p>
        </p:txBody>
      </p:sp>
      <p:sp>
        <p:nvSpPr>
          <p:cNvPr id="21" name="modèle J3 · 6 déc."/>
          <p:cNvSpPr/>
          <p:nvPr/>
        </p:nvSpPr>
        <p:spPr>
          <a:xfrm>
            <a:off x="5806440" y="2331720"/>
            <a:ext cx="1828800" cy="1463040"/>
          </a:xfrm>
          <a:prstGeom prst="roundRect">
            <a:avLst>
              <a:gd name="adj" fmla="val 7500"/>
            </a:avLst>
          </a:prstGeom>
          <a:solidFill>
            <a:schemeClr val="tx2"/>
          </a:solidFill>
          <a:ln w="19050">
            <a:solidFill>
              <a:schemeClr val="accent1"/>
            </a:solidFill>
            <a:prstDash val="solid"/>
          </a:ln>
        </p:spPr>
      </p:sp>
      <p:sp>
        <p:nvSpPr>
          <p:cNvPr id="22" name="Text 20"/>
          <p:cNvSpPr txBox="1"/>
          <p:nvPr/>
        </p:nvSpPr>
        <p:spPr>
          <a:xfrm>
            <a:off x="5943600" y="2450592"/>
            <a:ext cx="1554480" cy="1280160"/>
          </a:xfrm>
          <a:prstGeom prst="rect">
            <a:avLst/>
          </a:prstGeom>
          <a:noFill/>
          <a:ln/>
        </p:spPr>
        <p:txBody>
          <a:bodyPr wrap="square" lIns="0" tIns="0" rIns="0" bIns="0" rtlCol="0" anchor="t"/>
          <a:lstStyle/>
          <a:p>
            <a:pPr indent="0" marL="0">
              <a:buNone/>
            </a:pPr>
            <a:r>
              <a:rPr lang="en-US" sz="1300" dirty="0">
                <a:solidFill>
                  <a:schemeClr val="bg2"/>
                </a:solidFill>
              </a:rPr>
              <a:t>Modèle réduit et INT8, courbe débit / qualité</a:t>
            </a:r>
            <a:endParaRPr lang="en-US" sz="1300" dirty="0"/>
          </a:p>
        </p:txBody>
      </p:sp>
      <p:sp>
        <p:nvSpPr>
          <p:cNvPr id="23" name="embarqué J3 · 6 déc."/>
          <p:cNvSpPr/>
          <p:nvPr/>
        </p:nvSpPr>
        <p:spPr>
          <a:xfrm>
            <a:off x="5806440" y="4023360"/>
            <a:ext cx="1828800" cy="1463040"/>
          </a:xfrm>
          <a:prstGeom prst="roundRect">
            <a:avLst>
              <a:gd name="adj" fmla="val 7500"/>
            </a:avLst>
          </a:prstGeom>
          <a:solidFill>
            <a:schemeClr val="tx2"/>
          </a:solidFill>
          <a:ln w="19050">
            <a:solidFill>
              <a:schemeClr val="accent2"/>
            </a:solidFill>
            <a:prstDash val="solid"/>
          </a:ln>
        </p:spPr>
      </p:sp>
      <p:sp>
        <p:nvSpPr>
          <p:cNvPr id="24" name="Text 22"/>
          <p:cNvSpPr txBox="1"/>
          <p:nvPr/>
        </p:nvSpPr>
        <p:spPr>
          <a:xfrm>
            <a:off x="5943600" y="4142232"/>
            <a:ext cx="1554480" cy="1280160"/>
          </a:xfrm>
          <a:prstGeom prst="rect">
            <a:avLst/>
          </a:prstGeom>
          <a:noFill/>
          <a:ln/>
        </p:spPr>
        <p:txBody>
          <a:bodyPr wrap="square" lIns="0" tIns="0" rIns="0" bIns="0" rtlCol="0" anchor="t"/>
          <a:lstStyle/>
          <a:p>
            <a:pPr indent="0" marL="0">
              <a:buNone/>
            </a:pPr>
            <a:r>
              <a:rPr lang="en-US" sz="1300" dirty="0">
                <a:solidFill>
                  <a:schemeClr val="bg2"/>
                </a:solidFill>
              </a:rPr>
              <a:t>Encodeur sur l'ARM avec mesures. 1re conv sur FPGA</a:t>
            </a:r>
            <a:endParaRPr lang="en-US" sz="1300" dirty="0"/>
          </a:p>
        </p:txBody>
      </p:sp>
      <p:sp>
        <p:nvSpPr>
          <p:cNvPr id="25" name="jalon J4 · 20 déc."/>
          <p:cNvSpPr/>
          <p:nvPr/>
        </p:nvSpPr>
        <p:spPr>
          <a:xfrm>
            <a:off x="8586216" y="1911096"/>
            <a:ext cx="201168" cy="201168"/>
          </a:xfrm>
          <a:prstGeom prst="ellipse">
            <a:avLst/>
          </a:prstGeom>
          <a:solidFill>
            <a:schemeClr val="accent4"/>
          </a:solidFill>
          <a:ln w="25400">
            <a:solidFill>
              <a:schemeClr val="tx1"/>
            </a:solidFill>
            <a:prstDash val="solid"/>
          </a:ln>
        </p:spPr>
      </p:sp>
      <p:sp>
        <p:nvSpPr>
          <p:cNvPr id="26" name="Text 24"/>
          <p:cNvSpPr txBox="1"/>
          <p:nvPr/>
        </p:nvSpPr>
        <p:spPr>
          <a:xfrm>
            <a:off x="7772400" y="1572768"/>
            <a:ext cx="1828800" cy="292608"/>
          </a:xfrm>
          <a:prstGeom prst="rect">
            <a:avLst/>
          </a:prstGeom>
          <a:noFill/>
          <a:ln/>
        </p:spPr>
        <p:txBody>
          <a:bodyPr wrap="square" lIns="0" tIns="0" rIns="0" bIns="0" rtlCol="0" anchor="t"/>
          <a:lstStyle/>
          <a:p>
            <a:pPr algn="ctr" indent="0" marL="0">
              <a:buNone/>
            </a:pPr>
            <a:r>
              <a:rPr lang="en-US" sz="1500" b="1" dirty="0">
                <a:solidFill>
                  <a:schemeClr val="bg1"/>
                </a:solidFill>
                <a:latin typeface="Arial" pitchFamily="34" charset="0"/>
                <a:ea typeface="Arial" pitchFamily="34" charset="-122"/>
                <a:cs typeface="Arial" pitchFamily="34" charset="-120"/>
              </a:rPr>
              <a:t>J4 · 20 déc.</a:t>
            </a:r>
            <a:endParaRPr lang="en-US" sz="1500" dirty="0"/>
          </a:p>
        </p:txBody>
      </p:sp>
      <p:sp>
        <p:nvSpPr>
          <p:cNvPr id="27" name="modèle J4 · 20 déc."/>
          <p:cNvSpPr/>
          <p:nvPr/>
        </p:nvSpPr>
        <p:spPr>
          <a:xfrm>
            <a:off x="7772400" y="2331720"/>
            <a:ext cx="1828800" cy="1463040"/>
          </a:xfrm>
          <a:prstGeom prst="roundRect">
            <a:avLst>
              <a:gd name="adj" fmla="val 7500"/>
            </a:avLst>
          </a:prstGeom>
          <a:solidFill>
            <a:schemeClr val="tx2"/>
          </a:solidFill>
          <a:ln w="19050">
            <a:solidFill>
              <a:schemeClr val="accent1"/>
            </a:solidFill>
            <a:prstDash val="solid"/>
          </a:ln>
        </p:spPr>
      </p:sp>
      <p:sp>
        <p:nvSpPr>
          <p:cNvPr id="28" name="Text 26"/>
          <p:cNvSpPr txBox="1"/>
          <p:nvPr/>
        </p:nvSpPr>
        <p:spPr>
          <a:xfrm>
            <a:off x="7909560" y="2450592"/>
            <a:ext cx="1554480" cy="1280160"/>
          </a:xfrm>
          <a:prstGeom prst="rect">
            <a:avLst/>
          </a:prstGeom>
          <a:noFill/>
          <a:ln/>
        </p:spPr>
        <p:txBody>
          <a:bodyPr wrap="square" lIns="0" tIns="0" rIns="0" bIns="0" rtlCol="0" anchor="t"/>
          <a:lstStyle/>
          <a:p>
            <a:pPr indent="0" marL="0">
              <a:buNone/>
            </a:pPr>
            <a:r>
              <a:rPr lang="en-US" sz="1300" dirty="0">
                <a:solidFill>
                  <a:schemeClr val="bg2"/>
                </a:solidFill>
              </a:rPr>
              <a:t>Choix du modèle final</a:t>
            </a:r>
            <a:endParaRPr lang="en-US" sz="1300" dirty="0"/>
          </a:p>
        </p:txBody>
      </p:sp>
      <p:sp>
        <p:nvSpPr>
          <p:cNvPr id="29" name="embarqué J4 · 20 déc."/>
          <p:cNvSpPr/>
          <p:nvPr/>
        </p:nvSpPr>
        <p:spPr>
          <a:xfrm>
            <a:off x="7772400" y="4023360"/>
            <a:ext cx="1828800" cy="1463040"/>
          </a:xfrm>
          <a:prstGeom prst="roundRect">
            <a:avLst>
              <a:gd name="adj" fmla="val 7500"/>
            </a:avLst>
          </a:prstGeom>
          <a:solidFill>
            <a:schemeClr val="tx2"/>
          </a:solidFill>
          <a:ln w="19050">
            <a:solidFill>
              <a:schemeClr val="accent2"/>
            </a:solidFill>
            <a:prstDash val="solid"/>
          </a:ln>
        </p:spPr>
      </p:sp>
      <p:sp>
        <p:nvSpPr>
          <p:cNvPr id="30" name="Text 28"/>
          <p:cNvSpPr txBox="1"/>
          <p:nvPr/>
        </p:nvSpPr>
        <p:spPr>
          <a:xfrm>
            <a:off x="7909560" y="4142232"/>
            <a:ext cx="1554480" cy="1280160"/>
          </a:xfrm>
          <a:prstGeom prst="rect">
            <a:avLst/>
          </a:prstGeom>
          <a:noFill/>
          <a:ln/>
        </p:spPr>
        <p:txBody>
          <a:bodyPr wrap="square" lIns="0" tIns="0" rIns="0" bIns="0" rtlCol="0" anchor="t"/>
          <a:lstStyle/>
          <a:p>
            <a:pPr indent="0" marL="0">
              <a:buNone/>
            </a:pPr>
            <a:r>
              <a:rPr lang="en-US" sz="1300" dirty="0">
                <a:solidFill>
                  <a:schemeClr val="bg2"/>
                </a:solidFill>
              </a:rPr>
              <a:t>Version optimisée PS + PL, mesures finales</a:t>
            </a:r>
            <a:endParaRPr lang="en-US" sz="1300" dirty="0"/>
          </a:p>
        </p:txBody>
      </p:sp>
      <p:sp>
        <p:nvSpPr>
          <p:cNvPr id="31" name="jalon rendu"/>
          <p:cNvSpPr/>
          <p:nvPr/>
        </p:nvSpPr>
        <p:spPr>
          <a:xfrm>
            <a:off x="10524744" y="1883664"/>
            <a:ext cx="256032" cy="256032"/>
          </a:xfrm>
          <a:prstGeom prst="ellipse">
            <a:avLst/>
          </a:prstGeom>
          <a:solidFill>
            <a:schemeClr val="accent5"/>
          </a:solidFill>
          <a:ln w="25400">
            <a:solidFill>
              <a:schemeClr val="tx1"/>
            </a:solidFill>
            <a:prstDash val="solid"/>
          </a:ln>
        </p:spPr>
      </p:sp>
      <p:sp>
        <p:nvSpPr>
          <p:cNvPr id="32" name="Text 30"/>
          <p:cNvSpPr txBox="1"/>
          <p:nvPr/>
        </p:nvSpPr>
        <p:spPr>
          <a:xfrm>
            <a:off x="9646920" y="1572768"/>
            <a:ext cx="2011680" cy="292608"/>
          </a:xfrm>
          <a:prstGeom prst="rect">
            <a:avLst/>
          </a:prstGeom>
          <a:noFill/>
          <a:ln/>
        </p:spPr>
        <p:txBody>
          <a:bodyPr wrap="square" lIns="0" tIns="0" rIns="0" bIns="0" rtlCol="0" anchor="t"/>
          <a:lstStyle/>
          <a:p>
            <a:pPr algn="ctr" indent="0" marL="0">
              <a:buNone/>
            </a:pPr>
            <a:r>
              <a:rPr lang="en-US" sz="1500" b="1" dirty="0">
                <a:solidFill>
                  <a:schemeClr val="accent5"/>
                </a:solidFill>
                <a:latin typeface="Arial" pitchFamily="34" charset="0"/>
                <a:ea typeface="Arial" pitchFamily="34" charset="-122"/>
                <a:cs typeface="Arial" pitchFamily="34" charset="-120"/>
              </a:rPr>
              <a:t>Rendu · 31 déc.</a:t>
            </a:r>
            <a:endParaRPr lang="en-US" sz="1500" dirty="0"/>
          </a:p>
        </p:txBody>
      </p:sp>
      <p:sp>
        <p:nvSpPr>
          <p:cNvPr id="33" name="rendu"/>
          <p:cNvSpPr/>
          <p:nvPr/>
        </p:nvSpPr>
        <p:spPr>
          <a:xfrm>
            <a:off x="9738360" y="2331720"/>
            <a:ext cx="1828800" cy="3154680"/>
          </a:xfrm>
          <a:prstGeom prst="roundRect">
            <a:avLst>
              <a:gd name="adj" fmla="val 6000"/>
            </a:avLst>
          </a:prstGeom>
          <a:solidFill>
            <a:schemeClr val="tx2"/>
          </a:solidFill>
          <a:ln w="19050">
            <a:solidFill>
              <a:schemeClr val="accent5"/>
            </a:solidFill>
            <a:prstDash val="solid"/>
          </a:ln>
        </p:spPr>
      </p:sp>
      <p:sp>
        <p:nvSpPr>
          <p:cNvPr id="34" name="pastille FaFlagCheckered"/>
          <p:cNvSpPr/>
          <p:nvPr/>
        </p:nvSpPr>
        <p:spPr>
          <a:xfrm>
            <a:off x="10378440" y="2606040"/>
            <a:ext cx="548640" cy="548640"/>
          </a:xfrm>
          <a:prstGeom prst="ellipse">
            <a:avLst/>
          </a:prstGeom>
          <a:solidFill>
            <a:schemeClr val="accent5"/>
          </a:solidFill>
          <a:ln w="12700">
            <a:solidFill>
              <a:schemeClr val="accent5"/>
            </a:solidFill>
            <a:prstDash val="solid"/>
          </a:ln>
        </p:spPr>
      </p:sp>
      <p:pic>
        <p:nvPicPr>
          <p:cNvPr id="35" name="icône FaFlagCheckered" descr="preencoded.png">    </p:cNvPr>
          <p:cNvPicPr>
            <a:picLocks noChangeAspect="1"/>
          </p:cNvPicPr>
          <p:nvPr/>
        </p:nvPicPr>
        <p:blipFill>
          <a:blip r:embed="rId1"/>
          <a:stretch>
            <a:fillRect/>
          </a:stretch>
        </p:blipFill>
        <p:spPr>
          <a:xfrm>
            <a:off x="10510114" y="2737714"/>
            <a:ext cx="285293" cy="285293"/>
          </a:xfrm>
          <a:prstGeom prst="rect">
            <a:avLst/>
          </a:prstGeom>
        </p:spPr>
      </p:pic>
      <p:sp>
        <p:nvSpPr>
          <p:cNvPr id="36" name="Text 33"/>
          <p:cNvSpPr txBox="1"/>
          <p:nvPr/>
        </p:nvSpPr>
        <p:spPr>
          <a:xfrm>
            <a:off x="9875520" y="3383280"/>
            <a:ext cx="1554480" cy="1280160"/>
          </a:xfrm>
          <a:prstGeom prst="rect">
            <a:avLst/>
          </a:prstGeom>
          <a:noFill/>
          <a:ln/>
        </p:spPr>
        <p:txBody>
          <a:bodyPr wrap="square" lIns="0" tIns="0" rIns="0" bIns="0" rtlCol="0" anchor="t"/>
          <a:lstStyle/>
          <a:p>
            <a:pPr algn="ctr" indent="0" marL="0">
              <a:buNone/>
            </a:pPr>
            <a:r>
              <a:rPr lang="en-US" sz="1400" b="1" dirty="0">
                <a:solidFill>
                  <a:schemeClr val="bg1"/>
                </a:solidFill>
              </a:rPr>
              <a:t>Vidéo, présentation et code propre sur main</a:t>
            </a:r>
            <a:endParaRPr lang="en-US" sz="1400" dirty="0"/>
          </a:p>
        </p:txBody>
      </p:sp>
      <p:sp>
        <p:nvSpPr>
          <p:cNvPr id="37" name="Text 34"/>
          <p:cNvSpPr txBox="1"/>
          <p:nvPr/>
        </p:nvSpPr>
        <p:spPr>
          <a:xfrm>
            <a:off x="548640" y="5715000"/>
            <a:ext cx="11091672" cy="548640"/>
          </a:xfrm>
          <a:prstGeom prst="rect">
            <a:avLst/>
          </a:prstGeom>
          <a:noFill/>
          <a:ln/>
        </p:spPr>
        <p:txBody>
          <a:bodyPr wrap="square" lIns="0" tIns="0" rIns="0" bIns="0" rtlCol="0" anchor="t"/>
          <a:lstStyle/>
          <a:p>
            <a:pPr indent="0" marL="0">
              <a:buNone/>
            </a:pPr>
            <a:r>
              <a:rPr lang="en-US" sz="1400" b="1" dirty="0">
                <a:solidFill>
                  <a:schemeClr val="accent4"/>
                </a:solidFill>
              </a:rPr>
              <a:t>Rendez-vous fixes : </a:t>
            </a:r>
            <a:pPr indent="0" marL="0">
              <a:buNone/>
            </a:pPr>
            <a:r>
              <a:rPr lang="en-US" sz="1400" dirty="0">
                <a:solidFill>
                  <a:schemeClr val="bg2"/>
                </a:solidFill>
              </a:rPr>
              <a:t>Q&amp;R Aidge les jeudis 15 oct. et 5 nov. à 14 h, réunion Viveris chaque jeudi à 14 h. Dès que la carte arrive, l'étape B bascule dessus.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hip ORGANISATION"/>
          <p:cNvSpPr/>
          <p:nvPr/>
        </p:nvSpPr>
        <p:spPr>
          <a:xfrm>
            <a:off x="548640" y="329184"/>
            <a:ext cx="1512052"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ORGANISATION</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Deux sous-équipes, un rendez-vous par semaine</a:t>
            </a:r>
            <a:endParaRPr lang="en-US" sz="3000" dirty="0"/>
          </a:p>
        </p:txBody>
      </p:sp>
      <p:sp>
        <p:nvSpPr>
          <p:cNvPr id="4" name="Sous-équipe Modèle"/>
          <p:cNvSpPr/>
          <p:nvPr/>
        </p:nvSpPr>
        <p:spPr>
          <a:xfrm>
            <a:off x="548640" y="1645920"/>
            <a:ext cx="3291840" cy="2057400"/>
          </a:xfrm>
          <a:prstGeom prst="roundRect">
            <a:avLst>
              <a:gd name="adj" fmla="val 5333"/>
            </a:avLst>
          </a:prstGeom>
          <a:solidFill>
            <a:schemeClr val="tx2"/>
          </a:solidFill>
          <a:ln w="19050">
            <a:solidFill>
              <a:schemeClr val="accent1"/>
            </a:solidFill>
            <a:prstDash val="solid"/>
          </a:ln>
        </p:spPr>
      </p:sp>
      <p:sp>
        <p:nvSpPr>
          <p:cNvPr id="5" name="pastille FaBrain"/>
          <p:cNvSpPr/>
          <p:nvPr/>
        </p:nvSpPr>
        <p:spPr>
          <a:xfrm>
            <a:off x="777240" y="1874520"/>
            <a:ext cx="457200" cy="457200"/>
          </a:xfrm>
          <a:prstGeom prst="ellipse">
            <a:avLst/>
          </a:prstGeom>
          <a:solidFill>
            <a:schemeClr val="accent1"/>
          </a:solidFill>
          <a:ln w="12700">
            <a:solidFill>
              <a:schemeClr val="accent1"/>
            </a:solidFill>
            <a:prstDash val="solid"/>
          </a:ln>
        </p:spPr>
      </p:sp>
      <p:pic>
        <p:nvPicPr>
          <p:cNvPr id="6" name="icône FaBrain" descr="preencoded.png">    </p:cNvPr>
          <p:cNvPicPr>
            <a:picLocks noChangeAspect="1"/>
          </p:cNvPicPr>
          <p:nvPr/>
        </p:nvPicPr>
        <p:blipFill>
          <a:blip r:embed="rId1"/>
          <a:stretch>
            <a:fillRect/>
          </a:stretch>
        </p:blipFill>
        <p:spPr>
          <a:xfrm>
            <a:off x="886968" y="1984248"/>
            <a:ext cx="237744" cy="237744"/>
          </a:xfrm>
          <a:prstGeom prst="rect">
            <a:avLst/>
          </a:prstGeom>
        </p:spPr>
      </p:pic>
      <p:sp>
        <p:nvSpPr>
          <p:cNvPr id="7" name="Text 4"/>
          <p:cNvSpPr txBox="1"/>
          <p:nvPr/>
        </p:nvSpPr>
        <p:spPr>
          <a:xfrm>
            <a:off x="1371600" y="1874520"/>
            <a:ext cx="2331720" cy="4572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Sous-équipe Modèle</a:t>
            </a:r>
            <a:endParaRPr lang="en-US" sz="1600" dirty="0"/>
          </a:p>
        </p:txBody>
      </p:sp>
      <p:sp>
        <p:nvSpPr>
          <p:cNvPr id="8" name="Text 5"/>
          <p:cNvSpPr txBox="1"/>
          <p:nvPr/>
        </p:nvSpPr>
        <p:spPr>
          <a:xfrm>
            <a:off x="777240" y="2514600"/>
            <a:ext cx="2880360" cy="640080"/>
          </a:xfrm>
          <a:prstGeom prst="rect">
            <a:avLst/>
          </a:prstGeom>
          <a:noFill/>
          <a:ln/>
        </p:spPr>
        <p:txBody>
          <a:bodyPr wrap="square" lIns="0" tIns="0" rIns="0" bIns="0" rtlCol="0" anchor="t"/>
          <a:lstStyle/>
          <a:p>
            <a:pPr indent="0" marL="0">
              <a:buNone/>
            </a:pPr>
            <a:r>
              <a:rPr lang="en-US" sz="1400" dirty="0">
                <a:solidFill>
                  <a:schemeClr val="bg2"/>
                </a:solidFill>
              </a:rPr>
              <a:t>Entraîne, optimise et livre l'ONNX.</a:t>
            </a:r>
            <a:endParaRPr lang="en-US" sz="1400" dirty="0"/>
          </a:p>
        </p:txBody>
      </p:sp>
      <p:sp>
        <p:nvSpPr>
          <p:cNvPr id="9" name="Text 6"/>
          <p:cNvSpPr txBox="1"/>
          <p:nvPr/>
        </p:nvSpPr>
        <p:spPr>
          <a:xfrm>
            <a:off x="777240" y="3200400"/>
            <a:ext cx="2880360" cy="320040"/>
          </a:xfrm>
          <a:prstGeom prst="rect">
            <a:avLst/>
          </a:prstGeom>
          <a:noFill/>
          <a:ln/>
        </p:spPr>
        <p:txBody>
          <a:bodyPr wrap="square" lIns="0" tIns="0" rIns="0" bIns="0" rtlCol="0" anchor="t"/>
          <a:lstStyle/>
          <a:p>
            <a:pPr indent="0" marL="0">
              <a:buNone/>
            </a:pPr>
            <a:r>
              <a:rPr lang="en-US" sz="1300" i="1" dirty="0">
                <a:solidFill>
                  <a:schemeClr val="accent6"/>
                </a:solidFill>
              </a:rPr>
              <a:t>Qui : on décide ensemble</a:t>
            </a:r>
            <a:endParaRPr lang="en-US" sz="1300" dirty="0"/>
          </a:p>
        </p:txBody>
      </p:sp>
      <p:sp>
        <p:nvSpPr>
          <p:cNvPr id="10" name="Sous-équipe Embarqué"/>
          <p:cNvSpPr/>
          <p:nvPr/>
        </p:nvSpPr>
        <p:spPr>
          <a:xfrm>
            <a:off x="4050792" y="1645920"/>
            <a:ext cx="3291840" cy="2057400"/>
          </a:xfrm>
          <a:prstGeom prst="roundRect">
            <a:avLst>
              <a:gd name="adj" fmla="val 5333"/>
            </a:avLst>
          </a:prstGeom>
          <a:solidFill>
            <a:schemeClr val="tx2"/>
          </a:solidFill>
          <a:ln w="19050">
            <a:solidFill>
              <a:schemeClr val="accent2"/>
            </a:solidFill>
            <a:prstDash val="solid"/>
          </a:ln>
        </p:spPr>
      </p:sp>
      <p:sp>
        <p:nvSpPr>
          <p:cNvPr id="11" name="pastille FaMicrochip"/>
          <p:cNvSpPr/>
          <p:nvPr/>
        </p:nvSpPr>
        <p:spPr>
          <a:xfrm>
            <a:off x="4279392" y="1874520"/>
            <a:ext cx="457200" cy="457200"/>
          </a:xfrm>
          <a:prstGeom prst="ellipse">
            <a:avLst/>
          </a:prstGeom>
          <a:solidFill>
            <a:schemeClr val="accent2"/>
          </a:solidFill>
          <a:ln w="12700">
            <a:solidFill>
              <a:schemeClr val="accent2"/>
            </a:solidFill>
            <a:prstDash val="solid"/>
          </a:ln>
        </p:spPr>
      </p:sp>
      <p:pic>
        <p:nvPicPr>
          <p:cNvPr id="12" name="icône FaMicrochip" descr="preencoded.png">    </p:cNvPr>
          <p:cNvPicPr>
            <a:picLocks noChangeAspect="1"/>
          </p:cNvPicPr>
          <p:nvPr/>
        </p:nvPicPr>
        <p:blipFill>
          <a:blip r:embed="rId2"/>
          <a:stretch>
            <a:fillRect/>
          </a:stretch>
        </p:blipFill>
        <p:spPr>
          <a:xfrm>
            <a:off x="4389120" y="1984248"/>
            <a:ext cx="237744" cy="237744"/>
          </a:xfrm>
          <a:prstGeom prst="rect">
            <a:avLst/>
          </a:prstGeom>
        </p:spPr>
      </p:pic>
      <p:sp>
        <p:nvSpPr>
          <p:cNvPr id="13" name="Text 9"/>
          <p:cNvSpPr txBox="1"/>
          <p:nvPr/>
        </p:nvSpPr>
        <p:spPr>
          <a:xfrm>
            <a:off x="4873752" y="1874520"/>
            <a:ext cx="2331720" cy="4572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Sous-équipe Embarqué</a:t>
            </a:r>
            <a:endParaRPr lang="en-US" sz="1600" dirty="0"/>
          </a:p>
        </p:txBody>
      </p:sp>
      <p:sp>
        <p:nvSpPr>
          <p:cNvPr id="14" name="Text 10"/>
          <p:cNvSpPr txBox="1"/>
          <p:nvPr/>
        </p:nvSpPr>
        <p:spPr>
          <a:xfrm>
            <a:off x="4279392" y="2514600"/>
            <a:ext cx="2880360" cy="640080"/>
          </a:xfrm>
          <a:prstGeom prst="rect">
            <a:avLst/>
          </a:prstGeom>
          <a:noFill/>
          <a:ln/>
        </p:spPr>
        <p:txBody>
          <a:bodyPr wrap="square" lIns="0" tIns="0" rIns="0" bIns="0" rtlCol="0" anchor="t"/>
          <a:lstStyle/>
          <a:p>
            <a:pPr indent="0" marL="0">
              <a:buNone/>
            </a:pPr>
            <a:r>
              <a:rPr lang="en-US" sz="1400" dirty="0">
                <a:solidFill>
                  <a:schemeClr val="bg2"/>
                </a:solidFill>
              </a:rPr>
              <a:t>Aidge, LoCod, la carte et les mesures.</a:t>
            </a:r>
            <a:endParaRPr lang="en-US" sz="1400" dirty="0"/>
          </a:p>
        </p:txBody>
      </p:sp>
      <p:sp>
        <p:nvSpPr>
          <p:cNvPr id="15" name="Text 11"/>
          <p:cNvSpPr txBox="1"/>
          <p:nvPr/>
        </p:nvSpPr>
        <p:spPr>
          <a:xfrm>
            <a:off x="4279392" y="3200400"/>
            <a:ext cx="2880360" cy="320040"/>
          </a:xfrm>
          <a:prstGeom prst="rect">
            <a:avLst/>
          </a:prstGeom>
          <a:noFill/>
          <a:ln/>
        </p:spPr>
        <p:txBody>
          <a:bodyPr wrap="square" lIns="0" tIns="0" rIns="0" bIns="0" rtlCol="0" anchor="t"/>
          <a:lstStyle/>
          <a:p>
            <a:pPr indent="0" marL="0">
              <a:buNone/>
            </a:pPr>
            <a:r>
              <a:rPr lang="en-US" sz="1300" i="1" dirty="0">
                <a:solidFill>
                  <a:schemeClr val="accent6"/>
                </a:solidFill>
              </a:rPr>
              <a:t>Qui : on décide ensemble</a:t>
            </a:r>
            <a:endParaRPr lang="en-US" sz="1300" dirty="0"/>
          </a:p>
        </p:txBody>
      </p:sp>
      <p:sp>
        <p:nvSpPr>
          <p:cNvPr id="16" name="Gardien du dépôt"/>
          <p:cNvSpPr/>
          <p:nvPr/>
        </p:nvSpPr>
        <p:spPr>
          <a:xfrm>
            <a:off x="548640" y="3931920"/>
            <a:ext cx="3291840" cy="2057400"/>
          </a:xfrm>
          <a:prstGeom prst="roundRect">
            <a:avLst>
              <a:gd name="adj" fmla="val 5333"/>
            </a:avLst>
          </a:prstGeom>
          <a:solidFill>
            <a:schemeClr val="tx2"/>
          </a:solidFill>
          <a:ln w="19050">
            <a:solidFill>
              <a:schemeClr val="accent3"/>
            </a:solidFill>
            <a:prstDash val="solid"/>
          </a:ln>
        </p:spPr>
      </p:sp>
      <p:sp>
        <p:nvSpPr>
          <p:cNvPr id="17" name="pastille FaCodeBranch"/>
          <p:cNvSpPr/>
          <p:nvPr/>
        </p:nvSpPr>
        <p:spPr>
          <a:xfrm>
            <a:off x="777240" y="4160520"/>
            <a:ext cx="457200" cy="457200"/>
          </a:xfrm>
          <a:prstGeom prst="ellipse">
            <a:avLst/>
          </a:prstGeom>
          <a:solidFill>
            <a:schemeClr val="accent3"/>
          </a:solidFill>
          <a:ln w="12700">
            <a:solidFill>
              <a:schemeClr val="accent3"/>
            </a:solidFill>
            <a:prstDash val="solid"/>
          </a:ln>
        </p:spPr>
      </p:sp>
      <p:pic>
        <p:nvPicPr>
          <p:cNvPr id="18" name="icône FaCodeBranch" descr="preencoded.png">    </p:cNvPr>
          <p:cNvPicPr>
            <a:picLocks noChangeAspect="1"/>
          </p:cNvPicPr>
          <p:nvPr/>
        </p:nvPicPr>
        <p:blipFill>
          <a:blip r:embed="rId3"/>
          <a:stretch>
            <a:fillRect/>
          </a:stretch>
        </p:blipFill>
        <p:spPr>
          <a:xfrm>
            <a:off x="886968" y="4270248"/>
            <a:ext cx="237744" cy="237744"/>
          </a:xfrm>
          <a:prstGeom prst="rect">
            <a:avLst/>
          </a:prstGeom>
        </p:spPr>
      </p:pic>
      <p:sp>
        <p:nvSpPr>
          <p:cNvPr id="19" name="Text 14"/>
          <p:cNvSpPr txBox="1"/>
          <p:nvPr/>
        </p:nvSpPr>
        <p:spPr>
          <a:xfrm>
            <a:off x="1371600" y="4160520"/>
            <a:ext cx="2331720" cy="4572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Gardien du dépôt</a:t>
            </a:r>
            <a:endParaRPr lang="en-US" sz="1600" dirty="0"/>
          </a:p>
        </p:txBody>
      </p:sp>
      <p:sp>
        <p:nvSpPr>
          <p:cNvPr id="20" name="Text 15"/>
          <p:cNvSpPr txBox="1"/>
          <p:nvPr/>
        </p:nvSpPr>
        <p:spPr>
          <a:xfrm>
            <a:off x="777240" y="4800600"/>
            <a:ext cx="2880360" cy="640080"/>
          </a:xfrm>
          <a:prstGeom prst="rect">
            <a:avLst/>
          </a:prstGeom>
          <a:noFill/>
          <a:ln/>
        </p:spPr>
        <p:txBody>
          <a:bodyPr wrap="square" lIns="0" tIns="0" rIns="0" bIns="0" rtlCol="0" anchor="t"/>
          <a:lstStyle/>
          <a:p>
            <a:pPr indent="0" marL="0">
              <a:buNone/>
            </a:pPr>
            <a:r>
              <a:rPr lang="en-US" sz="1400" dirty="0">
                <a:solidFill>
                  <a:schemeClr val="bg2"/>
                </a:solidFill>
              </a:rPr>
              <a:t>Relit les Pull Requests, garde dev et main propres.</a:t>
            </a:r>
            <a:endParaRPr lang="en-US" sz="1400" dirty="0"/>
          </a:p>
        </p:txBody>
      </p:sp>
      <p:sp>
        <p:nvSpPr>
          <p:cNvPr id="21" name="Text 16"/>
          <p:cNvSpPr txBox="1"/>
          <p:nvPr/>
        </p:nvSpPr>
        <p:spPr>
          <a:xfrm>
            <a:off x="777240" y="5486400"/>
            <a:ext cx="2880360" cy="320040"/>
          </a:xfrm>
          <a:prstGeom prst="rect">
            <a:avLst/>
          </a:prstGeom>
          <a:noFill/>
          <a:ln/>
        </p:spPr>
        <p:txBody>
          <a:bodyPr wrap="square" lIns="0" tIns="0" rIns="0" bIns="0" rtlCol="0" anchor="t"/>
          <a:lstStyle/>
          <a:p>
            <a:pPr indent="0" marL="0">
              <a:buNone/>
            </a:pPr>
            <a:r>
              <a:rPr lang="en-US" sz="1300" i="1" dirty="0">
                <a:solidFill>
                  <a:schemeClr val="accent6"/>
                </a:solidFill>
              </a:rPr>
              <a:t>Qui : on décide ensemble</a:t>
            </a:r>
            <a:endParaRPr lang="en-US" sz="1300" dirty="0"/>
          </a:p>
        </p:txBody>
      </p:sp>
      <p:sp>
        <p:nvSpPr>
          <p:cNvPr id="22" name="Mesures et rendu"/>
          <p:cNvSpPr/>
          <p:nvPr/>
        </p:nvSpPr>
        <p:spPr>
          <a:xfrm>
            <a:off x="4050792" y="3931920"/>
            <a:ext cx="3291840" cy="2057400"/>
          </a:xfrm>
          <a:prstGeom prst="roundRect">
            <a:avLst>
              <a:gd name="adj" fmla="val 5333"/>
            </a:avLst>
          </a:prstGeom>
          <a:solidFill>
            <a:schemeClr val="tx2"/>
          </a:solidFill>
          <a:ln w="19050">
            <a:solidFill>
              <a:schemeClr val="accent4"/>
            </a:solidFill>
            <a:prstDash val="solid"/>
          </a:ln>
        </p:spPr>
      </p:sp>
      <p:sp>
        <p:nvSpPr>
          <p:cNvPr id="23" name="pastille FaChartBar"/>
          <p:cNvSpPr/>
          <p:nvPr/>
        </p:nvSpPr>
        <p:spPr>
          <a:xfrm>
            <a:off x="4279392" y="4160520"/>
            <a:ext cx="457200" cy="457200"/>
          </a:xfrm>
          <a:prstGeom prst="ellipse">
            <a:avLst/>
          </a:prstGeom>
          <a:solidFill>
            <a:schemeClr val="accent4"/>
          </a:solidFill>
          <a:ln w="12700">
            <a:solidFill>
              <a:schemeClr val="accent4"/>
            </a:solidFill>
            <a:prstDash val="solid"/>
          </a:ln>
        </p:spPr>
      </p:sp>
      <p:pic>
        <p:nvPicPr>
          <p:cNvPr id="24" name="icône FaChartBar" descr="preencoded.png">    </p:cNvPr>
          <p:cNvPicPr>
            <a:picLocks noChangeAspect="1"/>
          </p:cNvPicPr>
          <p:nvPr/>
        </p:nvPicPr>
        <p:blipFill>
          <a:blip r:embed="rId4"/>
          <a:stretch>
            <a:fillRect/>
          </a:stretch>
        </p:blipFill>
        <p:spPr>
          <a:xfrm>
            <a:off x="4389120" y="4270248"/>
            <a:ext cx="237744" cy="237744"/>
          </a:xfrm>
          <a:prstGeom prst="rect">
            <a:avLst/>
          </a:prstGeom>
        </p:spPr>
      </p:pic>
      <p:sp>
        <p:nvSpPr>
          <p:cNvPr id="25" name="Text 19"/>
          <p:cNvSpPr txBox="1"/>
          <p:nvPr/>
        </p:nvSpPr>
        <p:spPr>
          <a:xfrm>
            <a:off x="4873752" y="4160520"/>
            <a:ext cx="2331720" cy="457200"/>
          </a:xfrm>
          <a:prstGeom prst="rect">
            <a:avLst/>
          </a:prstGeom>
          <a:noFill/>
          <a:ln/>
        </p:spPr>
        <p:txBody>
          <a:bodyPr wrap="square" lIns="0" tIns="0" rIns="0" bIns="0" rtlCol="0" anchor="ctr"/>
          <a:lstStyle/>
          <a:p>
            <a:pPr indent="0" marL="0">
              <a:buNone/>
            </a:pPr>
            <a:r>
              <a:rPr lang="en-US" sz="1600" b="1" dirty="0">
                <a:solidFill>
                  <a:schemeClr val="bg1"/>
                </a:solidFill>
                <a:latin typeface="Arial" pitchFamily="34" charset="0"/>
                <a:ea typeface="Arial" pitchFamily="34" charset="-122"/>
                <a:cs typeface="Arial" pitchFamily="34" charset="-120"/>
              </a:rPr>
              <a:t>Mesures et rendu</a:t>
            </a:r>
            <a:endParaRPr lang="en-US" sz="1600" dirty="0"/>
          </a:p>
        </p:txBody>
      </p:sp>
      <p:sp>
        <p:nvSpPr>
          <p:cNvPr id="26" name="Text 20"/>
          <p:cNvSpPr txBox="1"/>
          <p:nvPr/>
        </p:nvSpPr>
        <p:spPr>
          <a:xfrm>
            <a:off x="4279392" y="4800600"/>
            <a:ext cx="2880360" cy="640080"/>
          </a:xfrm>
          <a:prstGeom prst="rect">
            <a:avLst/>
          </a:prstGeom>
          <a:noFill/>
          <a:ln/>
        </p:spPr>
        <p:txBody>
          <a:bodyPr wrap="square" lIns="0" tIns="0" rIns="0" bIns="0" rtlCol="0" anchor="t"/>
          <a:lstStyle/>
          <a:p>
            <a:pPr indent="0" marL="0">
              <a:buNone/>
            </a:pPr>
            <a:r>
              <a:rPr lang="en-US" sz="1400" dirty="0">
                <a:solidFill>
                  <a:schemeClr val="bg2"/>
                </a:solidFill>
              </a:rPr>
              <a:t>Tableau de résultats, vidéo, présentation.</a:t>
            </a:r>
            <a:endParaRPr lang="en-US" sz="1400" dirty="0"/>
          </a:p>
        </p:txBody>
      </p:sp>
      <p:sp>
        <p:nvSpPr>
          <p:cNvPr id="27" name="Text 21"/>
          <p:cNvSpPr txBox="1"/>
          <p:nvPr/>
        </p:nvSpPr>
        <p:spPr>
          <a:xfrm>
            <a:off x="4279392" y="5486400"/>
            <a:ext cx="2880360" cy="320040"/>
          </a:xfrm>
          <a:prstGeom prst="rect">
            <a:avLst/>
          </a:prstGeom>
          <a:noFill/>
          <a:ln/>
        </p:spPr>
        <p:txBody>
          <a:bodyPr wrap="square" lIns="0" tIns="0" rIns="0" bIns="0" rtlCol="0" anchor="t"/>
          <a:lstStyle/>
          <a:p>
            <a:pPr indent="0" marL="0">
              <a:buNone/>
            </a:pPr>
            <a:r>
              <a:rPr lang="en-US" sz="1300" i="1" dirty="0">
                <a:solidFill>
                  <a:schemeClr val="accent6"/>
                </a:solidFill>
              </a:rPr>
              <a:t>Qui : on décide ensemble</a:t>
            </a:r>
            <a:endParaRPr lang="en-US" sz="1300" dirty="0"/>
          </a:p>
        </p:txBody>
      </p:sp>
      <p:sp>
        <p:nvSpPr>
          <p:cNvPr id="28" name="rendez-vous"/>
          <p:cNvSpPr/>
          <p:nvPr/>
        </p:nvSpPr>
        <p:spPr>
          <a:xfrm>
            <a:off x="7589520" y="1645920"/>
            <a:ext cx="4050792" cy="4343400"/>
          </a:xfrm>
          <a:prstGeom prst="roundRect">
            <a:avLst>
              <a:gd name="adj" fmla="val 2709"/>
            </a:avLst>
          </a:prstGeom>
          <a:solidFill>
            <a:schemeClr val="tx2"/>
          </a:solidFill>
          <a:ln w="12700">
            <a:solidFill>
              <a:schemeClr val="tx2"/>
            </a:solidFill>
            <a:prstDash val="solid"/>
          </a:ln>
        </p:spPr>
      </p:sp>
      <p:sp>
        <p:nvSpPr>
          <p:cNvPr id="29" name="Text 23"/>
          <p:cNvSpPr txBox="1"/>
          <p:nvPr/>
        </p:nvSpPr>
        <p:spPr>
          <a:xfrm>
            <a:off x="7863840" y="1874520"/>
            <a:ext cx="35661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NOS RENDEZ-VOUS</a:t>
            </a:r>
            <a:endParaRPr lang="en-US" sz="1200" dirty="0"/>
          </a:p>
        </p:txBody>
      </p:sp>
      <p:sp>
        <p:nvSpPr>
          <p:cNvPr id="30" name="pastille FaUsers"/>
          <p:cNvSpPr/>
          <p:nvPr/>
        </p:nvSpPr>
        <p:spPr>
          <a:xfrm>
            <a:off x="7863840" y="2286000"/>
            <a:ext cx="457200" cy="457200"/>
          </a:xfrm>
          <a:prstGeom prst="ellipse">
            <a:avLst/>
          </a:prstGeom>
          <a:solidFill>
            <a:schemeClr val="accent4"/>
          </a:solidFill>
          <a:ln w="12700">
            <a:solidFill>
              <a:schemeClr val="accent4"/>
            </a:solidFill>
            <a:prstDash val="solid"/>
          </a:ln>
        </p:spPr>
      </p:sp>
      <p:pic>
        <p:nvPicPr>
          <p:cNvPr id="31" name="icône FaUsers" descr="preencoded.png">    </p:cNvPr>
          <p:cNvPicPr>
            <a:picLocks noChangeAspect="1"/>
          </p:cNvPicPr>
          <p:nvPr/>
        </p:nvPicPr>
        <p:blipFill>
          <a:blip r:embed="rId5"/>
          <a:stretch>
            <a:fillRect/>
          </a:stretch>
        </p:blipFill>
        <p:spPr>
          <a:xfrm>
            <a:off x="7973568" y="2395728"/>
            <a:ext cx="237744" cy="237744"/>
          </a:xfrm>
          <a:prstGeom prst="rect">
            <a:avLst/>
          </a:prstGeom>
        </p:spPr>
      </p:pic>
      <p:sp>
        <p:nvSpPr>
          <p:cNvPr id="32" name="Text 25"/>
          <p:cNvSpPr txBox="1"/>
          <p:nvPr/>
        </p:nvSpPr>
        <p:spPr>
          <a:xfrm>
            <a:off x="8458200" y="2258568"/>
            <a:ext cx="3017520" cy="1005840"/>
          </a:xfrm>
          <a:prstGeom prst="rect">
            <a:avLst/>
          </a:prstGeom>
          <a:noFill/>
          <a:ln/>
        </p:spPr>
        <p:txBody>
          <a:bodyPr wrap="square" lIns="0" tIns="0" rIns="0" bIns="0" rtlCol="0" anchor="t"/>
          <a:lstStyle/>
          <a:p>
            <a:pPr indent="0" marL="0">
              <a:buNone/>
            </a:pPr>
            <a:r>
              <a:rPr lang="en-US" sz="1500" b="1" dirty="0">
                <a:solidFill>
                  <a:schemeClr val="bg1"/>
                </a:solidFill>
              </a:rPr>
              <a:t>Point d'équipe, 30 min par semaine</a:t>
            </a:r>
            <a:endParaRPr lang="en-US" sz="1500" dirty="0"/>
          </a:p>
          <a:p>
            <a:pPr indent="0" marL="0">
              <a:buNone/>
            </a:pPr>
            <a:r>
              <a:rPr lang="en-US" sz="1300" dirty="0">
                <a:solidFill>
                  <a:schemeClr val="bg2"/>
                </a:solidFill>
              </a:rPr>
              <a:t>Chacun dit ce qu'il a fini, ce qu'il fait, ce qui le bloque.</a:t>
            </a:r>
            <a:endParaRPr lang="en-US" sz="1500" dirty="0"/>
          </a:p>
        </p:txBody>
      </p:sp>
      <p:sp>
        <p:nvSpPr>
          <p:cNvPr id="33" name="pastille FaCalendarAlt"/>
          <p:cNvSpPr/>
          <p:nvPr/>
        </p:nvSpPr>
        <p:spPr>
          <a:xfrm>
            <a:off x="7863840" y="3474720"/>
            <a:ext cx="457200" cy="457200"/>
          </a:xfrm>
          <a:prstGeom prst="ellipse">
            <a:avLst/>
          </a:prstGeom>
          <a:solidFill>
            <a:schemeClr val="accent4"/>
          </a:solidFill>
          <a:ln w="12700">
            <a:solidFill>
              <a:schemeClr val="accent4"/>
            </a:solidFill>
            <a:prstDash val="solid"/>
          </a:ln>
        </p:spPr>
      </p:sp>
      <p:pic>
        <p:nvPicPr>
          <p:cNvPr id="34" name="icône FaCalendarAlt" descr="preencoded.png">    </p:cNvPr>
          <p:cNvPicPr>
            <a:picLocks noChangeAspect="1"/>
          </p:cNvPicPr>
          <p:nvPr/>
        </p:nvPicPr>
        <p:blipFill>
          <a:blip r:embed="rId6"/>
          <a:stretch>
            <a:fillRect/>
          </a:stretch>
        </p:blipFill>
        <p:spPr>
          <a:xfrm>
            <a:off x="7973568" y="3584448"/>
            <a:ext cx="237744" cy="237744"/>
          </a:xfrm>
          <a:prstGeom prst="rect">
            <a:avLst/>
          </a:prstGeom>
        </p:spPr>
      </p:pic>
      <p:sp>
        <p:nvSpPr>
          <p:cNvPr id="35" name="Text 27"/>
          <p:cNvSpPr txBox="1"/>
          <p:nvPr/>
        </p:nvSpPr>
        <p:spPr>
          <a:xfrm>
            <a:off x="8458200" y="3447288"/>
            <a:ext cx="3017520" cy="1005840"/>
          </a:xfrm>
          <a:prstGeom prst="rect">
            <a:avLst/>
          </a:prstGeom>
          <a:noFill/>
          <a:ln/>
        </p:spPr>
        <p:txBody>
          <a:bodyPr wrap="square" lIns="0" tIns="0" rIns="0" bIns="0" rtlCol="0" anchor="t"/>
          <a:lstStyle/>
          <a:p>
            <a:pPr indent="0" marL="0">
              <a:buNone/>
            </a:pPr>
            <a:r>
              <a:rPr lang="en-US" sz="1500" b="1" dirty="0">
                <a:solidFill>
                  <a:schemeClr val="bg1"/>
                </a:solidFill>
              </a:rPr>
              <a:t>Jeudi 14 h avec Viveris</a:t>
            </a:r>
            <a:endParaRPr lang="en-US" sz="1500" dirty="0"/>
          </a:p>
          <a:p>
            <a:pPr indent="0" marL="0">
              <a:buNone/>
            </a:pPr>
            <a:r>
              <a:rPr lang="en-US" sz="1300" dirty="0">
                <a:solidFill>
                  <a:schemeClr val="bg2"/>
                </a:solidFill>
              </a:rPr>
              <a:t>On y apporte nos questions, préparées à l'avance.</a:t>
            </a:r>
            <a:endParaRPr lang="en-US" sz="1500" dirty="0"/>
          </a:p>
        </p:txBody>
      </p:sp>
      <p:sp>
        <p:nvSpPr>
          <p:cNvPr id="36" name="pastille FaBullhorn"/>
          <p:cNvSpPr/>
          <p:nvPr/>
        </p:nvSpPr>
        <p:spPr>
          <a:xfrm>
            <a:off x="7863840" y="4663440"/>
            <a:ext cx="457200" cy="457200"/>
          </a:xfrm>
          <a:prstGeom prst="ellipse">
            <a:avLst/>
          </a:prstGeom>
          <a:solidFill>
            <a:schemeClr val="accent4"/>
          </a:solidFill>
          <a:ln w="12700">
            <a:solidFill>
              <a:schemeClr val="accent4"/>
            </a:solidFill>
            <a:prstDash val="solid"/>
          </a:ln>
        </p:spPr>
      </p:sp>
      <p:pic>
        <p:nvPicPr>
          <p:cNvPr id="37" name="icône FaBullhorn" descr="preencoded.png">    </p:cNvPr>
          <p:cNvPicPr>
            <a:picLocks noChangeAspect="1"/>
          </p:cNvPicPr>
          <p:nvPr/>
        </p:nvPicPr>
        <p:blipFill>
          <a:blip r:embed="rId7"/>
          <a:stretch>
            <a:fillRect/>
          </a:stretch>
        </p:blipFill>
        <p:spPr>
          <a:xfrm>
            <a:off x="7973568" y="4773168"/>
            <a:ext cx="237744" cy="237744"/>
          </a:xfrm>
          <a:prstGeom prst="rect">
            <a:avLst/>
          </a:prstGeom>
        </p:spPr>
      </p:pic>
      <p:sp>
        <p:nvSpPr>
          <p:cNvPr id="38" name="Text 29"/>
          <p:cNvSpPr txBox="1"/>
          <p:nvPr/>
        </p:nvSpPr>
        <p:spPr>
          <a:xfrm>
            <a:off x="8458200" y="4636008"/>
            <a:ext cx="3017520" cy="1005840"/>
          </a:xfrm>
          <a:prstGeom prst="rect">
            <a:avLst/>
          </a:prstGeom>
          <a:noFill/>
          <a:ln/>
        </p:spPr>
        <p:txBody>
          <a:bodyPr wrap="square" lIns="0" tIns="0" rIns="0" bIns="0" rtlCol="0" anchor="t"/>
          <a:lstStyle/>
          <a:p>
            <a:pPr indent="0" marL="0">
              <a:buNone/>
            </a:pPr>
            <a:r>
              <a:rPr lang="en-US" sz="1500" b="1" dirty="0">
                <a:solidFill>
                  <a:schemeClr val="bg1"/>
                </a:solidFill>
              </a:rPr>
              <a:t>Bloqué depuis 2 jours ?</a:t>
            </a:r>
            <a:endParaRPr lang="en-US" sz="1500" dirty="0"/>
          </a:p>
          <a:p>
            <a:pPr indent="0" marL="0">
              <a:buNone/>
            </a:pPr>
            <a:r>
              <a:rPr lang="en-US" sz="1300" dirty="0">
                <a:solidFill>
                  <a:schemeClr val="bg2"/>
                </a:solidFill>
              </a:rPr>
              <a:t>On le dit tout de suite sur le canal de l'équipe.</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hip GESTION DE PROJET"/>
          <p:cNvSpPr/>
          <p:nvPr/>
        </p:nvSpPr>
        <p:spPr>
          <a:xfrm>
            <a:off x="548640" y="329184"/>
            <a:ext cx="2004913"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GESTION DE PROJET</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Une tâche = une issue sur GitHub</a:t>
            </a:r>
            <a:endParaRPr lang="en-US" sz="3000" dirty="0"/>
          </a:p>
        </p:txBody>
      </p:sp>
      <p:sp>
        <p:nvSpPr>
          <p:cNvPr id="4" name="colonne À faire"/>
          <p:cNvSpPr/>
          <p:nvPr/>
        </p:nvSpPr>
        <p:spPr>
          <a:xfrm>
            <a:off x="548640" y="1645920"/>
            <a:ext cx="1828800" cy="4434840"/>
          </a:xfrm>
          <a:prstGeom prst="roundRect">
            <a:avLst>
              <a:gd name="adj" fmla="val 6000"/>
            </a:avLst>
          </a:prstGeom>
          <a:solidFill>
            <a:schemeClr val="tx2"/>
          </a:solidFill>
          <a:ln w="12700">
            <a:solidFill>
              <a:schemeClr val="tx2"/>
            </a:solidFill>
            <a:prstDash val="solid"/>
          </a:ln>
        </p:spPr>
      </p:sp>
      <p:sp>
        <p:nvSpPr>
          <p:cNvPr id="5" name="Text 3"/>
          <p:cNvSpPr txBox="1"/>
          <p:nvPr/>
        </p:nvSpPr>
        <p:spPr>
          <a:xfrm>
            <a:off x="685800" y="1783080"/>
            <a:ext cx="1554480" cy="32004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À faire</a:t>
            </a:r>
            <a:endParaRPr lang="en-US" sz="1500" dirty="0"/>
          </a:p>
        </p:txBody>
      </p:sp>
      <p:sp>
        <p:nvSpPr>
          <p:cNvPr id="6" name="issue #14"/>
          <p:cNvSpPr/>
          <p:nvPr/>
        </p:nvSpPr>
        <p:spPr>
          <a:xfrm>
            <a:off x="640080" y="2240280"/>
            <a:ext cx="1645920" cy="1325880"/>
          </a:xfrm>
          <a:prstGeom prst="roundRect">
            <a:avLst>
              <a:gd name="adj" fmla="val 5517"/>
            </a:avLst>
          </a:prstGeom>
          <a:solidFill>
            <a:schemeClr val="tx1"/>
          </a:solidFill>
          <a:ln w="12700">
            <a:solidFill>
              <a:schemeClr val="accent2"/>
            </a:solidFill>
            <a:prstDash val="solid"/>
          </a:ln>
        </p:spPr>
      </p:sp>
      <p:sp>
        <p:nvSpPr>
          <p:cNvPr id="7" name="Text 5"/>
          <p:cNvSpPr txBox="1"/>
          <p:nvPr/>
        </p:nvSpPr>
        <p:spPr>
          <a:xfrm>
            <a:off x="749808" y="2331720"/>
            <a:ext cx="1371600" cy="228600"/>
          </a:xfrm>
          <a:prstGeom prst="rect">
            <a:avLst/>
          </a:prstGeom>
          <a:noFill/>
          <a:ln/>
        </p:spPr>
        <p:txBody>
          <a:bodyPr wrap="square" lIns="0" tIns="0" rIns="0" bIns="0" rtlCol="0" anchor="t"/>
          <a:lstStyle/>
          <a:p>
            <a:pPr indent="0" marL="0">
              <a:buNone/>
            </a:pPr>
            <a:r>
              <a:rPr lang="en-US" sz="1100" b="1" dirty="0">
                <a:solidFill>
                  <a:schemeClr val="accent6"/>
                </a:solidFill>
              </a:rPr>
              <a:t>#14</a:t>
            </a:r>
            <a:endParaRPr lang="en-US" sz="1100" dirty="0"/>
          </a:p>
        </p:txBody>
      </p:sp>
      <p:sp>
        <p:nvSpPr>
          <p:cNvPr id="8" name="Text 6"/>
          <p:cNvSpPr txBox="1"/>
          <p:nvPr/>
        </p:nvSpPr>
        <p:spPr>
          <a:xfrm>
            <a:off x="749808" y="2560320"/>
            <a:ext cx="1444752" cy="658368"/>
          </a:xfrm>
          <a:prstGeom prst="rect">
            <a:avLst/>
          </a:prstGeom>
          <a:noFill/>
          <a:ln/>
        </p:spPr>
        <p:txBody>
          <a:bodyPr wrap="square" lIns="0" tIns="0" rIns="0" bIns="0" rtlCol="0" anchor="t"/>
          <a:lstStyle/>
          <a:p>
            <a:pPr indent="0" marL="0">
              <a:buNone/>
            </a:pPr>
            <a:r>
              <a:rPr lang="en-US" sz="1200" dirty="0">
                <a:solidFill>
                  <a:schemeClr val="bg1"/>
                </a:solidFill>
              </a:rPr>
              <a:t>Mesurer le temps par couche sur l'ARM</a:t>
            </a:r>
            <a:endParaRPr lang="en-US" sz="1200" dirty="0"/>
          </a:p>
        </p:txBody>
      </p:sp>
      <p:sp>
        <p:nvSpPr>
          <p:cNvPr id="9" name="chip EMBARQUÉ"/>
          <p:cNvSpPr/>
          <p:nvPr/>
        </p:nvSpPr>
        <p:spPr>
          <a:xfrm>
            <a:off x="749808" y="3246120"/>
            <a:ext cx="902696" cy="201168"/>
          </a:xfrm>
          <a:prstGeom prst="roundRect">
            <a:avLst>
              <a:gd name="adj" fmla="val 50000"/>
            </a:avLst>
          </a:prstGeom>
          <a:solidFill>
            <a:schemeClr val="accent2"/>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EMBARQUÉ</a:t>
            </a:r>
            <a:endParaRPr lang="en-US" sz="800" dirty="0"/>
          </a:p>
        </p:txBody>
      </p:sp>
      <p:sp>
        <p:nvSpPr>
          <p:cNvPr id="10" name="issue #11"/>
          <p:cNvSpPr/>
          <p:nvPr/>
        </p:nvSpPr>
        <p:spPr>
          <a:xfrm>
            <a:off x="640080" y="3703320"/>
            <a:ext cx="1645920" cy="1325880"/>
          </a:xfrm>
          <a:prstGeom prst="roundRect">
            <a:avLst>
              <a:gd name="adj" fmla="val 5517"/>
            </a:avLst>
          </a:prstGeom>
          <a:solidFill>
            <a:schemeClr val="tx1"/>
          </a:solidFill>
          <a:ln w="12700">
            <a:solidFill>
              <a:schemeClr val="accent1"/>
            </a:solidFill>
            <a:prstDash val="solid"/>
          </a:ln>
        </p:spPr>
      </p:sp>
      <p:sp>
        <p:nvSpPr>
          <p:cNvPr id="11" name="Text 9"/>
          <p:cNvSpPr txBox="1"/>
          <p:nvPr/>
        </p:nvSpPr>
        <p:spPr>
          <a:xfrm>
            <a:off x="749808" y="3794760"/>
            <a:ext cx="1371600" cy="228600"/>
          </a:xfrm>
          <a:prstGeom prst="rect">
            <a:avLst/>
          </a:prstGeom>
          <a:noFill/>
          <a:ln/>
        </p:spPr>
        <p:txBody>
          <a:bodyPr wrap="square" lIns="0" tIns="0" rIns="0" bIns="0" rtlCol="0" anchor="t"/>
          <a:lstStyle/>
          <a:p>
            <a:pPr indent="0" marL="0">
              <a:buNone/>
            </a:pPr>
            <a:r>
              <a:rPr lang="en-US" sz="1100" b="1" dirty="0">
                <a:solidFill>
                  <a:schemeClr val="accent6"/>
                </a:solidFill>
              </a:rPr>
              <a:t>#11</a:t>
            </a:r>
            <a:endParaRPr lang="en-US" sz="1100" dirty="0"/>
          </a:p>
        </p:txBody>
      </p:sp>
      <p:sp>
        <p:nvSpPr>
          <p:cNvPr id="12" name="Text 10"/>
          <p:cNvSpPr txBox="1"/>
          <p:nvPr/>
        </p:nvSpPr>
        <p:spPr>
          <a:xfrm>
            <a:off x="749808" y="4023360"/>
            <a:ext cx="1444752" cy="658368"/>
          </a:xfrm>
          <a:prstGeom prst="rect">
            <a:avLst/>
          </a:prstGeom>
          <a:noFill/>
          <a:ln/>
        </p:spPr>
        <p:txBody>
          <a:bodyPr wrap="square" lIns="0" tIns="0" rIns="0" bIns="0" rtlCol="0" anchor="t"/>
          <a:lstStyle/>
          <a:p>
            <a:pPr indent="0" marL="0">
              <a:buNone/>
            </a:pPr>
            <a:r>
              <a:rPr lang="en-US" sz="1200" dirty="0">
                <a:solidFill>
                  <a:schemeClr val="bg1"/>
                </a:solidFill>
              </a:rPr>
              <a:t>Constituer le jeu d'images lunaires</a:t>
            </a:r>
            <a:endParaRPr lang="en-US" sz="1200" dirty="0"/>
          </a:p>
        </p:txBody>
      </p:sp>
      <p:sp>
        <p:nvSpPr>
          <p:cNvPr id="13" name="chip MODÈLE"/>
          <p:cNvSpPr/>
          <p:nvPr/>
        </p:nvSpPr>
        <p:spPr>
          <a:xfrm>
            <a:off x="749808" y="4709160"/>
            <a:ext cx="759318" cy="201168"/>
          </a:xfrm>
          <a:prstGeom prst="roundRect">
            <a:avLst>
              <a:gd name="adj" fmla="val 50000"/>
            </a:avLst>
          </a:prstGeom>
          <a:solidFill>
            <a:schemeClr val="accent1"/>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MODÈLE</a:t>
            </a:r>
            <a:endParaRPr lang="en-US" sz="800" dirty="0"/>
          </a:p>
        </p:txBody>
      </p:sp>
      <p:sp>
        <p:nvSpPr>
          <p:cNvPr id="14" name="colonne En cours"/>
          <p:cNvSpPr/>
          <p:nvPr/>
        </p:nvSpPr>
        <p:spPr>
          <a:xfrm>
            <a:off x="2514600" y="1645920"/>
            <a:ext cx="1828800" cy="4434840"/>
          </a:xfrm>
          <a:prstGeom prst="roundRect">
            <a:avLst>
              <a:gd name="adj" fmla="val 6000"/>
            </a:avLst>
          </a:prstGeom>
          <a:solidFill>
            <a:schemeClr val="tx2"/>
          </a:solidFill>
          <a:ln w="12700">
            <a:solidFill>
              <a:schemeClr val="tx2"/>
            </a:solidFill>
            <a:prstDash val="solid"/>
          </a:ln>
        </p:spPr>
      </p:sp>
      <p:sp>
        <p:nvSpPr>
          <p:cNvPr id="15" name="Text 13"/>
          <p:cNvSpPr txBox="1"/>
          <p:nvPr/>
        </p:nvSpPr>
        <p:spPr>
          <a:xfrm>
            <a:off x="2651760" y="1783080"/>
            <a:ext cx="1554480" cy="32004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En cours</a:t>
            </a:r>
            <a:endParaRPr lang="en-US" sz="1500" dirty="0"/>
          </a:p>
        </p:txBody>
      </p:sp>
      <p:sp>
        <p:nvSpPr>
          <p:cNvPr id="16" name="issue #12"/>
          <p:cNvSpPr/>
          <p:nvPr/>
        </p:nvSpPr>
        <p:spPr>
          <a:xfrm>
            <a:off x="2606040" y="2240280"/>
            <a:ext cx="1645920" cy="1325880"/>
          </a:xfrm>
          <a:prstGeom prst="roundRect">
            <a:avLst>
              <a:gd name="adj" fmla="val 5517"/>
            </a:avLst>
          </a:prstGeom>
          <a:solidFill>
            <a:schemeClr val="tx1"/>
          </a:solidFill>
          <a:ln w="12700">
            <a:solidFill>
              <a:schemeClr val="accent1"/>
            </a:solidFill>
            <a:prstDash val="solid"/>
          </a:ln>
        </p:spPr>
      </p:sp>
      <p:sp>
        <p:nvSpPr>
          <p:cNvPr id="17" name="Text 15"/>
          <p:cNvSpPr txBox="1"/>
          <p:nvPr/>
        </p:nvSpPr>
        <p:spPr>
          <a:xfrm>
            <a:off x="2715768" y="2331720"/>
            <a:ext cx="1371600" cy="228600"/>
          </a:xfrm>
          <a:prstGeom prst="rect">
            <a:avLst/>
          </a:prstGeom>
          <a:noFill/>
          <a:ln/>
        </p:spPr>
        <p:txBody>
          <a:bodyPr wrap="square" lIns="0" tIns="0" rIns="0" bIns="0" rtlCol="0" anchor="t"/>
          <a:lstStyle/>
          <a:p>
            <a:pPr indent="0" marL="0">
              <a:buNone/>
            </a:pPr>
            <a:r>
              <a:rPr lang="en-US" sz="1100" b="1" dirty="0">
                <a:solidFill>
                  <a:schemeClr val="accent6"/>
                </a:solidFill>
              </a:rPr>
              <a:t>#12</a:t>
            </a:r>
            <a:endParaRPr lang="en-US" sz="1100" dirty="0"/>
          </a:p>
        </p:txBody>
      </p:sp>
      <p:sp>
        <p:nvSpPr>
          <p:cNvPr id="18" name="Text 16"/>
          <p:cNvSpPr txBox="1"/>
          <p:nvPr/>
        </p:nvSpPr>
        <p:spPr>
          <a:xfrm>
            <a:off x="2715768" y="2560320"/>
            <a:ext cx="1444752" cy="658368"/>
          </a:xfrm>
          <a:prstGeom prst="rect">
            <a:avLst/>
          </a:prstGeom>
          <a:noFill/>
          <a:ln/>
        </p:spPr>
        <p:txBody>
          <a:bodyPr wrap="square" lIns="0" tIns="0" rIns="0" bIns="0" rtlCol="0" anchor="t"/>
          <a:lstStyle/>
          <a:p>
            <a:pPr indent="0" marL="0">
              <a:buNone/>
            </a:pPr>
            <a:r>
              <a:rPr lang="en-US" sz="1200" dirty="0">
                <a:solidFill>
                  <a:schemeClr val="bg1"/>
                </a:solidFill>
              </a:rPr>
              <a:t>Exporter g_a en ONNX avec vecteurs de test</a:t>
            </a:r>
            <a:endParaRPr lang="en-US" sz="1200" dirty="0"/>
          </a:p>
        </p:txBody>
      </p:sp>
      <p:sp>
        <p:nvSpPr>
          <p:cNvPr id="19" name="chip MODÈLE"/>
          <p:cNvSpPr/>
          <p:nvPr/>
        </p:nvSpPr>
        <p:spPr>
          <a:xfrm>
            <a:off x="2715768" y="3246120"/>
            <a:ext cx="759318" cy="201168"/>
          </a:xfrm>
          <a:prstGeom prst="roundRect">
            <a:avLst>
              <a:gd name="adj" fmla="val 50000"/>
            </a:avLst>
          </a:prstGeom>
          <a:solidFill>
            <a:schemeClr val="accent1"/>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MODÈLE</a:t>
            </a:r>
            <a:endParaRPr lang="en-US" sz="800" dirty="0"/>
          </a:p>
        </p:txBody>
      </p:sp>
      <p:sp>
        <p:nvSpPr>
          <p:cNvPr id="20" name="issue #13"/>
          <p:cNvSpPr/>
          <p:nvPr/>
        </p:nvSpPr>
        <p:spPr>
          <a:xfrm>
            <a:off x="2606040" y="3703320"/>
            <a:ext cx="1645920" cy="1325880"/>
          </a:xfrm>
          <a:prstGeom prst="roundRect">
            <a:avLst>
              <a:gd name="adj" fmla="val 5517"/>
            </a:avLst>
          </a:prstGeom>
          <a:solidFill>
            <a:schemeClr val="tx1"/>
          </a:solidFill>
          <a:ln w="12700">
            <a:solidFill>
              <a:schemeClr val="accent2"/>
            </a:solidFill>
            <a:prstDash val="solid"/>
          </a:ln>
        </p:spPr>
      </p:sp>
      <p:sp>
        <p:nvSpPr>
          <p:cNvPr id="21" name="Text 19"/>
          <p:cNvSpPr txBox="1"/>
          <p:nvPr/>
        </p:nvSpPr>
        <p:spPr>
          <a:xfrm>
            <a:off x="2715768" y="3794760"/>
            <a:ext cx="1371600" cy="228600"/>
          </a:xfrm>
          <a:prstGeom prst="rect">
            <a:avLst/>
          </a:prstGeom>
          <a:noFill/>
          <a:ln/>
        </p:spPr>
        <p:txBody>
          <a:bodyPr wrap="square" lIns="0" tIns="0" rIns="0" bIns="0" rtlCol="0" anchor="t"/>
          <a:lstStyle/>
          <a:p>
            <a:pPr indent="0" marL="0">
              <a:buNone/>
            </a:pPr>
            <a:r>
              <a:rPr lang="en-US" sz="1100" b="1" dirty="0">
                <a:solidFill>
                  <a:schemeClr val="accent6"/>
                </a:solidFill>
              </a:rPr>
              <a:t>#13</a:t>
            </a:r>
            <a:endParaRPr lang="en-US" sz="1100" dirty="0"/>
          </a:p>
        </p:txBody>
      </p:sp>
      <p:sp>
        <p:nvSpPr>
          <p:cNvPr id="22" name="Text 20"/>
          <p:cNvSpPr txBox="1"/>
          <p:nvPr/>
        </p:nvSpPr>
        <p:spPr>
          <a:xfrm>
            <a:off x="2715768" y="4023360"/>
            <a:ext cx="1444752" cy="658368"/>
          </a:xfrm>
          <a:prstGeom prst="rect">
            <a:avLst/>
          </a:prstGeom>
          <a:noFill/>
          <a:ln/>
        </p:spPr>
        <p:txBody>
          <a:bodyPr wrap="square" lIns="0" tIns="0" rIns="0" bIns="0" rtlCol="0" anchor="t"/>
          <a:lstStyle/>
          <a:p>
            <a:pPr indent="0" marL="0">
              <a:buNone/>
            </a:pPr>
            <a:r>
              <a:rPr lang="en-US" sz="1200" dirty="0">
                <a:solidFill>
                  <a:schemeClr val="bg1"/>
                </a:solidFill>
              </a:rPr>
              <a:t>Compiler l'export C d'Aidge sur PC</a:t>
            </a:r>
            <a:endParaRPr lang="en-US" sz="1200" dirty="0"/>
          </a:p>
        </p:txBody>
      </p:sp>
      <p:sp>
        <p:nvSpPr>
          <p:cNvPr id="23" name="chip EMBARQUÉ"/>
          <p:cNvSpPr/>
          <p:nvPr/>
        </p:nvSpPr>
        <p:spPr>
          <a:xfrm>
            <a:off x="2715768" y="4709160"/>
            <a:ext cx="902696" cy="201168"/>
          </a:xfrm>
          <a:prstGeom prst="roundRect">
            <a:avLst>
              <a:gd name="adj" fmla="val 50000"/>
            </a:avLst>
          </a:prstGeom>
          <a:solidFill>
            <a:schemeClr val="accent2"/>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EMBARQUÉ</a:t>
            </a:r>
            <a:endParaRPr lang="en-US" sz="800" dirty="0"/>
          </a:p>
        </p:txBody>
      </p:sp>
      <p:sp>
        <p:nvSpPr>
          <p:cNvPr id="24" name="colonne En relecture"/>
          <p:cNvSpPr/>
          <p:nvPr/>
        </p:nvSpPr>
        <p:spPr>
          <a:xfrm>
            <a:off x="4480560" y="1645920"/>
            <a:ext cx="1828800" cy="4434840"/>
          </a:xfrm>
          <a:prstGeom prst="roundRect">
            <a:avLst>
              <a:gd name="adj" fmla="val 6000"/>
            </a:avLst>
          </a:prstGeom>
          <a:solidFill>
            <a:schemeClr val="tx2"/>
          </a:solidFill>
          <a:ln w="12700">
            <a:solidFill>
              <a:schemeClr val="tx2"/>
            </a:solidFill>
            <a:prstDash val="solid"/>
          </a:ln>
        </p:spPr>
      </p:sp>
      <p:sp>
        <p:nvSpPr>
          <p:cNvPr id="25" name="Text 23"/>
          <p:cNvSpPr txBox="1"/>
          <p:nvPr/>
        </p:nvSpPr>
        <p:spPr>
          <a:xfrm>
            <a:off x="4617720" y="1783080"/>
            <a:ext cx="1554480" cy="32004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En relecture</a:t>
            </a:r>
            <a:endParaRPr lang="en-US" sz="1500" dirty="0"/>
          </a:p>
        </p:txBody>
      </p:sp>
      <p:sp>
        <p:nvSpPr>
          <p:cNvPr id="26" name="issue #10"/>
          <p:cNvSpPr/>
          <p:nvPr/>
        </p:nvSpPr>
        <p:spPr>
          <a:xfrm>
            <a:off x="4572000" y="2240280"/>
            <a:ext cx="1645920" cy="1325880"/>
          </a:xfrm>
          <a:prstGeom prst="roundRect">
            <a:avLst>
              <a:gd name="adj" fmla="val 5517"/>
            </a:avLst>
          </a:prstGeom>
          <a:solidFill>
            <a:schemeClr val="tx1"/>
          </a:solidFill>
          <a:ln w="12700">
            <a:solidFill>
              <a:schemeClr val="accent1"/>
            </a:solidFill>
            <a:prstDash val="solid"/>
          </a:ln>
        </p:spPr>
      </p:sp>
      <p:sp>
        <p:nvSpPr>
          <p:cNvPr id="27" name="Text 25"/>
          <p:cNvSpPr txBox="1"/>
          <p:nvPr/>
        </p:nvSpPr>
        <p:spPr>
          <a:xfrm>
            <a:off x="4681728" y="2331720"/>
            <a:ext cx="1371600" cy="228600"/>
          </a:xfrm>
          <a:prstGeom prst="rect">
            <a:avLst/>
          </a:prstGeom>
          <a:noFill/>
          <a:ln/>
        </p:spPr>
        <p:txBody>
          <a:bodyPr wrap="square" lIns="0" tIns="0" rIns="0" bIns="0" rtlCol="0" anchor="t"/>
          <a:lstStyle/>
          <a:p>
            <a:pPr indent="0" marL="0">
              <a:buNone/>
            </a:pPr>
            <a:r>
              <a:rPr lang="en-US" sz="1100" b="1" dirty="0">
                <a:solidFill>
                  <a:schemeClr val="accent6"/>
                </a:solidFill>
              </a:rPr>
              <a:t>#10</a:t>
            </a:r>
            <a:endParaRPr lang="en-US" sz="1100" dirty="0"/>
          </a:p>
        </p:txBody>
      </p:sp>
      <p:sp>
        <p:nvSpPr>
          <p:cNvPr id="28" name="Text 26"/>
          <p:cNvSpPr txBox="1"/>
          <p:nvPr/>
        </p:nvSpPr>
        <p:spPr>
          <a:xfrm>
            <a:off x="4681728" y="2560320"/>
            <a:ext cx="1444752" cy="658368"/>
          </a:xfrm>
          <a:prstGeom prst="rect">
            <a:avLst/>
          </a:prstGeom>
          <a:noFill/>
          <a:ln/>
        </p:spPr>
        <p:txBody>
          <a:bodyPr wrap="square" lIns="0" tIns="0" rIns="0" bIns="0" rtlCol="0" anchor="t"/>
          <a:lstStyle/>
          <a:p>
            <a:pPr indent="0" marL="0">
              <a:buNone/>
            </a:pPr>
            <a:r>
              <a:rPr lang="en-US" sz="1200" dirty="0">
                <a:solidFill>
                  <a:schemeClr val="bg1"/>
                </a:solidFill>
              </a:rPr>
              <a:t>Courbe CompressAI contre JPEG</a:t>
            </a:r>
            <a:endParaRPr lang="en-US" sz="1200" dirty="0"/>
          </a:p>
        </p:txBody>
      </p:sp>
      <p:sp>
        <p:nvSpPr>
          <p:cNvPr id="29" name="chip MODÈLE"/>
          <p:cNvSpPr/>
          <p:nvPr/>
        </p:nvSpPr>
        <p:spPr>
          <a:xfrm>
            <a:off x="4681728" y="3246120"/>
            <a:ext cx="759318" cy="201168"/>
          </a:xfrm>
          <a:prstGeom prst="roundRect">
            <a:avLst>
              <a:gd name="adj" fmla="val 50000"/>
            </a:avLst>
          </a:prstGeom>
          <a:solidFill>
            <a:schemeClr val="accent1"/>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MODÈLE</a:t>
            </a:r>
            <a:endParaRPr lang="en-US" sz="800" dirty="0"/>
          </a:p>
        </p:txBody>
      </p:sp>
      <p:sp>
        <p:nvSpPr>
          <p:cNvPr id="30" name="colonne Fini"/>
          <p:cNvSpPr/>
          <p:nvPr/>
        </p:nvSpPr>
        <p:spPr>
          <a:xfrm>
            <a:off x="6446520" y="1645920"/>
            <a:ext cx="1828800" cy="4434840"/>
          </a:xfrm>
          <a:prstGeom prst="roundRect">
            <a:avLst>
              <a:gd name="adj" fmla="val 6000"/>
            </a:avLst>
          </a:prstGeom>
          <a:solidFill>
            <a:schemeClr val="tx2"/>
          </a:solidFill>
          <a:ln w="12700">
            <a:solidFill>
              <a:schemeClr val="tx2"/>
            </a:solidFill>
            <a:prstDash val="solid"/>
          </a:ln>
        </p:spPr>
      </p:sp>
      <p:sp>
        <p:nvSpPr>
          <p:cNvPr id="31" name="Text 29"/>
          <p:cNvSpPr txBox="1"/>
          <p:nvPr/>
        </p:nvSpPr>
        <p:spPr>
          <a:xfrm>
            <a:off x="6583680" y="1783080"/>
            <a:ext cx="1554480" cy="32004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Fini</a:t>
            </a:r>
            <a:endParaRPr lang="en-US" sz="1500" dirty="0"/>
          </a:p>
        </p:txBody>
      </p:sp>
      <p:sp>
        <p:nvSpPr>
          <p:cNvPr id="32" name="issue #9"/>
          <p:cNvSpPr/>
          <p:nvPr/>
        </p:nvSpPr>
        <p:spPr>
          <a:xfrm>
            <a:off x="6537960" y="2240280"/>
            <a:ext cx="1645920" cy="1325880"/>
          </a:xfrm>
          <a:prstGeom prst="roundRect">
            <a:avLst>
              <a:gd name="adj" fmla="val 5517"/>
            </a:avLst>
          </a:prstGeom>
          <a:solidFill>
            <a:schemeClr val="tx1"/>
          </a:solidFill>
          <a:ln w="12700">
            <a:solidFill>
              <a:schemeClr val="accent2"/>
            </a:solidFill>
            <a:prstDash val="solid"/>
          </a:ln>
        </p:spPr>
      </p:sp>
      <p:sp>
        <p:nvSpPr>
          <p:cNvPr id="33" name="Text 31"/>
          <p:cNvSpPr txBox="1"/>
          <p:nvPr/>
        </p:nvSpPr>
        <p:spPr>
          <a:xfrm>
            <a:off x="6647688" y="2331720"/>
            <a:ext cx="1371600" cy="228600"/>
          </a:xfrm>
          <a:prstGeom prst="rect">
            <a:avLst/>
          </a:prstGeom>
          <a:noFill/>
          <a:ln/>
        </p:spPr>
        <p:txBody>
          <a:bodyPr wrap="square" lIns="0" tIns="0" rIns="0" bIns="0" rtlCol="0" anchor="t"/>
          <a:lstStyle/>
          <a:p>
            <a:pPr indent="0" marL="0">
              <a:buNone/>
            </a:pPr>
            <a:r>
              <a:rPr lang="en-US" sz="1100" b="1" dirty="0">
                <a:solidFill>
                  <a:schemeClr val="accent6"/>
                </a:solidFill>
              </a:rPr>
              <a:t>#9</a:t>
            </a:r>
            <a:endParaRPr lang="en-US" sz="1100" dirty="0"/>
          </a:p>
        </p:txBody>
      </p:sp>
      <p:sp>
        <p:nvSpPr>
          <p:cNvPr id="34" name="Text 32"/>
          <p:cNvSpPr txBox="1"/>
          <p:nvPr/>
        </p:nvSpPr>
        <p:spPr>
          <a:xfrm>
            <a:off x="6647688" y="2560320"/>
            <a:ext cx="1444752" cy="658368"/>
          </a:xfrm>
          <a:prstGeom prst="rect">
            <a:avLst/>
          </a:prstGeom>
          <a:noFill/>
          <a:ln/>
        </p:spPr>
        <p:txBody>
          <a:bodyPr wrap="square" lIns="0" tIns="0" rIns="0" bIns="0" rtlCol="0" anchor="t"/>
          <a:lstStyle/>
          <a:p>
            <a:pPr indent="0" marL="0">
              <a:buNone/>
            </a:pPr>
            <a:r>
              <a:rPr lang="en-US" sz="1200" dirty="0">
                <a:solidFill>
                  <a:schemeClr val="bg1"/>
                </a:solidFill>
              </a:rPr>
              <a:t>Environnement venv et Docker</a:t>
            </a:r>
            <a:endParaRPr lang="en-US" sz="1200" dirty="0"/>
          </a:p>
        </p:txBody>
      </p:sp>
      <p:sp>
        <p:nvSpPr>
          <p:cNvPr id="35" name="chip EMBARQUÉ"/>
          <p:cNvSpPr/>
          <p:nvPr/>
        </p:nvSpPr>
        <p:spPr>
          <a:xfrm>
            <a:off x="6647688" y="3246120"/>
            <a:ext cx="902696" cy="201168"/>
          </a:xfrm>
          <a:prstGeom prst="roundRect">
            <a:avLst>
              <a:gd name="adj" fmla="val 50000"/>
            </a:avLst>
          </a:prstGeom>
          <a:solidFill>
            <a:schemeClr val="accent2"/>
          </a:solidFill>
          <a:ln/>
        </p:spPr>
        <p:txBody>
          <a:bodyPr wrap="square" lIns="0" tIns="0" rIns="0" bIns="0" rtlCol="0" anchor="ctr"/>
          <a:lstStyle/>
          <a:p>
            <a:pPr algn="ctr" indent="0" marL="0">
              <a:buNone/>
            </a:pPr>
            <a:r>
              <a:rPr lang="en-US" sz="800" b="1" spc="100" kern="0" dirty="0">
                <a:solidFill>
                  <a:schemeClr val="tx1"/>
                </a:solidFill>
                <a:latin typeface="Arial" pitchFamily="34" charset="0"/>
                <a:ea typeface="Arial" pitchFamily="34" charset="-122"/>
                <a:cs typeface="Arial" pitchFamily="34" charset="-120"/>
              </a:rPr>
              <a:t>EMBARQUÉ</a:t>
            </a:r>
            <a:endParaRPr lang="en-US" sz="800" dirty="0"/>
          </a:p>
        </p:txBody>
      </p:sp>
      <p:sp>
        <p:nvSpPr>
          <p:cNvPr id="36" name="règles"/>
          <p:cNvSpPr/>
          <p:nvPr/>
        </p:nvSpPr>
        <p:spPr>
          <a:xfrm>
            <a:off x="8549640" y="1645920"/>
            <a:ext cx="3090672" cy="4434840"/>
          </a:xfrm>
          <a:prstGeom prst="roundRect">
            <a:avLst>
              <a:gd name="adj" fmla="val 3550"/>
            </a:avLst>
          </a:prstGeom>
          <a:solidFill>
            <a:schemeClr val="tx2"/>
          </a:solidFill>
          <a:ln w="12700">
            <a:solidFill>
              <a:schemeClr val="tx2"/>
            </a:solidFill>
            <a:prstDash val="solid"/>
          </a:ln>
        </p:spPr>
      </p:sp>
      <p:sp>
        <p:nvSpPr>
          <p:cNvPr id="37" name="Text 35"/>
          <p:cNvSpPr txBox="1"/>
          <p:nvPr/>
        </p:nvSpPr>
        <p:spPr>
          <a:xfrm>
            <a:off x="8778240" y="1874520"/>
            <a:ext cx="26517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TROIS RÈGLES</a:t>
            </a:r>
            <a:endParaRPr lang="en-US" sz="1200" dirty="0"/>
          </a:p>
        </p:txBody>
      </p:sp>
      <p:sp>
        <p:nvSpPr>
          <p:cNvPr id="38" name="numéro 1"/>
          <p:cNvSpPr/>
          <p:nvPr/>
        </p:nvSpPr>
        <p:spPr>
          <a:xfrm>
            <a:off x="8778240" y="2331720"/>
            <a:ext cx="384048" cy="384048"/>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1</a:t>
            </a:r>
            <a:endParaRPr lang="en-US" sz="1600" dirty="0"/>
          </a:p>
        </p:txBody>
      </p:sp>
      <p:sp>
        <p:nvSpPr>
          <p:cNvPr id="39" name="Text 37"/>
          <p:cNvSpPr txBox="1"/>
          <p:nvPr/>
        </p:nvSpPr>
        <p:spPr>
          <a:xfrm>
            <a:off x="9281160" y="2286000"/>
            <a:ext cx="2194560" cy="1051560"/>
          </a:xfrm>
          <a:prstGeom prst="rect">
            <a:avLst/>
          </a:prstGeom>
          <a:noFill/>
          <a:ln/>
        </p:spPr>
        <p:txBody>
          <a:bodyPr wrap="square" lIns="0" tIns="0" rIns="0" bIns="0" rtlCol="0" anchor="t"/>
          <a:lstStyle/>
          <a:p>
            <a:pPr indent="0" marL="0">
              <a:buNone/>
            </a:pPr>
            <a:r>
              <a:rPr lang="en-US" sz="1400" b="1" dirty="0">
                <a:solidFill>
                  <a:schemeClr val="bg1"/>
                </a:solidFill>
              </a:rPr>
              <a:t>Petite</a:t>
            </a:r>
            <a:endParaRPr lang="en-US" sz="1400" dirty="0"/>
          </a:p>
          <a:p>
            <a:pPr indent="0" marL="0">
              <a:buNone/>
            </a:pPr>
            <a:r>
              <a:rPr lang="en-US" sz="1400" dirty="0">
                <a:solidFill>
                  <a:schemeClr val="bg2"/>
                </a:solidFill>
              </a:rPr>
              <a:t>Une issue = une tâche de moins d'une semaine.</a:t>
            </a:r>
            <a:endParaRPr lang="en-US" sz="1400" dirty="0"/>
          </a:p>
        </p:txBody>
      </p:sp>
      <p:sp>
        <p:nvSpPr>
          <p:cNvPr id="40" name="numéro 2"/>
          <p:cNvSpPr/>
          <p:nvPr/>
        </p:nvSpPr>
        <p:spPr>
          <a:xfrm>
            <a:off x="8778240" y="3520440"/>
            <a:ext cx="384048" cy="384048"/>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2</a:t>
            </a:r>
            <a:endParaRPr lang="en-US" sz="1600" dirty="0"/>
          </a:p>
        </p:txBody>
      </p:sp>
      <p:sp>
        <p:nvSpPr>
          <p:cNvPr id="41" name="Text 39"/>
          <p:cNvSpPr txBox="1"/>
          <p:nvPr/>
        </p:nvSpPr>
        <p:spPr>
          <a:xfrm>
            <a:off x="9281160" y="3474720"/>
            <a:ext cx="2194560" cy="1051560"/>
          </a:xfrm>
          <a:prstGeom prst="rect">
            <a:avLst/>
          </a:prstGeom>
          <a:noFill/>
          <a:ln/>
        </p:spPr>
        <p:txBody>
          <a:bodyPr wrap="square" lIns="0" tIns="0" rIns="0" bIns="0" rtlCol="0" anchor="t"/>
          <a:lstStyle/>
          <a:p>
            <a:pPr indent="0" marL="0">
              <a:buNone/>
            </a:pPr>
            <a:r>
              <a:rPr lang="en-US" sz="1400" b="1" dirty="0">
                <a:solidFill>
                  <a:schemeClr val="bg1"/>
                </a:solidFill>
              </a:rPr>
              <a:t>Un responsable</a:t>
            </a:r>
            <a:endParaRPr lang="en-US" sz="1400" dirty="0"/>
          </a:p>
          <a:p>
            <a:pPr indent="0" marL="0">
              <a:buNone/>
            </a:pPr>
            <a:r>
              <a:rPr lang="en-US" sz="1400" dirty="0">
                <a:solidFill>
                  <a:schemeClr val="bg2"/>
                </a:solidFill>
              </a:rPr>
              <a:t>Son nom est sur la carte, tout le monde voit qui fait quoi.</a:t>
            </a:r>
            <a:endParaRPr lang="en-US" sz="1400" dirty="0"/>
          </a:p>
        </p:txBody>
      </p:sp>
      <p:sp>
        <p:nvSpPr>
          <p:cNvPr id="42" name="numéro 3"/>
          <p:cNvSpPr/>
          <p:nvPr/>
        </p:nvSpPr>
        <p:spPr>
          <a:xfrm>
            <a:off x="8778240" y="4709160"/>
            <a:ext cx="384048" cy="384048"/>
          </a:xfrm>
          <a:prstGeom prst="ellipse">
            <a:avLst/>
          </a:prstGeom>
          <a:solidFill>
            <a:schemeClr val="accent4"/>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3</a:t>
            </a:r>
            <a:endParaRPr lang="en-US" sz="1600" dirty="0"/>
          </a:p>
        </p:txBody>
      </p:sp>
      <p:sp>
        <p:nvSpPr>
          <p:cNvPr id="43" name="Text 41"/>
          <p:cNvSpPr txBox="1"/>
          <p:nvPr/>
        </p:nvSpPr>
        <p:spPr>
          <a:xfrm>
            <a:off x="9281160" y="4663440"/>
            <a:ext cx="2194560" cy="1051560"/>
          </a:xfrm>
          <a:prstGeom prst="rect">
            <a:avLst/>
          </a:prstGeom>
          <a:noFill/>
          <a:ln/>
        </p:spPr>
        <p:txBody>
          <a:bodyPr wrap="square" lIns="0" tIns="0" rIns="0" bIns="0" rtlCol="0" anchor="t"/>
          <a:lstStyle/>
          <a:p>
            <a:pPr indent="0" marL="0">
              <a:buNone/>
            </a:pPr>
            <a:r>
              <a:rPr lang="en-US" sz="1400" b="1" dirty="0">
                <a:solidFill>
                  <a:schemeClr val="bg1"/>
                </a:solidFill>
              </a:rPr>
              <a:t>Fini veut dire fini</a:t>
            </a:r>
            <a:endParaRPr lang="en-US" sz="1400" dirty="0"/>
          </a:p>
          <a:p>
            <a:pPr indent="0" marL="0">
              <a:buNone/>
            </a:pPr>
            <a:r>
              <a:rPr lang="en-US" sz="1400" dirty="0">
                <a:solidFill>
                  <a:schemeClr val="bg2"/>
                </a:solidFill>
              </a:rPr>
              <a:t>Relu, fusionné dans dev, et ça marche.</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hip GIT"/>
          <p:cNvSpPr/>
          <p:nvPr/>
        </p:nvSpPr>
        <p:spPr>
          <a:xfrm>
            <a:off x="548640" y="329184"/>
            <a:ext cx="624901"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GIT</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Git Flow : main pour livrer, dev pour intégrer</a:t>
            </a:r>
            <a:endParaRPr lang="en-US" sz="3000" dirty="0"/>
          </a:p>
        </p:txBody>
      </p:sp>
      <p:sp>
        <p:nvSpPr>
          <p:cNvPr id="4" name="chip MAIN"/>
          <p:cNvSpPr/>
          <p:nvPr/>
        </p:nvSpPr>
        <p:spPr>
          <a:xfrm>
            <a:off x="548640" y="1874520"/>
            <a:ext cx="1188720" cy="274320"/>
          </a:xfrm>
          <a:prstGeom prst="roundRect">
            <a:avLst>
              <a:gd name="adj" fmla="val 50000"/>
            </a:avLst>
          </a:prstGeom>
          <a:solidFill>
            <a:schemeClr val="accent4"/>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MAIN</a:t>
            </a:r>
            <a:endParaRPr lang="en-US" sz="1100" dirty="0"/>
          </a:p>
        </p:txBody>
      </p:sp>
      <p:sp>
        <p:nvSpPr>
          <p:cNvPr id="5" name="chip DEV"/>
          <p:cNvSpPr/>
          <p:nvPr/>
        </p:nvSpPr>
        <p:spPr>
          <a:xfrm>
            <a:off x="548640" y="2606040"/>
            <a:ext cx="1188720"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DEV</a:t>
            </a:r>
            <a:endParaRPr lang="en-US" sz="1100" dirty="0"/>
          </a:p>
        </p:txBody>
      </p:sp>
      <p:sp>
        <p:nvSpPr>
          <p:cNvPr id="6" name="chip FEATURE"/>
          <p:cNvSpPr/>
          <p:nvPr/>
        </p:nvSpPr>
        <p:spPr>
          <a:xfrm>
            <a:off x="548640" y="3337560"/>
            <a:ext cx="118872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FEATURE</a:t>
            </a:r>
            <a:endParaRPr lang="en-US" sz="1100" dirty="0"/>
          </a:p>
        </p:txBody>
      </p:sp>
      <p:sp>
        <p:nvSpPr>
          <p:cNvPr id="7" name="chip FEATURE"/>
          <p:cNvSpPr/>
          <p:nvPr/>
        </p:nvSpPr>
        <p:spPr>
          <a:xfrm>
            <a:off x="548640" y="4069080"/>
            <a:ext cx="11887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FEATURE</a:t>
            </a:r>
            <a:endParaRPr lang="en-US" sz="1100" dirty="0"/>
          </a:p>
        </p:txBody>
      </p:sp>
      <p:sp>
        <p:nvSpPr>
          <p:cNvPr id="8" name="main"/>
          <p:cNvSpPr/>
          <p:nvPr/>
        </p:nvSpPr>
        <p:spPr>
          <a:xfrm>
            <a:off x="2011680" y="2011680"/>
            <a:ext cx="9601200" cy="0"/>
          </a:xfrm>
          <a:prstGeom prst="line">
            <a:avLst/>
          </a:prstGeom>
          <a:noFill/>
          <a:ln w="38100">
            <a:solidFill>
              <a:schemeClr val="accent4"/>
            </a:solidFill>
            <a:prstDash val="solid"/>
          </a:ln>
        </p:spPr>
      </p:sp>
      <p:sp>
        <p:nvSpPr>
          <p:cNvPr id="9" name="création dev"/>
          <p:cNvSpPr/>
          <p:nvPr/>
        </p:nvSpPr>
        <p:spPr>
          <a:xfrm>
            <a:off x="2286000" y="2011680"/>
            <a:ext cx="457200" cy="731520"/>
          </a:xfrm>
          <a:prstGeom prst="line">
            <a:avLst/>
          </a:prstGeom>
          <a:noFill/>
          <a:ln w="38100">
            <a:solidFill>
              <a:schemeClr val="accent3"/>
            </a:solidFill>
            <a:prstDash val="solid"/>
          </a:ln>
        </p:spPr>
      </p:sp>
      <p:sp>
        <p:nvSpPr>
          <p:cNvPr id="10" name="dev"/>
          <p:cNvSpPr/>
          <p:nvPr/>
        </p:nvSpPr>
        <p:spPr>
          <a:xfrm>
            <a:off x="2743200" y="2743200"/>
            <a:ext cx="8869680" cy="0"/>
          </a:xfrm>
          <a:prstGeom prst="line">
            <a:avLst/>
          </a:prstGeom>
          <a:noFill/>
          <a:ln w="38100">
            <a:solidFill>
              <a:schemeClr val="accent3"/>
            </a:solidFill>
            <a:prstDash val="solid"/>
          </a:ln>
        </p:spPr>
      </p:sp>
      <p:sp>
        <p:nvSpPr>
          <p:cNvPr id="11" name="départ feature 12"/>
          <p:cNvSpPr/>
          <p:nvPr/>
        </p:nvSpPr>
        <p:spPr>
          <a:xfrm>
            <a:off x="3200400" y="2743200"/>
            <a:ext cx="457200" cy="731520"/>
          </a:xfrm>
          <a:prstGeom prst="line">
            <a:avLst/>
          </a:prstGeom>
          <a:noFill/>
          <a:ln w="38100">
            <a:solidFill>
              <a:schemeClr val="accent1"/>
            </a:solidFill>
            <a:prstDash val="solid"/>
          </a:ln>
        </p:spPr>
      </p:sp>
      <p:sp>
        <p:nvSpPr>
          <p:cNvPr id="12" name="feature 12"/>
          <p:cNvSpPr/>
          <p:nvPr/>
        </p:nvSpPr>
        <p:spPr>
          <a:xfrm>
            <a:off x="3657600" y="3474720"/>
            <a:ext cx="1463040" cy="0"/>
          </a:xfrm>
          <a:prstGeom prst="line">
            <a:avLst/>
          </a:prstGeom>
          <a:noFill/>
          <a:ln w="38100">
            <a:solidFill>
              <a:schemeClr val="accent1"/>
            </a:solidFill>
            <a:prstDash val="solid"/>
          </a:ln>
        </p:spPr>
      </p:sp>
      <p:sp>
        <p:nvSpPr>
          <p:cNvPr id="13" name="fusion feature 12"/>
          <p:cNvSpPr/>
          <p:nvPr/>
        </p:nvSpPr>
        <p:spPr>
          <a:xfrm flipV="1">
            <a:off x="5120640" y="2743200"/>
            <a:ext cx="457200" cy="731520"/>
          </a:xfrm>
          <a:prstGeom prst="line">
            <a:avLst/>
          </a:prstGeom>
          <a:noFill/>
          <a:ln w="38100">
            <a:solidFill>
              <a:schemeClr val="accent1"/>
            </a:solidFill>
            <a:prstDash val="solid"/>
          </a:ln>
        </p:spPr>
      </p:sp>
      <p:sp>
        <p:nvSpPr>
          <p:cNvPr id="14" name="départ feature 13"/>
          <p:cNvSpPr/>
          <p:nvPr/>
        </p:nvSpPr>
        <p:spPr>
          <a:xfrm>
            <a:off x="4206240" y="2743200"/>
            <a:ext cx="548640" cy="1463040"/>
          </a:xfrm>
          <a:prstGeom prst="line">
            <a:avLst/>
          </a:prstGeom>
          <a:noFill/>
          <a:ln w="38100">
            <a:solidFill>
              <a:schemeClr val="accent2"/>
            </a:solidFill>
            <a:prstDash val="solid"/>
          </a:ln>
        </p:spPr>
      </p:sp>
      <p:sp>
        <p:nvSpPr>
          <p:cNvPr id="15" name="feature 13"/>
          <p:cNvSpPr/>
          <p:nvPr/>
        </p:nvSpPr>
        <p:spPr>
          <a:xfrm>
            <a:off x="4754880" y="4206240"/>
            <a:ext cx="3931920" cy="0"/>
          </a:xfrm>
          <a:prstGeom prst="line">
            <a:avLst/>
          </a:prstGeom>
          <a:noFill/>
          <a:ln w="38100">
            <a:solidFill>
              <a:schemeClr val="accent2"/>
            </a:solidFill>
            <a:prstDash val="solid"/>
          </a:ln>
        </p:spPr>
      </p:sp>
      <p:sp>
        <p:nvSpPr>
          <p:cNvPr id="16" name="fusion feature 13"/>
          <p:cNvSpPr/>
          <p:nvPr/>
        </p:nvSpPr>
        <p:spPr>
          <a:xfrm flipV="1">
            <a:off x="8686800" y="2743200"/>
            <a:ext cx="548640" cy="1463040"/>
          </a:xfrm>
          <a:prstGeom prst="line">
            <a:avLst/>
          </a:prstGeom>
          <a:noFill/>
          <a:ln w="38100">
            <a:solidFill>
              <a:schemeClr val="accent2"/>
            </a:solidFill>
            <a:prstDash val="solid"/>
          </a:ln>
        </p:spPr>
      </p:sp>
      <p:sp>
        <p:nvSpPr>
          <p:cNvPr id="17" name="dev vers main J1"/>
          <p:cNvSpPr/>
          <p:nvPr/>
        </p:nvSpPr>
        <p:spPr>
          <a:xfrm flipV="1">
            <a:off x="6400800" y="2011680"/>
            <a:ext cx="457200" cy="731520"/>
          </a:xfrm>
          <a:prstGeom prst="line">
            <a:avLst/>
          </a:prstGeom>
          <a:noFill/>
          <a:ln w="38100">
            <a:solidFill>
              <a:schemeClr val="accent3"/>
            </a:solidFill>
            <a:prstDash val="solid"/>
          </a:ln>
        </p:spPr>
      </p:sp>
      <p:sp>
        <p:nvSpPr>
          <p:cNvPr id="18" name="dev vers main J2"/>
          <p:cNvSpPr/>
          <p:nvPr/>
        </p:nvSpPr>
        <p:spPr>
          <a:xfrm flipV="1">
            <a:off x="10332720" y="2011680"/>
            <a:ext cx="457200" cy="731520"/>
          </a:xfrm>
          <a:prstGeom prst="line">
            <a:avLst/>
          </a:prstGeom>
          <a:noFill/>
          <a:ln w="38100">
            <a:solidFill>
              <a:schemeClr val="accent3"/>
            </a:solidFill>
            <a:prstDash val="solid"/>
          </a:ln>
        </p:spPr>
      </p:sp>
      <p:sp>
        <p:nvSpPr>
          <p:cNvPr id="19" name="commit"/>
          <p:cNvSpPr/>
          <p:nvPr/>
        </p:nvSpPr>
        <p:spPr>
          <a:xfrm>
            <a:off x="2139696" y="1865376"/>
            <a:ext cx="292608" cy="292608"/>
          </a:xfrm>
          <a:prstGeom prst="ellipse">
            <a:avLst/>
          </a:prstGeom>
          <a:solidFill>
            <a:schemeClr val="tx1"/>
          </a:solidFill>
          <a:ln w="38100">
            <a:solidFill>
              <a:schemeClr val="accent4"/>
            </a:solidFill>
            <a:prstDash val="solid"/>
          </a:ln>
        </p:spPr>
      </p:sp>
      <p:sp>
        <p:nvSpPr>
          <p:cNvPr id="20" name="commit"/>
          <p:cNvSpPr/>
          <p:nvPr/>
        </p:nvSpPr>
        <p:spPr>
          <a:xfrm>
            <a:off x="6711696" y="1865376"/>
            <a:ext cx="292608" cy="292608"/>
          </a:xfrm>
          <a:prstGeom prst="ellipse">
            <a:avLst/>
          </a:prstGeom>
          <a:solidFill>
            <a:schemeClr val="tx1"/>
          </a:solidFill>
          <a:ln w="38100">
            <a:solidFill>
              <a:schemeClr val="accent4"/>
            </a:solidFill>
            <a:prstDash val="solid"/>
          </a:ln>
        </p:spPr>
      </p:sp>
      <p:sp>
        <p:nvSpPr>
          <p:cNvPr id="21" name="commit"/>
          <p:cNvSpPr/>
          <p:nvPr/>
        </p:nvSpPr>
        <p:spPr>
          <a:xfrm>
            <a:off x="10643616" y="1865376"/>
            <a:ext cx="292608" cy="292608"/>
          </a:xfrm>
          <a:prstGeom prst="ellipse">
            <a:avLst/>
          </a:prstGeom>
          <a:solidFill>
            <a:schemeClr val="tx1"/>
          </a:solidFill>
          <a:ln w="38100">
            <a:solidFill>
              <a:schemeClr val="accent4"/>
            </a:solidFill>
            <a:prstDash val="solid"/>
          </a:ln>
        </p:spPr>
      </p:sp>
      <p:sp>
        <p:nvSpPr>
          <p:cNvPr id="22" name="commit"/>
          <p:cNvSpPr/>
          <p:nvPr/>
        </p:nvSpPr>
        <p:spPr>
          <a:xfrm>
            <a:off x="3081528" y="2624328"/>
            <a:ext cx="237744" cy="237744"/>
          </a:xfrm>
          <a:prstGeom prst="ellipse">
            <a:avLst/>
          </a:prstGeom>
          <a:solidFill>
            <a:schemeClr val="tx1"/>
          </a:solidFill>
          <a:ln w="38100">
            <a:solidFill>
              <a:schemeClr val="accent3"/>
            </a:solidFill>
            <a:prstDash val="solid"/>
          </a:ln>
        </p:spPr>
      </p:sp>
      <p:sp>
        <p:nvSpPr>
          <p:cNvPr id="23" name="commit"/>
          <p:cNvSpPr/>
          <p:nvPr/>
        </p:nvSpPr>
        <p:spPr>
          <a:xfrm>
            <a:off x="4087368" y="2624328"/>
            <a:ext cx="237744" cy="237744"/>
          </a:xfrm>
          <a:prstGeom prst="ellipse">
            <a:avLst/>
          </a:prstGeom>
          <a:solidFill>
            <a:schemeClr val="tx1"/>
          </a:solidFill>
          <a:ln w="38100">
            <a:solidFill>
              <a:schemeClr val="accent3"/>
            </a:solidFill>
            <a:prstDash val="solid"/>
          </a:ln>
        </p:spPr>
      </p:sp>
      <p:sp>
        <p:nvSpPr>
          <p:cNvPr id="24" name="commit"/>
          <p:cNvSpPr/>
          <p:nvPr/>
        </p:nvSpPr>
        <p:spPr>
          <a:xfrm>
            <a:off x="5458968" y="2624328"/>
            <a:ext cx="237744" cy="237744"/>
          </a:xfrm>
          <a:prstGeom prst="ellipse">
            <a:avLst/>
          </a:prstGeom>
          <a:solidFill>
            <a:schemeClr val="tx1"/>
          </a:solidFill>
          <a:ln w="38100">
            <a:solidFill>
              <a:schemeClr val="accent3"/>
            </a:solidFill>
            <a:prstDash val="solid"/>
          </a:ln>
        </p:spPr>
      </p:sp>
      <p:sp>
        <p:nvSpPr>
          <p:cNvPr id="25" name="commit"/>
          <p:cNvSpPr/>
          <p:nvPr/>
        </p:nvSpPr>
        <p:spPr>
          <a:xfrm>
            <a:off x="6281928" y="2624328"/>
            <a:ext cx="237744" cy="237744"/>
          </a:xfrm>
          <a:prstGeom prst="ellipse">
            <a:avLst/>
          </a:prstGeom>
          <a:solidFill>
            <a:schemeClr val="tx1"/>
          </a:solidFill>
          <a:ln w="38100">
            <a:solidFill>
              <a:schemeClr val="accent3"/>
            </a:solidFill>
            <a:prstDash val="solid"/>
          </a:ln>
        </p:spPr>
      </p:sp>
      <p:sp>
        <p:nvSpPr>
          <p:cNvPr id="26" name="commit"/>
          <p:cNvSpPr/>
          <p:nvPr/>
        </p:nvSpPr>
        <p:spPr>
          <a:xfrm>
            <a:off x="7379208" y="2624328"/>
            <a:ext cx="237744" cy="237744"/>
          </a:xfrm>
          <a:prstGeom prst="ellipse">
            <a:avLst/>
          </a:prstGeom>
          <a:solidFill>
            <a:schemeClr val="tx1"/>
          </a:solidFill>
          <a:ln w="38100">
            <a:solidFill>
              <a:schemeClr val="accent3"/>
            </a:solidFill>
            <a:prstDash val="solid"/>
          </a:ln>
        </p:spPr>
      </p:sp>
      <p:sp>
        <p:nvSpPr>
          <p:cNvPr id="27" name="commit"/>
          <p:cNvSpPr/>
          <p:nvPr/>
        </p:nvSpPr>
        <p:spPr>
          <a:xfrm>
            <a:off x="9116568" y="2624328"/>
            <a:ext cx="237744" cy="237744"/>
          </a:xfrm>
          <a:prstGeom prst="ellipse">
            <a:avLst/>
          </a:prstGeom>
          <a:solidFill>
            <a:schemeClr val="tx1"/>
          </a:solidFill>
          <a:ln w="38100">
            <a:solidFill>
              <a:schemeClr val="accent3"/>
            </a:solidFill>
            <a:prstDash val="solid"/>
          </a:ln>
        </p:spPr>
      </p:sp>
      <p:sp>
        <p:nvSpPr>
          <p:cNvPr id="28" name="commit"/>
          <p:cNvSpPr/>
          <p:nvPr/>
        </p:nvSpPr>
        <p:spPr>
          <a:xfrm>
            <a:off x="10213848" y="2624328"/>
            <a:ext cx="237744" cy="237744"/>
          </a:xfrm>
          <a:prstGeom prst="ellipse">
            <a:avLst/>
          </a:prstGeom>
          <a:solidFill>
            <a:schemeClr val="tx1"/>
          </a:solidFill>
          <a:ln w="38100">
            <a:solidFill>
              <a:schemeClr val="accent3"/>
            </a:solidFill>
            <a:prstDash val="solid"/>
          </a:ln>
        </p:spPr>
      </p:sp>
      <p:sp>
        <p:nvSpPr>
          <p:cNvPr id="29" name="commit"/>
          <p:cNvSpPr/>
          <p:nvPr/>
        </p:nvSpPr>
        <p:spPr>
          <a:xfrm>
            <a:off x="3904488" y="3355848"/>
            <a:ext cx="237744" cy="237744"/>
          </a:xfrm>
          <a:prstGeom prst="ellipse">
            <a:avLst/>
          </a:prstGeom>
          <a:solidFill>
            <a:schemeClr val="tx1"/>
          </a:solidFill>
          <a:ln w="38100">
            <a:solidFill>
              <a:schemeClr val="accent1"/>
            </a:solidFill>
            <a:prstDash val="solid"/>
          </a:ln>
        </p:spPr>
      </p:sp>
      <p:sp>
        <p:nvSpPr>
          <p:cNvPr id="30" name="commit"/>
          <p:cNvSpPr/>
          <p:nvPr/>
        </p:nvSpPr>
        <p:spPr>
          <a:xfrm>
            <a:off x="4544568" y="3355848"/>
            <a:ext cx="237744" cy="237744"/>
          </a:xfrm>
          <a:prstGeom prst="ellipse">
            <a:avLst/>
          </a:prstGeom>
          <a:solidFill>
            <a:schemeClr val="tx1"/>
          </a:solidFill>
          <a:ln w="38100">
            <a:solidFill>
              <a:schemeClr val="accent1"/>
            </a:solidFill>
            <a:prstDash val="solid"/>
          </a:ln>
        </p:spPr>
      </p:sp>
      <p:sp>
        <p:nvSpPr>
          <p:cNvPr id="31" name="commit"/>
          <p:cNvSpPr/>
          <p:nvPr/>
        </p:nvSpPr>
        <p:spPr>
          <a:xfrm>
            <a:off x="5367528" y="4087368"/>
            <a:ext cx="237744" cy="237744"/>
          </a:xfrm>
          <a:prstGeom prst="ellipse">
            <a:avLst/>
          </a:prstGeom>
          <a:solidFill>
            <a:schemeClr val="tx1"/>
          </a:solidFill>
          <a:ln w="38100">
            <a:solidFill>
              <a:schemeClr val="accent2"/>
            </a:solidFill>
            <a:prstDash val="solid"/>
          </a:ln>
        </p:spPr>
      </p:sp>
      <p:sp>
        <p:nvSpPr>
          <p:cNvPr id="32" name="commit"/>
          <p:cNvSpPr/>
          <p:nvPr/>
        </p:nvSpPr>
        <p:spPr>
          <a:xfrm>
            <a:off x="6464808" y="4087368"/>
            <a:ext cx="237744" cy="237744"/>
          </a:xfrm>
          <a:prstGeom prst="ellipse">
            <a:avLst/>
          </a:prstGeom>
          <a:solidFill>
            <a:schemeClr val="tx1"/>
          </a:solidFill>
          <a:ln w="38100">
            <a:solidFill>
              <a:schemeClr val="accent2"/>
            </a:solidFill>
            <a:prstDash val="solid"/>
          </a:ln>
        </p:spPr>
      </p:sp>
      <p:sp>
        <p:nvSpPr>
          <p:cNvPr id="33" name="commit"/>
          <p:cNvSpPr/>
          <p:nvPr/>
        </p:nvSpPr>
        <p:spPr>
          <a:xfrm>
            <a:off x="7562088" y="4087368"/>
            <a:ext cx="237744" cy="237744"/>
          </a:xfrm>
          <a:prstGeom prst="ellipse">
            <a:avLst/>
          </a:prstGeom>
          <a:solidFill>
            <a:schemeClr val="tx1"/>
          </a:solidFill>
          <a:ln w="38100">
            <a:solidFill>
              <a:schemeClr val="accent2"/>
            </a:solidFill>
            <a:prstDash val="solid"/>
          </a:ln>
        </p:spPr>
      </p:sp>
      <p:sp>
        <p:nvSpPr>
          <p:cNvPr id="34" name="Text 32"/>
          <p:cNvSpPr txBox="1"/>
          <p:nvPr/>
        </p:nvSpPr>
        <p:spPr>
          <a:xfrm>
            <a:off x="6400800" y="1536192"/>
            <a:ext cx="914400" cy="274320"/>
          </a:xfrm>
          <a:prstGeom prst="rect">
            <a:avLst/>
          </a:prstGeom>
          <a:noFill/>
          <a:ln/>
        </p:spPr>
        <p:txBody>
          <a:bodyPr wrap="square" lIns="0" tIns="0" rIns="0" bIns="0" rtlCol="0" anchor="t"/>
          <a:lstStyle/>
          <a:p>
            <a:pPr algn="ctr" indent="0" marL="0">
              <a:buNone/>
            </a:pPr>
            <a:r>
              <a:rPr lang="en-US" sz="1200" b="1" dirty="0">
                <a:solidFill>
                  <a:schemeClr val="accent4"/>
                </a:solidFill>
              </a:rPr>
              <a:t>J1 · v0.1</a:t>
            </a:r>
            <a:endParaRPr lang="en-US" sz="1200" dirty="0"/>
          </a:p>
        </p:txBody>
      </p:sp>
      <p:sp>
        <p:nvSpPr>
          <p:cNvPr id="35" name="Text 33"/>
          <p:cNvSpPr txBox="1"/>
          <p:nvPr/>
        </p:nvSpPr>
        <p:spPr>
          <a:xfrm>
            <a:off x="10332720" y="1536192"/>
            <a:ext cx="914400" cy="274320"/>
          </a:xfrm>
          <a:prstGeom prst="rect">
            <a:avLst/>
          </a:prstGeom>
          <a:noFill/>
          <a:ln/>
        </p:spPr>
        <p:txBody>
          <a:bodyPr wrap="square" lIns="0" tIns="0" rIns="0" bIns="0" rtlCol="0" anchor="t"/>
          <a:lstStyle/>
          <a:p>
            <a:pPr algn="ctr" indent="0" marL="0">
              <a:buNone/>
            </a:pPr>
            <a:r>
              <a:rPr lang="en-US" sz="1200" b="1" dirty="0">
                <a:solidFill>
                  <a:schemeClr val="accent4"/>
                </a:solidFill>
              </a:rPr>
              <a:t>J2 · v0.2</a:t>
            </a:r>
            <a:endParaRPr lang="en-US" sz="1200" dirty="0"/>
          </a:p>
        </p:txBody>
      </p:sp>
      <p:sp>
        <p:nvSpPr>
          <p:cNvPr id="36" name="Text 34"/>
          <p:cNvSpPr txBox="1"/>
          <p:nvPr/>
        </p:nvSpPr>
        <p:spPr>
          <a:xfrm>
            <a:off x="2011680" y="3584448"/>
            <a:ext cx="2377440" cy="274320"/>
          </a:xfrm>
          <a:prstGeom prst="rect">
            <a:avLst/>
          </a:prstGeom>
          <a:noFill/>
          <a:ln/>
        </p:spPr>
        <p:txBody>
          <a:bodyPr wrap="square" lIns="0" tIns="0" rIns="0" bIns="0" rtlCol="0" anchor="t"/>
          <a:lstStyle/>
          <a:p>
            <a:pPr algn="r" indent="0" marL="0">
              <a:buNone/>
            </a:pPr>
            <a:r>
              <a:rPr lang="en-US" sz="1200" b="1" dirty="0">
                <a:solidFill>
                  <a:schemeClr val="accent1"/>
                </a:solidFill>
                <a:latin typeface="Courier New" pitchFamily="34" charset="0"/>
                <a:ea typeface="Courier New" pitchFamily="34" charset="-122"/>
                <a:cs typeface="Courier New" pitchFamily="34" charset="-120"/>
              </a:rPr>
              <a:t>feature/12-export-onnx</a:t>
            </a:r>
            <a:endParaRPr lang="en-US" sz="1200" dirty="0"/>
          </a:p>
        </p:txBody>
      </p:sp>
      <p:sp>
        <p:nvSpPr>
          <p:cNvPr id="37" name="Text 35"/>
          <p:cNvSpPr txBox="1"/>
          <p:nvPr/>
        </p:nvSpPr>
        <p:spPr>
          <a:xfrm>
            <a:off x="5120640" y="4334256"/>
            <a:ext cx="274320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feature/13-code-c-pc</a:t>
            </a:r>
            <a:endParaRPr lang="en-US" sz="1200" dirty="0"/>
          </a:p>
        </p:txBody>
      </p:sp>
      <p:sp>
        <p:nvSpPr>
          <p:cNvPr id="38" name="bulle PR"/>
          <p:cNvSpPr/>
          <p:nvPr/>
        </p:nvSpPr>
        <p:spPr>
          <a:xfrm>
            <a:off x="5806440" y="3291840"/>
            <a:ext cx="1737360" cy="310896"/>
          </a:xfrm>
          <a:prstGeom prst="roundRect">
            <a:avLst>
              <a:gd name="adj" fmla="val 44118"/>
            </a:avLst>
          </a:prstGeom>
          <a:solidFill>
            <a:schemeClr val="tx2"/>
          </a:solidFill>
          <a:ln w="12700">
            <a:solidFill>
              <a:schemeClr val="accent1"/>
            </a:solidFill>
          </a:ln>
        </p:spPr>
        <p:txBody>
          <a:bodyPr wrap="square" lIns="0" tIns="0" rIns="0" bIns="0" rtlCol="0" anchor="ctr"/>
          <a:lstStyle/>
          <a:p>
            <a:pPr algn="ctr" indent="0" marL="0">
              <a:buNone/>
            </a:pPr>
            <a:r>
              <a:rPr lang="en-US" sz="1200" b="1" dirty="0">
                <a:solidFill>
                  <a:schemeClr val="bg1"/>
                </a:solidFill>
              </a:rPr>
              <a:t>Pull Request relue</a:t>
            </a:r>
            <a:endParaRPr lang="en-US" sz="1200" dirty="0"/>
          </a:p>
        </p:txBody>
      </p:sp>
      <p:sp>
        <p:nvSpPr>
          <p:cNvPr id="39" name="1 issue = 1 feature"/>
          <p:cNvSpPr/>
          <p:nvPr/>
        </p:nvSpPr>
        <p:spPr>
          <a:xfrm>
            <a:off x="548640" y="4846320"/>
            <a:ext cx="2606040" cy="1280160"/>
          </a:xfrm>
          <a:prstGeom prst="roundRect">
            <a:avLst>
              <a:gd name="adj" fmla="val 8571"/>
            </a:avLst>
          </a:prstGeom>
          <a:solidFill>
            <a:schemeClr val="tx2"/>
          </a:solidFill>
          <a:ln w="12700">
            <a:solidFill>
              <a:schemeClr val="tx2"/>
            </a:solidFill>
            <a:prstDash val="solid"/>
          </a:ln>
        </p:spPr>
      </p:sp>
      <p:sp>
        <p:nvSpPr>
          <p:cNvPr id="40" name="pastille FaCodeBranch"/>
          <p:cNvSpPr/>
          <p:nvPr/>
        </p:nvSpPr>
        <p:spPr>
          <a:xfrm>
            <a:off x="731520" y="5010912"/>
            <a:ext cx="457200" cy="457200"/>
          </a:xfrm>
          <a:prstGeom prst="ellipse">
            <a:avLst/>
          </a:prstGeom>
          <a:solidFill>
            <a:schemeClr val="accent3"/>
          </a:solidFill>
          <a:ln w="12700">
            <a:solidFill>
              <a:schemeClr val="accent3"/>
            </a:solidFill>
            <a:prstDash val="solid"/>
          </a:ln>
        </p:spPr>
      </p:sp>
      <p:pic>
        <p:nvPicPr>
          <p:cNvPr id="41" name="icône FaCodeBranch" descr="preencoded.png">    </p:cNvPr>
          <p:cNvPicPr>
            <a:picLocks noChangeAspect="1"/>
          </p:cNvPicPr>
          <p:nvPr/>
        </p:nvPicPr>
        <p:blipFill>
          <a:blip r:embed="rId1"/>
          <a:stretch>
            <a:fillRect/>
          </a:stretch>
        </p:blipFill>
        <p:spPr>
          <a:xfrm>
            <a:off x="841248" y="5120640"/>
            <a:ext cx="237744" cy="237744"/>
          </a:xfrm>
          <a:prstGeom prst="rect">
            <a:avLst/>
          </a:prstGeom>
        </p:spPr>
      </p:pic>
      <p:sp>
        <p:nvSpPr>
          <p:cNvPr id="42" name="Text 39"/>
          <p:cNvSpPr txBox="1"/>
          <p:nvPr/>
        </p:nvSpPr>
        <p:spPr>
          <a:xfrm>
            <a:off x="1325880" y="4983480"/>
            <a:ext cx="1737360" cy="1051560"/>
          </a:xfrm>
          <a:prstGeom prst="rect">
            <a:avLst/>
          </a:prstGeom>
          <a:noFill/>
          <a:ln/>
        </p:spPr>
        <p:txBody>
          <a:bodyPr wrap="square" lIns="0" tIns="0" rIns="0" bIns="0" rtlCol="0" anchor="t"/>
          <a:lstStyle/>
          <a:p>
            <a:pPr indent="0" marL="0">
              <a:buNone/>
            </a:pPr>
            <a:r>
              <a:rPr lang="en-US" sz="1500" b="1" dirty="0">
                <a:solidFill>
                  <a:schemeClr val="bg1"/>
                </a:solidFill>
              </a:rPr>
              <a:t>1 issue = 1 feature</a:t>
            </a:r>
            <a:endParaRPr lang="en-US" sz="1500" dirty="0"/>
          </a:p>
          <a:p>
            <a:pPr indent="0" marL="0">
              <a:buNone/>
            </a:pPr>
            <a:r>
              <a:rPr lang="en-US" sz="1300" dirty="0">
                <a:solidFill>
                  <a:schemeClr val="bg2"/>
                </a:solidFill>
              </a:rPr>
              <a:t>branche partie de dev, ex. feature/12-export-onnx</a:t>
            </a:r>
            <a:endParaRPr lang="en-US" sz="1500" dirty="0"/>
          </a:p>
        </p:txBody>
      </p:sp>
      <p:sp>
        <p:nvSpPr>
          <p:cNvPr id="43" name="PR relue vers dev"/>
          <p:cNvSpPr/>
          <p:nvPr/>
        </p:nvSpPr>
        <p:spPr>
          <a:xfrm>
            <a:off x="3374136" y="4846320"/>
            <a:ext cx="2606040" cy="1280160"/>
          </a:xfrm>
          <a:prstGeom prst="roundRect">
            <a:avLst>
              <a:gd name="adj" fmla="val 8571"/>
            </a:avLst>
          </a:prstGeom>
          <a:solidFill>
            <a:schemeClr val="tx2"/>
          </a:solidFill>
          <a:ln w="12700">
            <a:solidFill>
              <a:schemeClr val="tx2"/>
            </a:solidFill>
            <a:prstDash val="solid"/>
          </a:ln>
        </p:spPr>
      </p:sp>
      <p:sp>
        <p:nvSpPr>
          <p:cNvPr id="44" name="pastille FaUserCheck"/>
          <p:cNvSpPr/>
          <p:nvPr/>
        </p:nvSpPr>
        <p:spPr>
          <a:xfrm>
            <a:off x="3557016" y="5010912"/>
            <a:ext cx="457200" cy="457200"/>
          </a:xfrm>
          <a:prstGeom prst="ellipse">
            <a:avLst/>
          </a:prstGeom>
          <a:solidFill>
            <a:schemeClr val="accent3"/>
          </a:solidFill>
          <a:ln w="12700">
            <a:solidFill>
              <a:schemeClr val="accent3"/>
            </a:solidFill>
            <a:prstDash val="solid"/>
          </a:ln>
        </p:spPr>
      </p:sp>
      <p:pic>
        <p:nvPicPr>
          <p:cNvPr id="45" name="icône FaUserCheck" descr="preencoded.png">    </p:cNvPr>
          <p:cNvPicPr>
            <a:picLocks noChangeAspect="1"/>
          </p:cNvPicPr>
          <p:nvPr/>
        </p:nvPicPr>
        <p:blipFill>
          <a:blip r:embed="rId2"/>
          <a:stretch>
            <a:fillRect/>
          </a:stretch>
        </p:blipFill>
        <p:spPr>
          <a:xfrm>
            <a:off x="3666744" y="5120640"/>
            <a:ext cx="237744" cy="237744"/>
          </a:xfrm>
          <a:prstGeom prst="rect">
            <a:avLst/>
          </a:prstGeom>
        </p:spPr>
      </p:pic>
      <p:sp>
        <p:nvSpPr>
          <p:cNvPr id="46" name="Text 42"/>
          <p:cNvSpPr txBox="1"/>
          <p:nvPr/>
        </p:nvSpPr>
        <p:spPr>
          <a:xfrm>
            <a:off x="4151376" y="4983480"/>
            <a:ext cx="1737360" cy="1051560"/>
          </a:xfrm>
          <a:prstGeom prst="rect">
            <a:avLst/>
          </a:prstGeom>
          <a:noFill/>
          <a:ln/>
        </p:spPr>
        <p:txBody>
          <a:bodyPr wrap="square" lIns="0" tIns="0" rIns="0" bIns="0" rtlCol="0" anchor="t"/>
          <a:lstStyle/>
          <a:p>
            <a:pPr indent="0" marL="0">
              <a:buNone/>
            </a:pPr>
            <a:r>
              <a:rPr lang="en-US" sz="1500" b="1" dirty="0">
                <a:solidFill>
                  <a:schemeClr val="bg1"/>
                </a:solidFill>
              </a:rPr>
              <a:t>PR relue vers dev</a:t>
            </a:r>
            <a:endParaRPr lang="en-US" sz="1500" dirty="0"/>
          </a:p>
          <a:p>
            <a:pPr indent="0" marL="0">
              <a:buNone/>
            </a:pPr>
            <a:r>
              <a:rPr lang="en-US" sz="1300" dirty="0">
                <a:solidFill>
                  <a:schemeClr val="bg2"/>
                </a:solidFill>
              </a:rPr>
              <a:t>par une autre personne avant la fusion</a:t>
            </a:r>
            <a:endParaRPr lang="en-US" sz="1500" dirty="0"/>
          </a:p>
        </p:txBody>
      </p:sp>
      <p:sp>
        <p:nvSpPr>
          <p:cNvPr id="47" name="dev → main aux jalons"/>
          <p:cNvSpPr/>
          <p:nvPr/>
        </p:nvSpPr>
        <p:spPr>
          <a:xfrm>
            <a:off x="6199632" y="4846320"/>
            <a:ext cx="2606040" cy="1280160"/>
          </a:xfrm>
          <a:prstGeom prst="roundRect">
            <a:avLst>
              <a:gd name="adj" fmla="val 8571"/>
            </a:avLst>
          </a:prstGeom>
          <a:solidFill>
            <a:schemeClr val="tx2"/>
          </a:solidFill>
          <a:ln w="12700">
            <a:solidFill>
              <a:schemeClr val="tx2"/>
            </a:solidFill>
            <a:prstDash val="solid"/>
          </a:ln>
        </p:spPr>
      </p:sp>
      <p:sp>
        <p:nvSpPr>
          <p:cNvPr id="48" name="pastille FaTag"/>
          <p:cNvSpPr/>
          <p:nvPr/>
        </p:nvSpPr>
        <p:spPr>
          <a:xfrm>
            <a:off x="6382512" y="5010912"/>
            <a:ext cx="457200" cy="457200"/>
          </a:xfrm>
          <a:prstGeom prst="ellipse">
            <a:avLst/>
          </a:prstGeom>
          <a:solidFill>
            <a:schemeClr val="accent3"/>
          </a:solidFill>
          <a:ln w="12700">
            <a:solidFill>
              <a:schemeClr val="accent3"/>
            </a:solidFill>
            <a:prstDash val="solid"/>
          </a:ln>
        </p:spPr>
      </p:sp>
      <p:pic>
        <p:nvPicPr>
          <p:cNvPr id="49" name="icône FaTag" descr="preencoded.png">    </p:cNvPr>
          <p:cNvPicPr>
            <a:picLocks noChangeAspect="1"/>
          </p:cNvPicPr>
          <p:nvPr/>
        </p:nvPicPr>
        <p:blipFill>
          <a:blip r:embed="rId3"/>
          <a:stretch>
            <a:fillRect/>
          </a:stretch>
        </p:blipFill>
        <p:spPr>
          <a:xfrm>
            <a:off x="6492240" y="5120640"/>
            <a:ext cx="237744" cy="237744"/>
          </a:xfrm>
          <a:prstGeom prst="rect">
            <a:avLst/>
          </a:prstGeom>
        </p:spPr>
      </p:pic>
      <p:sp>
        <p:nvSpPr>
          <p:cNvPr id="50" name="Text 45"/>
          <p:cNvSpPr txBox="1"/>
          <p:nvPr/>
        </p:nvSpPr>
        <p:spPr>
          <a:xfrm>
            <a:off x="6976872" y="4983480"/>
            <a:ext cx="1737360" cy="1051560"/>
          </a:xfrm>
          <a:prstGeom prst="rect">
            <a:avLst/>
          </a:prstGeom>
          <a:noFill/>
          <a:ln/>
        </p:spPr>
        <p:txBody>
          <a:bodyPr wrap="square" lIns="0" tIns="0" rIns="0" bIns="0" rtlCol="0" anchor="t"/>
          <a:lstStyle/>
          <a:p>
            <a:pPr indent="0" marL="0">
              <a:buNone/>
            </a:pPr>
            <a:r>
              <a:rPr lang="en-US" sz="1500" b="1" dirty="0">
                <a:solidFill>
                  <a:schemeClr val="bg1"/>
                </a:solidFill>
              </a:rPr>
              <a:t>dev → main aux jalons</a:t>
            </a:r>
            <a:endParaRPr lang="en-US" sz="1500" dirty="0"/>
          </a:p>
          <a:p>
            <a:pPr indent="0" marL="0">
              <a:buNone/>
            </a:pPr>
            <a:r>
              <a:rPr lang="en-US" sz="1300" dirty="0">
                <a:solidFill>
                  <a:schemeClr val="bg2"/>
                </a:solidFill>
              </a:rPr>
              <a:t>main ne reçoit que des versions livrées, taguées</a:t>
            </a:r>
            <a:endParaRPr lang="en-US" sz="1500" dirty="0"/>
          </a:p>
        </p:txBody>
      </p:sp>
      <p:sp>
        <p:nvSpPr>
          <p:cNvPr id="51" name="main et dev protégées"/>
          <p:cNvSpPr/>
          <p:nvPr/>
        </p:nvSpPr>
        <p:spPr>
          <a:xfrm>
            <a:off x="9025128" y="4846320"/>
            <a:ext cx="2606040" cy="1280160"/>
          </a:xfrm>
          <a:prstGeom prst="roundRect">
            <a:avLst>
              <a:gd name="adj" fmla="val 8571"/>
            </a:avLst>
          </a:prstGeom>
          <a:solidFill>
            <a:schemeClr val="tx2"/>
          </a:solidFill>
          <a:ln w="12700">
            <a:solidFill>
              <a:schemeClr val="tx2"/>
            </a:solidFill>
            <a:prstDash val="solid"/>
          </a:ln>
        </p:spPr>
      </p:sp>
      <p:sp>
        <p:nvSpPr>
          <p:cNvPr id="52" name="pastille FaShieldAlt"/>
          <p:cNvSpPr/>
          <p:nvPr/>
        </p:nvSpPr>
        <p:spPr>
          <a:xfrm>
            <a:off x="9208008" y="5010912"/>
            <a:ext cx="457200" cy="457200"/>
          </a:xfrm>
          <a:prstGeom prst="ellipse">
            <a:avLst/>
          </a:prstGeom>
          <a:solidFill>
            <a:schemeClr val="accent3"/>
          </a:solidFill>
          <a:ln w="12700">
            <a:solidFill>
              <a:schemeClr val="accent3"/>
            </a:solidFill>
            <a:prstDash val="solid"/>
          </a:ln>
        </p:spPr>
      </p:sp>
      <p:pic>
        <p:nvPicPr>
          <p:cNvPr id="53" name="icône FaShieldAlt" descr="preencoded.png">    </p:cNvPr>
          <p:cNvPicPr>
            <a:picLocks noChangeAspect="1"/>
          </p:cNvPicPr>
          <p:nvPr/>
        </p:nvPicPr>
        <p:blipFill>
          <a:blip r:embed="rId4"/>
          <a:stretch>
            <a:fillRect/>
          </a:stretch>
        </p:blipFill>
        <p:spPr>
          <a:xfrm>
            <a:off x="9317736" y="5120640"/>
            <a:ext cx="237744" cy="237744"/>
          </a:xfrm>
          <a:prstGeom prst="rect">
            <a:avLst/>
          </a:prstGeom>
        </p:spPr>
      </p:pic>
      <p:sp>
        <p:nvSpPr>
          <p:cNvPr id="54" name="Text 48"/>
          <p:cNvSpPr txBox="1"/>
          <p:nvPr/>
        </p:nvSpPr>
        <p:spPr>
          <a:xfrm>
            <a:off x="9802368" y="4983480"/>
            <a:ext cx="1737360" cy="1051560"/>
          </a:xfrm>
          <a:prstGeom prst="rect">
            <a:avLst/>
          </a:prstGeom>
          <a:noFill/>
          <a:ln/>
        </p:spPr>
        <p:txBody>
          <a:bodyPr wrap="square" lIns="0" tIns="0" rIns="0" bIns="0" rtlCol="0" anchor="t"/>
          <a:lstStyle/>
          <a:p>
            <a:pPr indent="0" marL="0">
              <a:buNone/>
            </a:pPr>
            <a:r>
              <a:rPr lang="en-US" sz="1500" b="1" dirty="0">
                <a:solidFill>
                  <a:schemeClr val="bg1"/>
                </a:solidFill>
              </a:rPr>
              <a:t>main et dev protégées</a:t>
            </a:r>
            <a:endParaRPr lang="en-US" sz="1500" dirty="0"/>
          </a:p>
          <a:p>
            <a:pPr indent="0" marL="0">
              <a:buNone/>
            </a:pPr>
            <a:r>
              <a:rPr lang="en-US" sz="1300" dirty="0">
                <a:solidFill>
                  <a:schemeClr val="bg2"/>
                </a:solidFill>
              </a:rPr>
              <a:t>personne ne pousse dessus directement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hip GIT"/>
          <p:cNvSpPr/>
          <p:nvPr/>
        </p:nvSpPr>
        <p:spPr>
          <a:xfrm>
            <a:off x="548640" y="329184"/>
            <a:ext cx="624901" cy="274320"/>
          </a:xfrm>
          <a:prstGeom prst="roundRect">
            <a:avLst>
              <a:gd name="adj" fmla="val 50000"/>
            </a:avLst>
          </a:prstGeom>
          <a:solidFill>
            <a:schemeClr val="accent3"/>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GIT</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L'antisèche du quotidien</a:t>
            </a:r>
            <a:endParaRPr lang="en-US" sz="3000" dirty="0"/>
          </a:p>
        </p:txBody>
      </p:sp>
      <p:sp>
        <p:nvSpPr>
          <p:cNvPr id="4" name="antisèche"/>
          <p:cNvSpPr/>
          <p:nvPr/>
        </p:nvSpPr>
        <p:spPr>
          <a:xfrm>
            <a:off x="548640" y="1645920"/>
            <a:ext cx="7223760" cy="3931920"/>
          </a:xfrm>
          <a:prstGeom prst="roundRect">
            <a:avLst>
              <a:gd name="adj" fmla="val 2791"/>
            </a:avLst>
          </a:prstGeom>
          <a:solidFill>
            <a:schemeClr val="tx2"/>
          </a:solidFill>
          <a:ln w="12700">
            <a:solidFill>
              <a:schemeClr val="tx2"/>
            </a:solidFill>
            <a:prstDash val="solid"/>
          </a:ln>
        </p:spPr>
      </p:sp>
      <p:sp>
        <p:nvSpPr>
          <p:cNvPr id="5" name="Text 3"/>
          <p:cNvSpPr txBox="1"/>
          <p:nvPr/>
        </p:nvSpPr>
        <p:spPr>
          <a:xfrm>
            <a:off x="822960" y="1874520"/>
            <a:ext cx="6766560" cy="3520440"/>
          </a:xfrm>
          <a:prstGeom prst="rect">
            <a:avLst/>
          </a:prstGeom>
          <a:noFill/>
          <a:ln/>
        </p:spPr>
        <p:txBody>
          <a:bodyPr wrap="square" lIns="0" tIns="0" rIns="0" bIns="0" rtlCol="0" anchor="t"/>
          <a:lstStyle/>
          <a:p>
            <a:pPr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git switch dev                        </a:t>
            </a:r>
            <a:pPr indent="0" marL="0">
              <a:lnSpc>
                <a:spcPct val="115000"/>
              </a:lnSpc>
              <a:buNone/>
            </a:pPr>
            <a:r>
              <a:rPr lang="en-US" sz="1300" dirty="0">
                <a:solidFill>
                  <a:schemeClr val="accent6"/>
                </a:solidFill>
                <a:latin typeface="Courier New" pitchFamily="34" charset="0"/>
                <a:ea typeface="Courier New" pitchFamily="34" charset="-122"/>
                <a:cs typeface="Courier New" pitchFamily="34" charset="-120"/>
              </a:rPr>
              <a:t># partir de dev</a:t>
            </a:r>
            <a:endParaRPr lang="en-US" sz="1300" dirty="0"/>
          </a:p>
          <a:p>
            <a:pPr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git pull                              </a:t>
            </a:r>
            <a:pPr indent="0" marL="0">
              <a:lnSpc>
                <a:spcPct val="115000"/>
              </a:lnSpc>
              <a:buNone/>
            </a:pPr>
            <a:r>
              <a:rPr lang="en-US" sz="1300" dirty="0">
                <a:solidFill>
                  <a:schemeClr val="accent6"/>
                </a:solidFill>
                <a:latin typeface="Courier New" pitchFamily="34" charset="0"/>
                <a:ea typeface="Courier New" pitchFamily="34" charset="-122"/>
                <a:cs typeface="Courier New" pitchFamily="34" charset="-120"/>
              </a:rPr>
              <a:t># récupérer les nouveautés</a:t>
            </a:r>
            <a:endParaRPr lang="en-US" sz="1300" dirty="0"/>
          </a:p>
          <a:p>
            <a:pPr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git switch -c feature/12-export-onnx  </a:t>
            </a:r>
            <a:pPr indent="0" marL="0">
              <a:lnSpc>
                <a:spcPct val="115000"/>
              </a:lnSpc>
              <a:buNone/>
            </a:pPr>
            <a:r>
              <a:rPr lang="en-US" sz="1300" dirty="0">
                <a:solidFill>
                  <a:schemeClr val="accent6"/>
                </a:solidFill>
                <a:latin typeface="Courier New" pitchFamily="34" charset="0"/>
                <a:ea typeface="Courier New" pitchFamily="34" charset="-122"/>
                <a:cs typeface="Courier New" pitchFamily="34" charset="-120"/>
              </a:rPr>
              <a:t># branche de l'issue 12</a:t>
            </a:r>
            <a:endParaRPr lang="en-US" sz="1300" dirty="0"/>
          </a:p>
          <a:p>
            <a:pPr indent="0" marL="0">
              <a:lnSpc>
                <a:spcPct val="115000"/>
              </a:lnSpc>
              <a:buNone/>
            </a:pPr>
            <a:pPr indent="0" marL="0">
              <a:lnSpc>
                <a:spcPct val="115000"/>
              </a:lnSpc>
              <a:buNone/>
            </a:pPr>
            <a:r>
              <a:rPr lang="en-US" sz="1300" dirty="0">
                <a:solidFill>
                  <a:schemeClr val="accent6"/>
                </a:solidFill>
                <a:latin typeface="Courier New" pitchFamily="34" charset="0"/>
                <a:ea typeface="Courier New" pitchFamily="34" charset="-122"/>
                <a:cs typeface="Courier New" pitchFamily="34" charset="-120"/>
              </a:rPr>
              <a:t> </a:t>
            </a:r>
            <a:endParaRPr lang="en-US" sz="1300" dirty="0"/>
          </a:p>
          <a:p>
            <a:pPr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git status                            </a:t>
            </a:r>
            <a:pPr indent="0" marL="0">
              <a:lnSpc>
                <a:spcPct val="115000"/>
              </a:lnSpc>
              <a:buNone/>
            </a:pPr>
            <a:r>
              <a:rPr lang="en-US" sz="1300" dirty="0">
                <a:solidFill>
                  <a:schemeClr val="accent6"/>
                </a:solidFill>
                <a:latin typeface="Courier New" pitchFamily="34" charset="0"/>
                <a:ea typeface="Courier New" pitchFamily="34" charset="-122"/>
                <a:cs typeface="Courier New" pitchFamily="34" charset="-120"/>
              </a:rPr>
              <a:t># voir ce qui a changé</a:t>
            </a:r>
            <a:endParaRPr lang="en-US" sz="1300" dirty="0"/>
          </a:p>
          <a:p>
            <a:pPr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git add aidge_in_space/export.py      </a:t>
            </a:r>
            <a:pPr indent="0" marL="0">
              <a:lnSpc>
                <a:spcPct val="115000"/>
              </a:lnSpc>
              <a:buNone/>
            </a:pPr>
            <a:r>
              <a:rPr lang="en-US" sz="1300" dirty="0">
                <a:solidFill>
                  <a:schemeClr val="accent6"/>
                </a:solidFill>
                <a:latin typeface="Courier New" pitchFamily="34" charset="0"/>
                <a:ea typeface="Courier New" pitchFamily="34" charset="-122"/>
                <a:cs typeface="Courier New" pitchFamily="34" charset="-120"/>
              </a:rPr>
              <a:t># choisir les fichiers</a:t>
            </a:r>
            <a:endParaRPr lang="en-US" sz="1300" dirty="0"/>
          </a:p>
          <a:p>
            <a:pPr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git commit -m "Exporte g_a en ONNX"</a:t>
            </a:r>
            <a:pPr indent="0" marL="0">
              <a:lnSpc>
                <a:spcPct val="115000"/>
              </a:lnSpc>
              <a:buNone/>
            </a:pPr>
            <a:r>
              <a:rPr lang="en-US" sz="1300" dirty="0">
                <a:solidFill>
                  <a:schemeClr val="accent6"/>
                </a:solidFill>
                <a:latin typeface="Courier New" pitchFamily="34" charset="0"/>
                <a:ea typeface="Courier New" pitchFamily="34" charset="-122"/>
                <a:cs typeface="Courier New" pitchFamily="34" charset="-120"/>
              </a:rPr>
              <a:t> </a:t>
            </a:r>
            <a:endParaRPr lang="en-US" sz="1300" dirty="0"/>
          </a:p>
          <a:p>
            <a:pPr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git push -u origin feature/12-export-onnx</a:t>
            </a:r>
            <a:pPr indent="0" marL="0">
              <a:lnSpc>
                <a:spcPct val="115000"/>
              </a:lnSpc>
              <a:buNone/>
            </a:pPr>
            <a:r>
              <a:rPr lang="en-US" sz="1300" dirty="0">
                <a:solidFill>
                  <a:schemeClr val="accent6"/>
                </a:solidFill>
                <a:latin typeface="Courier New" pitchFamily="34" charset="0"/>
                <a:ea typeface="Courier New" pitchFamily="34" charset="-122"/>
                <a:cs typeface="Courier New" pitchFamily="34" charset="-120"/>
              </a:rPr>
              <a:t> </a:t>
            </a:r>
            <a:endParaRPr lang="en-US" sz="1300" dirty="0"/>
          </a:p>
          <a:p>
            <a:pPr indent="0" marL="0">
              <a:lnSpc>
                <a:spcPct val="115000"/>
              </a:lnSpc>
              <a:buNone/>
            </a:pPr>
            <a:r>
              <a:rPr lang="en-US" sz="1300" b="1" dirty="0">
                <a:solidFill>
                  <a:schemeClr val="accent1"/>
                </a:solidFill>
                <a:latin typeface="Courier New" pitchFamily="34" charset="0"/>
                <a:ea typeface="Courier New" pitchFamily="34" charset="-122"/>
                <a:cs typeface="Courier New" pitchFamily="34" charset="-120"/>
              </a:rPr>
              <a:t>→ sur GitHub : Pull Request vers dev, écrire « Closes #12 »</a:t>
            </a:r>
            <a:endParaRPr lang="en-US" sz="1300" dirty="0"/>
          </a:p>
        </p:txBody>
      </p:sp>
      <p:sp>
        <p:nvSpPr>
          <p:cNvPr id="6" name="Text 4"/>
          <p:cNvSpPr txBox="1"/>
          <p:nvPr/>
        </p:nvSpPr>
        <p:spPr>
          <a:xfrm>
            <a:off x="548640" y="5760720"/>
            <a:ext cx="7223760" cy="365760"/>
          </a:xfrm>
          <a:prstGeom prst="rect">
            <a:avLst/>
          </a:prstGeom>
          <a:noFill/>
          <a:ln/>
        </p:spPr>
        <p:txBody>
          <a:bodyPr wrap="square" lIns="0" tIns="0" rIns="0" bIns="0" rtlCol="0" anchor="t"/>
          <a:lstStyle/>
          <a:p>
            <a:pPr indent="0" marL="0">
              <a:buNone/>
            </a:pPr>
            <a:r>
              <a:rPr lang="en-US" sz="1400" b="1" dirty="0">
                <a:solidFill>
                  <a:schemeClr val="bg1"/>
                </a:solidFill>
              </a:rPr>
              <a:t>Pas à pas : </a:t>
            </a:r>
            <a:pPr indent="0" marL="0">
              <a:buNone/>
            </a:pPr>
            <a:r>
              <a:rPr lang="en-US" sz="1400" dirty="0">
                <a:solidFill>
                  <a:schemeClr val="accent6"/>
                </a:solidFill>
              </a:rPr>
              <a:t>Ressources/tuto_git/TP1_SetUp_Git.pdf dans le dépôt</a:t>
            </a:r>
            <a:endParaRPr lang="en-US" sz="1400" dirty="0"/>
          </a:p>
        </p:txBody>
      </p:sp>
      <p:sp>
        <p:nvSpPr>
          <p:cNvPr id="7" name="messages de commit"/>
          <p:cNvSpPr/>
          <p:nvPr/>
        </p:nvSpPr>
        <p:spPr>
          <a:xfrm>
            <a:off x="8001000" y="1645920"/>
            <a:ext cx="3639312" cy="2103120"/>
          </a:xfrm>
          <a:prstGeom prst="roundRect">
            <a:avLst>
              <a:gd name="adj" fmla="val 5217"/>
            </a:avLst>
          </a:prstGeom>
          <a:solidFill>
            <a:schemeClr val="tx2"/>
          </a:solidFill>
          <a:ln w="12700">
            <a:solidFill>
              <a:schemeClr val="tx2"/>
            </a:solidFill>
            <a:prstDash val="solid"/>
          </a:ln>
        </p:spPr>
      </p:sp>
      <p:sp>
        <p:nvSpPr>
          <p:cNvPr id="8" name="Text 6"/>
          <p:cNvSpPr txBox="1"/>
          <p:nvPr/>
        </p:nvSpPr>
        <p:spPr>
          <a:xfrm>
            <a:off x="8229600" y="1828800"/>
            <a:ext cx="32004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MESSAGES DE COMMIT</a:t>
            </a:r>
            <a:endParaRPr lang="en-US" sz="1200" dirty="0"/>
          </a:p>
        </p:txBody>
      </p:sp>
      <p:pic>
        <p:nvPicPr>
          <p:cNvPr id="9" name="à éviter" descr="preencoded.png">    </p:cNvPr>
          <p:cNvPicPr>
            <a:picLocks noChangeAspect="1"/>
          </p:cNvPicPr>
          <p:nvPr/>
        </p:nvPicPr>
        <p:blipFill>
          <a:blip r:embed="rId1"/>
          <a:stretch>
            <a:fillRect/>
          </a:stretch>
        </p:blipFill>
        <p:spPr>
          <a:xfrm>
            <a:off x="8229600" y="2240280"/>
            <a:ext cx="228600" cy="228600"/>
          </a:xfrm>
          <a:prstGeom prst="rect">
            <a:avLst/>
          </a:prstGeom>
        </p:spPr>
      </p:pic>
      <p:sp>
        <p:nvSpPr>
          <p:cNvPr id="10" name="Text 7"/>
          <p:cNvSpPr txBox="1"/>
          <p:nvPr/>
        </p:nvSpPr>
        <p:spPr>
          <a:xfrm>
            <a:off x="8595360" y="2176272"/>
            <a:ext cx="2926080" cy="365760"/>
          </a:xfrm>
          <a:prstGeom prst="rect">
            <a:avLst/>
          </a:prstGeom>
          <a:noFill/>
          <a:ln/>
        </p:spPr>
        <p:txBody>
          <a:bodyPr wrap="square" lIns="0" tIns="0" rIns="0" bIns="0" rtlCol="0" anchor="ctr"/>
          <a:lstStyle/>
          <a:p>
            <a:pPr indent="0" marL="0">
              <a:buNone/>
            </a:pPr>
            <a:r>
              <a:rPr lang="en-US" sz="1400" dirty="0">
                <a:solidFill>
                  <a:schemeClr val="accent5"/>
                </a:solidFill>
                <a:latin typeface="Courier New" pitchFamily="34" charset="0"/>
                <a:ea typeface="Courier New" pitchFamily="34" charset="-122"/>
                <a:cs typeface="Courier New" pitchFamily="34" charset="-120"/>
              </a:rPr>
              <a:t>.    update    fix</a:t>
            </a:r>
            <a:endParaRPr lang="en-US" sz="1400" dirty="0"/>
          </a:p>
        </p:txBody>
      </p:sp>
      <p:pic>
        <p:nvPicPr>
          <p:cNvPr id="11" name="bien" descr="preencoded.png">    </p:cNvPr>
          <p:cNvPicPr>
            <a:picLocks noChangeAspect="1"/>
          </p:cNvPicPr>
          <p:nvPr/>
        </p:nvPicPr>
        <p:blipFill>
          <a:blip r:embed="rId2"/>
          <a:stretch>
            <a:fillRect/>
          </a:stretch>
        </p:blipFill>
        <p:spPr>
          <a:xfrm>
            <a:off x="8229600" y="2724912"/>
            <a:ext cx="228600" cy="228600"/>
          </a:xfrm>
          <a:prstGeom prst="rect">
            <a:avLst/>
          </a:prstGeom>
        </p:spPr>
      </p:pic>
      <p:sp>
        <p:nvSpPr>
          <p:cNvPr id="12" name="Text 8"/>
          <p:cNvSpPr txBox="1"/>
          <p:nvPr/>
        </p:nvSpPr>
        <p:spPr>
          <a:xfrm>
            <a:off x="8595360" y="2651760"/>
            <a:ext cx="2926080" cy="914400"/>
          </a:xfrm>
          <a:prstGeom prst="rect">
            <a:avLst/>
          </a:prstGeom>
          <a:noFill/>
          <a:ln/>
        </p:spPr>
        <p:txBody>
          <a:bodyPr wrap="square" lIns="0" tIns="0" rIns="0" bIns="0" rtlCol="0" anchor="t"/>
          <a:lstStyle/>
          <a:p>
            <a:pPr indent="0" marL="0">
              <a:buNone/>
            </a:pPr>
            <a:r>
              <a:rPr lang="en-US" sz="1400" dirty="0">
                <a:solidFill>
                  <a:schemeClr val="bg2"/>
                </a:solidFill>
              </a:rPr>
              <a:t>Ajoute la mesure du temps par couche</a:t>
            </a:r>
            <a:endParaRPr lang="en-US" sz="1400" dirty="0"/>
          </a:p>
          <a:p>
            <a:pPr indent="0" marL="0">
              <a:buNone/>
            </a:pPr>
            <a:r>
              <a:rPr lang="en-US" sz="1400" dirty="0">
                <a:solidFill>
                  <a:schemeClr val="bg2"/>
                </a:solidFill>
              </a:rPr>
              <a:t>Corrige le padding des tuiles</a:t>
            </a:r>
            <a:endParaRPr lang="en-US" sz="1400" dirty="0"/>
          </a:p>
        </p:txBody>
      </p:sp>
      <p:sp>
        <p:nvSpPr>
          <p:cNvPr id="13" name="jamais dans git"/>
          <p:cNvSpPr/>
          <p:nvPr/>
        </p:nvSpPr>
        <p:spPr>
          <a:xfrm>
            <a:off x="8001000" y="3977640"/>
            <a:ext cx="3639312" cy="2148840"/>
          </a:xfrm>
          <a:prstGeom prst="roundRect">
            <a:avLst>
              <a:gd name="adj" fmla="val 5106"/>
            </a:avLst>
          </a:prstGeom>
          <a:solidFill>
            <a:schemeClr val="tx2"/>
          </a:solidFill>
          <a:ln w="12700">
            <a:solidFill>
              <a:schemeClr val="tx2"/>
            </a:solidFill>
            <a:prstDash val="solid"/>
          </a:ln>
        </p:spPr>
      </p:sp>
      <p:sp>
        <p:nvSpPr>
          <p:cNvPr id="14" name="Text 10"/>
          <p:cNvSpPr txBox="1"/>
          <p:nvPr/>
        </p:nvSpPr>
        <p:spPr>
          <a:xfrm>
            <a:off x="8229600" y="4160520"/>
            <a:ext cx="320040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JAMAIS DANS GIT</a:t>
            </a:r>
            <a:endParaRPr lang="en-US" sz="1200" dirty="0"/>
          </a:p>
        </p:txBody>
      </p:sp>
      <p:sp>
        <p:nvSpPr>
          <p:cNvPr id="15" name="Text 11"/>
          <p:cNvSpPr txBox="1"/>
          <p:nvPr/>
        </p:nvSpPr>
        <p:spPr>
          <a:xfrm>
            <a:off x="8229600" y="4526280"/>
            <a:ext cx="3246120" cy="1508760"/>
          </a:xfrm>
          <a:prstGeom prst="rect">
            <a:avLst/>
          </a:prstGeom>
          <a:noFill/>
          <a:ln/>
        </p:spPr>
        <p:txBody>
          <a:bodyPr wrap="square" lIns="0" tIns="0" rIns="0" bIns="0" rtlCol="0" anchor="t"/>
          <a:lstStyle/>
          <a:p>
            <a:pPr marL="190500" indent="-190500">
              <a:spcAft>
                <a:spcPts val="500"/>
              </a:spcAft>
              <a:buSzPct val="100000"/>
              <a:buChar char="•"/>
            </a:pPr>
            <a:r>
              <a:rPr lang="en-US" sz="1400" dirty="0">
                <a:solidFill>
                  <a:schemeClr val="bg2"/>
                </a:solidFill>
              </a:rPr>
              <a:t>Données et checkpoints (data/, outputs/ : déjà ignorés)</a:t>
            </a:r>
            <a:endParaRPr lang="en-US" sz="1400" dirty="0"/>
          </a:p>
          <a:p>
            <a:pPr marL="190500" indent="-190500">
              <a:spcAft>
                <a:spcPts val="500"/>
              </a:spcAft>
              <a:buSzPct val="100000"/>
              <a:buChar char="•"/>
            </a:pPr>
            <a:r>
              <a:rPr lang="en-US" sz="1400" dirty="0">
                <a:solidFill>
                  <a:schemeClr val="bg2"/>
                </a:solidFill>
              </a:rPr>
              <a:t>Mots de passe et identifiants</a:t>
            </a:r>
            <a:endParaRPr lang="en-US" sz="1400" dirty="0"/>
          </a:p>
          <a:p>
            <a:pPr marL="190500" indent="-190500">
              <a:spcAft>
                <a:spcPts val="500"/>
              </a:spcAft>
              <a:buSzPct val="100000"/>
              <a:buChar char="•"/>
            </a:pPr>
            <a:r>
              <a:rPr lang="en-US" sz="1400" dirty="0">
                <a:solidFill>
                  <a:schemeClr val="bg2"/>
                </a:solidFill>
              </a:rPr>
              <a:t>Sorties lourdes des notebooks : les vider avant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hip EN SORTANT DE LA RÉUNION"/>
          <p:cNvSpPr/>
          <p:nvPr/>
        </p:nvSpPr>
        <p:spPr>
          <a:xfrm>
            <a:off x="548640" y="329184"/>
            <a:ext cx="2694920" cy="274320"/>
          </a:xfrm>
          <a:prstGeom prst="roundRect">
            <a:avLst>
              <a:gd name="adj" fmla="val 50000"/>
            </a:avLst>
          </a:prstGeom>
          <a:solidFill>
            <a:schemeClr val="accent5"/>
          </a:solidFill>
          <a:ln/>
        </p:spPr>
        <p:txBody>
          <a:bodyPr wrap="square" lIns="0" tIns="0" rIns="0" bIns="0" rtlCol="0" anchor="ctr"/>
          <a:lstStyle/>
          <a:p>
            <a:pPr algn="ctr" indent="0" marL="0">
              <a:buNone/>
            </a:pPr>
            <a:r>
              <a:rPr lang="en-US" sz="1100" b="1" spc="100" kern="0" dirty="0">
                <a:solidFill>
                  <a:schemeClr val="tx1"/>
                </a:solidFill>
                <a:latin typeface="Arial" pitchFamily="34" charset="0"/>
                <a:ea typeface="Arial" pitchFamily="34" charset="-122"/>
                <a:cs typeface="Arial" pitchFamily="34" charset="-120"/>
              </a:rPr>
              <a:t>EN SORTANT DE LA RÉUNION</a:t>
            </a:r>
            <a:endParaRPr lang="en-US" sz="1100" dirty="0"/>
          </a:p>
        </p:txBody>
      </p:sp>
      <p:sp>
        <p:nvSpPr>
          <p:cNvPr id="3" name="Text 0"/>
          <p:cNvSpPr/>
          <p:nvPr>
            <p:ph idx="100" type="title" hasCustomPrompt="1"/>
          </p:nvPr>
        </p:nvSpPr>
        <p:spPr>
          <a:xfrm>
            <a:off x="548640" y="713232"/>
            <a:ext cx="11091672" cy="685800"/>
          </a:xfrm>
          <a:prstGeom prst="rect">
            <a:avLst/>
          </a:prstGeom>
          <a:noFill/>
          <a:ln/>
        </p:spPr>
        <p:txBody>
          <a:bodyPr wrap="square" lIns="0" tIns="0" rIns="0" bIns="0" rtlCol="0" anchor="t"/>
          <a:lstStyle/>
          <a:p>
            <a:pPr algn="l" indent="0" marL="0">
              <a:buNone/>
            </a:pPr>
            <a:r>
              <a:rPr lang="en-US" sz="3000" b="1" dirty="0">
                <a:solidFill>
                  <a:schemeClr val="bg1"/>
                </a:solidFill>
                <a:latin typeface="Arial" pitchFamily="34" charset="0"/>
                <a:ea typeface="Arial" pitchFamily="34" charset="-122"/>
                <a:cs typeface="Arial" pitchFamily="34" charset="-120"/>
              </a:rPr>
              <a:t>Cette semaine, chacun repart avec une tâche</a:t>
            </a:r>
            <a:endParaRPr lang="en-US" sz="3000" dirty="0"/>
          </a:p>
        </p:txBody>
      </p:sp>
      <p:sp>
        <p:nvSpPr>
          <p:cNvPr id="4" name="numéro 1"/>
          <p:cNvSpPr/>
          <p:nvPr/>
        </p:nvSpPr>
        <p:spPr>
          <a:xfrm>
            <a:off x="548640" y="169164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1</a:t>
            </a:r>
            <a:endParaRPr lang="en-US" sz="1600" dirty="0"/>
          </a:p>
        </p:txBody>
      </p:sp>
      <p:sp>
        <p:nvSpPr>
          <p:cNvPr id="5" name="Text 3"/>
          <p:cNvSpPr txBox="1"/>
          <p:nvPr/>
        </p:nvSpPr>
        <p:spPr>
          <a:xfrm>
            <a:off x="1234440" y="1645920"/>
            <a:ext cx="6035040" cy="777240"/>
          </a:xfrm>
          <a:prstGeom prst="rect">
            <a:avLst/>
          </a:prstGeom>
          <a:noFill/>
          <a:ln/>
        </p:spPr>
        <p:txBody>
          <a:bodyPr wrap="square" lIns="0" tIns="0" rIns="0" bIns="0" rtlCol="0" anchor="t"/>
          <a:lstStyle/>
          <a:p>
            <a:pPr indent="0" marL="0">
              <a:buNone/>
            </a:pPr>
            <a:r>
              <a:rPr lang="en-US" sz="1700" b="1" dirty="0">
                <a:solidFill>
                  <a:schemeClr val="bg1"/>
                </a:solidFill>
              </a:rPr>
              <a:t>Choisir sa sous-équipe et son rôle</a:t>
            </a:r>
            <a:endParaRPr lang="en-US" sz="1700" dirty="0"/>
          </a:p>
          <a:p>
            <a:pPr indent="0" marL="0">
              <a:buNone/>
            </a:pPr>
            <a:r>
              <a:rPr lang="en-US" sz="1400" dirty="0">
                <a:solidFill>
                  <a:schemeClr val="accent6"/>
                </a:solidFill>
              </a:rPr>
              <a:t>maintenant, avant de partir</a:t>
            </a:r>
            <a:endParaRPr lang="en-US" sz="1700" dirty="0"/>
          </a:p>
        </p:txBody>
      </p:sp>
      <p:sp>
        <p:nvSpPr>
          <p:cNvPr id="6" name="numéro 2"/>
          <p:cNvSpPr/>
          <p:nvPr/>
        </p:nvSpPr>
        <p:spPr>
          <a:xfrm>
            <a:off x="548640" y="256032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2</a:t>
            </a:r>
            <a:endParaRPr lang="en-US" sz="1600" dirty="0"/>
          </a:p>
        </p:txBody>
      </p:sp>
      <p:sp>
        <p:nvSpPr>
          <p:cNvPr id="7" name="Text 5"/>
          <p:cNvSpPr txBox="1"/>
          <p:nvPr/>
        </p:nvSpPr>
        <p:spPr>
          <a:xfrm>
            <a:off x="1234440" y="2514600"/>
            <a:ext cx="6035040" cy="777240"/>
          </a:xfrm>
          <a:prstGeom prst="rect">
            <a:avLst/>
          </a:prstGeom>
          <a:noFill/>
          <a:ln/>
        </p:spPr>
        <p:txBody>
          <a:bodyPr wrap="square" lIns="0" tIns="0" rIns="0" bIns="0" rtlCol="0" anchor="t"/>
          <a:lstStyle/>
          <a:p>
            <a:pPr indent="0" marL="0">
              <a:buNone/>
            </a:pPr>
            <a:r>
              <a:rPr lang="en-US" sz="1700" b="1" dirty="0">
                <a:solidFill>
                  <a:schemeClr val="bg1"/>
                </a:solidFill>
              </a:rPr>
              <a:t>Installer l'environnement</a:t>
            </a:r>
            <a:endParaRPr lang="en-US" sz="1700" dirty="0"/>
          </a:p>
          <a:p>
            <a:pPr indent="0" marL="0">
              <a:buNone/>
            </a:pPr>
            <a:r>
              <a:rPr lang="en-US" sz="1400" dirty="0">
                <a:solidFill>
                  <a:schemeClr val="accent6"/>
                </a:solidFill>
              </a:rPr>
              <a:t>README du dépôt : venv ou Docker, une commande</a:t>
            </a:r>
            <a:endParaRPr lang="en-US" sz="1700" dirty="0"/>
          </a:p>
        </p:txBody>
      </p:sp>
      <p:sp>
        <p:nvSpPr>
          <p:cNvPr id="8" name="numéro 3"/>
          <p:cNvSpPr/>
          <p:nvPr/>
        </p:nvSpPr>
        <p:spPr>
          <a:xfrm>
            <a:off x="548640" y="342900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3</a:t>
            </a:r>
            <a:endParaRPr lang="en-US" sz="1600" dirty="0"/>
          </a:p>
        </p:txBody>
      </p:sp>
      <p:sp>
        <p:nvSpPr>
          <p:cNvPr id="9" name="Text 7"/>
          <p:cNvSpPr txBox="1"/>
          <p:nvPr/>
        </p:nvSpPr>
        <p:spPr>
          <a:xfrm>
            <a:off x="1234440" y="3383280"/>
            <a:ext cx="6035040" cy="777240"/>
          </a:xfrm>
          <a:prstGeom prst="rect">
            <a:avLst/>
          </a:prstGeom>
          <a:noFill/>
          <a:ln/>
        </p:spPr>
        <p:txBody>
          <a:bodyPr wrap="square" lIns="0" tIns="0" rIns="0" bIns="0" rtlCol="0" anchor="t"/>
          <a:lstStyle/>
          <a:p>
            <a:pPr indent="0" marL="0">
              <a:buNone/>
            </a:pPr>
            <a:r>
              <a:rPr lang="en-US" sz="1700" b="1" dirty="0">
                <a:solidFill>
                  <a:schemeClr val="bg1"/>
                </a:solidFill>
              </a:rPr>
              <a:t>Lire le README et la section 2 du papier de Ballé</a:t>
            </a:r>
            <a:endParaRPr lang="en-US" sz="1700" dirty="0"/>
          </a:p>
          <a:p>
            <a:pPr indent="0" marL="0">
              <a:buNone/>
            </a:pPr>
            <a:r>
              <a:rPr lang="en-US" sz="1400" dirty="0">
                <a:solidFill>
                  <a:schemeClr val="accent6"/>
                </a:solidFill>
              </a:rPr>
              <a:t>pour parler tous le même langage</a:t>
            </a:r>
            <a:endParaRPr lang="en-US" sz="1700" dirty="0"/>
          </a:p>
        </p:txBody>
      </p:sp>
      <p:sp>
        <p:nvSpPr>
          <p:cNvPr id="10" name="numéro 4"/>
          <p:cNvSpPr/>
          <p:nvPr/>
        </p:nvSpPr>
        <p:spPr>
          <a:xfrm>
            <a:off x="548640" y="429768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4</a:t>
            </a:r>
            <a:endParaRPr lang="en-US" sz="1600" dirty="0"/>
          </a:p>
        </p:txBody>
      </p:sp>
      <p:sp>
        <p:nvSpPr>
          <p:cNvPr id="11" name="Text 9"/>
          <p:cNvSpPr txBox="1"/>
          <p:nvPr/>
        </p:nvSpPr>
        <p:spPr>
          <a:xfrm>
            <a:off x="1234440" y="4251960"/>
            <a:ext cx="6035040" cy="777240"/>
          </a:xfrm>
          <a:prstGeom prst="rect">
            <a:avLst/>
          </a:prstGeom>
          <a:noFill/>
          <a:ln/>
        </p:spPr>
        <p:txBody>
          <a:bodyPr wrap="square" lIns="0" tIns="0" rIns="0" bIns="0" rtlCol="0" anchor="t"/>
          <a:lstStyle/>
          <a:p>
            <a:pPr indent="0" marL="0">
              <a:buNone/>
            </a:pPr>
            <a:r>
              <a:rPr lang="en-US" sz="1700" b="1" dirty="0">
                <a:solidFill>
                  <a:schemeClr val="bg1"/>
                </a:solidFill>
              </a:rPr>
              <a:t>Prendre sa première issue</a:t>
            </a:r>
            <a:endParaRPr lang="en-US" sz="1700" dirty="0"/>
          </a:p>
          <a:p>
            <a:pPr indent="0" marL="0">
              <a:buNone/>
            </a:pPr>
            <a:r>
              <a:rPr lang="en-US" sz="1400" dirty="0">
                <a:solidFill>
                  <a:schemeClr val="accent6"/>
                </a:solidFill>
              </a:rPr>
              <a:t>sur le tableau GitHub Projects</a:t>
            </a:r>
            <a:endParaRPr lang="en-US" sz="1700" dirty="0"/>
          </a:p>
        </p:txBody>
      </p:sp>
      <p:sp>
        <p:nvSpPr>
          <p:cNvPr id="12" name="numéro 5"/>
          <p:cNvSpPr/>
          <p:nvPr/>
        </p:nvSpPr>
        <p:spPr>
          <a:xfrm>
            <a:off x="548640" y="5166360"/>
            <a:ext cx="502920" cy="502920"/>
          </a:xfrm>
          <a:prstGeom prst="ellipse">
            <a:avLst/>
          </a:prstGeom>
          <a:solidFill>
            <a:schemeClr val="accent5"/>
          </a:solidFill>
          <a:ln/>
        </p:spPr>
        <p:txBody>
          <a:bodyPr wrap="square" lIns="0" tIns="0" rIns="0" bIns="0" rtlCol="0" anchor="ctr"/>
          <a:lstStyle/>
          <a:p>
            <a:pPr algn="ctr" indent="0" marL="0">
              <a:buNone/>
            </a:pPr>
            <a:r>
              <a:rPr lang="en-US" sz="1600" b="1" dirty="0">
                <a:solidFill>
                  <a:schemeClr val="tx1"/>
                </a:solidFill>
                <a:latin typeface="Arial" pitchFamily="34" charset="0"/>
                <a:ea typeface="Arial" pitchFamily="34" charset="-122"/>
                <a:cs typeface="Arial" pitchFamily="34" charset="-120"/>
              </a:rPr>
              <a:t>5</a:t>
            </a:r>
            <a:endParaRPr lang="en-US" sz="1600" dirty="0"/>
          </a:p>
        </p:txBody>
      </p:sp>
      <p:sp>
        <p:nvSpPr>
          <p:cNvPr id="13" name="Text 11"/>
          <p:cNvSpPr txBox="1"/>
          <p:nvPr/>
        </p:nvSpPr>
        <p:spPr>
          <a:xfrm>
            <a:off x="1234440" y="5120640"/>
            <a:ext cx="6035040" cy="777240"/>
          </a:xfrm>
          <a:prstGeom prst="rect">
            <a:avLst/>
          </a:prstGeom>
          <a:noFill/>
          <a:ln/>
        </p:spPr>
        <p:txBody>
          <a:bodyPr wrap="square" lIns="0" tIns="0" rIns="0" bIns="0" rtlCol="0" anchor="t"/>
          <a:lstStyle/>
          <a:p>
            <a:pPr indent="0" marL="0">
              <a:buNone/>
            </a:pPr>
            <a:r>
              <a:rPr lang="en-US" sz="1700" b="1" dirty="0">
                <a:solidFill>
                  <a:schemeClr val="bg1"/>
                </a:solidFill>
              </a:rPr>
              <a:t>Préparer nos questions sur Aidge</a:t>
            </a:r>
            <a:endParaRPr lang="en-US" sz="1700" dirty="0"/>
          </a:p>
          <a:p>
            <a:pPr indent="0" marL="0">
              <a:buNone/>
            </a:pPr>
            <a:r>
              <a:rPr lang="en-US" sz="1400" dirty="0">
                <a:solidFill>
                  <a:schemeClr val="accent6"/>
                </a:solidFill>
              </a:rPr>
              <a:t>session Q&amp;R du jeudi 15 octobre, 14 h</a:t>
            </a:r>
            <a:endParaRPr lang="en-US" sz="1700" dirty="0"/>
          </a:p>
        </p:txBody>
      </p:sp>
      <p:sp>
        <p:nvSpPr>
          <p:cNvPr id="14" name="liens utiles"/>
          <p:cNvSpPr/>
          <p:nvPr/>
        </p:nvSpPr>
        <p:spPr>
          <a:xfrm>
            <a:off x="7589520" y="1645920"/>
            <a:ext cx="4050792" cy="4434840"/>
          </a:xfrm>
          <a:prstGeom prst="roundRect">
            <a:avLst>
              <a:gd name="adj" fmla="val 2709"/>
            </a:avLst>
          </a:prstGeom>
          <a:solidFill>
            <a:schemeClr val="tx2"/>
          </a:solidFill>
          <a:ln w="12700">
            <a:solidFill>
              <a:schemeClr val="tx2"/>
            </a:solidFill>
            <a:prstDash val="solid"/>
          </a:ln>
        </p:spPr>
      </p:sp>
      <p:sp>
        <p:nvSpPr>
          <p:cNvPr id="15" name="Text 13"/>
          <p:cNvSpPr txBox="1"/>
          <p:nvPr/>
        </p:nvSpPr>
        <p:spPr>
          <a:xfrm>
            <a:off x="7863840" y="1874520"/>
            <a:ext cx="356616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LIENS UTILES</a:t>
            </a:r>
            <a:endParaRPr lang="en-US" sz="1200" dirty="0"/>
          </a:p>
        </p:txBody>
      </p:sp>
      <p:sp>
        <p:nvSpPr>
          <p:cNvPr id="16" name="pastille FaGithub"/>
          <p:cNvSpPr/>
          <p:nvPr/>
        </p:nvSpPr>
        <p:spPr>
          <a:xfrm>
            <a:off x="7863840" y="2331720"/>
            <a:ext cx="457200" cy="457200"/>
          </a:xfrm>
          <a:prstGeom prst="ellipse">
            <a:avLst/>
          </a:prstGeom>
          <a:solidFill>
            <a:schemeClr val="accent3"/>
          </a:solidFill>
          <a:ln w="12700">
            <a:solidFill>
              <a:schemeClr val="accent3"/>
            </a:solidFill>
            <a:prstDash val="solid"/>
          </a:ln>
        </p:spPr>
      </p:sp>
      <p:pic>
        <p:nvPicPr>
          <p:cNvPr id="17" name="icône FaGithub" descr="preencoded.png">    </p:cNvPr>
          <p:cNvPicPr>
            <a:picLocks noChangeAspect="1"/>
          </p:cNvPicPr>
          <p:nvPr/>
        </p:nvPicPr>
        <p:blipFill>
          <a:blip r:embed="rId1"/>
          <a:stretch>
            <a:fillRect/>
          </a:stretch>
        </p:blipFill>
        <p:spPr>
          <a:xfrm>
            <a:off x="7973568" y="2441448"/>
            <a:ext cx="237744" cy="237744"/>
          </a:xfrm>
          <a:prstGeom prst="rect">
            <a:avLst/>
          </a:prstGeom>
        </p:spPr>
      </p:pic>
      <p:sp>
        <p:nvSpPr>
          <p:cNvPr id="18" name="Text 15"/>
          <p:cNvSpPr txBox="1"/>
          <p:nvPr/>
        </p:nvSpPr>
        <p:spPr>
          <a:xfrm>
            <a:off x="8458200" y="2304288"/>
            <a:ext cx="3063240" cy="731520"/>
          </a:xfrm>
          <a:prstGeom prst="rect">
            <a:avLst/>
          </a:prstGeom>
          <a:noFill/>
          <a:ln/>
        </p:spPr>
        <p:txBody>
          <a:bodyPr wrap="square" lIns="0" tIns="0" rIns="0" bIns="0" rtlCol="0" anchor="t"/>
          <a:lstStyle/>
          <a:p>
            <a:pPr indent="0" marL="0">
              <a:buNone/>
            </a:pPr>
            <a:r>
              <a:rPr lang="en-US" sz="1500" b="1" dirty="0">
                <a:solidFill>
                  <a:schemeClr val="bg1"/>
                </a:solidFill>
              </a:rPr>
              <a:t>Notre dépôt</a:t>
            </a:r>
            <a:endParaRPr lang="en-US" sz="1500" dirty="0"/>
          </a:p>
          <a:p>
            <a:pPr indent="0" marL="0">
              <a:buNone/>
            </a:pPr>
            <a:r>
              <a:rPr lang="en-US" sz="1200" u="sng" dirty="0">
                <a:solidFill>
                  <a:schemeClr val="accent3"/>
                </a:solidFill>
                <a:hlinkClick r:id="rId2" invalidUrl="" action="" tgtFrame="" tooltip="" history="1" highlightClick="0" endSnd="0">
                  <a:extLst>
                    <a:ext uri="{A12FA001-AC4F-418D-AE19-62706E023703}">
                      <ahyp:hlinkClr xmlns:ahyp="http://schemas.microsoft.com/office/drawing/2018/hyperlinkcolor" val="tx"/>
                    </a:ext>
                  </a:extLst>
                </a:hlinkClick>
              </a:rPr>
              <a:t>github.com/EmmanuelG-tech/AIDGE-IN-SPACE</a:t>
            </a:r>
            <a:endParaRPr lang="en-US" sz="1500" dirty="0"/>
          </a:p>
        </p:txBody>
      </p:sp>
      <p:sp>
        <p:nvSpPr>
          <p:cNvPr id="19" name="pastille FaBrain"/>
          <p:cNvSpPr/>
          <p:nvPr/>
        </p:nvSpPr>
        <p:spPr>
          <a:xfrm>
            <a:off x="7863840" y="3246120"/>
            <a:ext cx="457200" cy="457200"/>
          </a:xfrm>
          <a:prstGeom prst="ellipse">
            <a:avLst/>
          </a:prstGeom>
          <a:solidFill>
            <a:schemeClr val="accent3"/>
          </a:solidFill>
          <a:ln w="12700">
            <a:solidFill>
              <a:schemeClr val="accent3"/>
            </a:solidFill>
            <a:prstDash val="solid"/>
          </a:ln>
        </p:spPr>
      </p:sp>
      <p:pic>
        <p:nvPicPr>
          <p:cNvPr id="20" name="icône FaBrain" descr="preencoded.png">    </p:cNvPr>
          <p:cNvPicPr>
            <a:picLocks noChangeAspect="1"/>
          </p:cNvPicPr>
          <p:nvPr/>
        </p:nvPicPr>
        <p:blipFill>
          <a:blip r:embed="rId3"/>
          <a:stretch>
            <a:fillRect/>
          </a:stretch>
        </p:blipFill>
        <p:spPr>
          <a:xfrm>
            <a:off x="7973568" y="3355848"/>
            <a:ext cx="237744" cy="237744"/>
          </a:xfrm>
          <a:prstGeom prst="rect">
            <a:avLst/>
          </a:prstGeom>
        </p:spPr>
      </p:pic>
      <p:sp>
        <p:nvSpPr>
          <p:cNvPr id="21" name="Text 17"/>
          <p:cNvSpPr txBox="1"/>
          <p:nvPr/>
        </p:nvSpPr>
        <p:spPr>
          <a:xfrm>
            <a:off x="8458200" y="3218688"/>
            <a:ext cx="3063240" cy="731520"/>
          </a:xfrm>
          <a:prstGeom prst="rect">
            <a:avLst/>
          </a:prstGeom>
          <a:noFill/>
          <a:ln/>
        </p:spPr>
        <p:txBody>
          <a:bodyPr wrap="square" lIns="0" tIns="0" rIns="0" bIns="0" rtlCol="0" anchor="t"/>
          <a:lstStyle/>
          <a:p>
            <a:pPr indent="0" marL="0">
              <a:buNone/>
            </a:pPr>
            <a:r>
              <a:rPr lang="en-US" sz="1500" b="1" dirty="0">
                <a:solidFill>
                  <a:schemeClr val="bg1"/>
                </a:solidFill>
              </a:rPr>
              <a:t>CompressAI</a:t>
            </a:r>
            <a:endParaRPr lang="en-US" sz="1500" dirty="0"/>
          </a:p>
          <a:p>
            <a:pPr indent="0" marL="0">
              <a:buNone/>
            </a:pPr>
            <a:r>
              <a:rPr lang="en-US" sz="1200" u="sng" dirty="0">
                <a:solidFill>
                  <a:schemeClr val="accent3"/>
                </a:solidFill>
                <a:hlinkClick r:id="rId4" invalidUrl="" action="" tgtFrame="" tooltip="" history="1" highlightClick="0" endSnd="0">
                  <a:extLst>
                    <a:ext uri="{A12FA001-AC4F-418D-AE19-62706E023703}">
                      <ahyp:hlinkClr xmlns:ahyp="http://schemas.microsoft.com/office/drawing/2018/hyperlinkcolor" val="tx"/>
                    </a:ext>
                  </a:extLst>
                </a:hlinkClick>
              </a:rPr>
              <a:t>github.com/InterDigitalInc/CompressAI</a:t>
            </a:r>
            <a:endParaRPr lang="en-US" sz="1500" dirty="0"/>
          </a:p>
        </p:txBody>
      </p:sp>
      <p:sp>
        <p:nvSpPr>
          <p:cNvPr id="22" name="pastille FaCogs"/>
          <p:cNvSpPr/>
          <p:nvPr/>
        </p:nvSpPr>
        <p:spPr>
          <a:xfrm>
            <a:off x="7863840" y="4160520"/>
            <a:ext cx="457200" cy="457200"/>
          </a:xfrm>
          <a:prstGeom prst="ellipse">
            <a:avLst/>
          </a:prstGeom>
          <a:solidFill>
            <a:schemeClr val="accent3"/>
          </a:solidFill>
          <a:ln w="12700">
            <a:solidFill>
              <a:schemeClr val="accent3"/>
            </a:solidFill>
            <a:prstDash val="solid"/>
          </a:ln>
        </p:spPr>
      </p:sp>
      <p:pic>
        <p:nvPicPr>
          <p:cNvPr id="23" name="icône FaCogs" descr="preencoded.png">    </p:cNvPr>
          <p:cNvPicPr>
            <a:picLocks noChangeAspect="1"/>
          </p:cNvPicPr>
          <p:nvPr/>
        </p:nvPicPr>
        <p:blipFill>
          <a:blip r:embed="rId5"/>
          <a:stretch>
            <a:fillRect/>
          </a:stretch>
        </p:blipFill>
        <p:spPr>
          <a:xfrm>
            <a:off x="7973568" y="4270248"/>
            <a:ext cx="237744" cy="237744"/>
          </a:xfrm>
          <a:prstGeom prst="rect">
            <a:avLst/>
          </a:prstGeom>
        </p:spPr>
      </p:pic>
      <p:sp>
        <p:nvSpPr>
          <p:cNvPr id="24" name="Text 19"/>
          <p:cNvSpPr txBox="1"/>
          <p:nvPr/>
        </p:nvSpPr>
        <p:spPr>
          <a:xfrm>
            <a:off x="8458200" y="4133088"/>
            <a:ext cx="3063240" cy="731520"/>
          </a:xfrm>
          <a:prstGeom prst="rect">
            <a:avLst/>
          </a:prstGeom>
          <a:noFill/>
          <a:ln/>
        </p:spPr>
        <p:txBody>
          <a:bodyPr wrap="square" lIns="0" tIns="0" rIns="0" bIns="0" rtlCol="0" anchor="t"/>
          <a:lstStyle/>
          <a:p>
            <a:pPr indent="0" marL="0">
              <a:buNone/>
            </a:pPr>
            <a:r>
              <a:rPr lang="en-US" sz="1500" b="1" dirty="0">
                <a:solidFill>
                  <a:schemeClr val="bg1"/>
                </a:solidFill>
              </a:rPr>
              <a:t>Aidge</a:t>
            </a:r>
            <a:endParaRPr lang="en-US" sz="1500" dirty="0"/>
          </a:p>
          <a:p>
            <a:pPr indent="0" marL="0">
              <a:buNone/>
            </a:pPr>
            <a:r>
              <a:rPr lang="en-US" sz="1200" u="sng" dirty="0">
                <a:solidFill>
                  <a:schemeClr val="accent3"/>
                </a:solidFill>
                <a:hlinkClick r:id="rId6" invalidUrl="" action="" tgtFrame="" tooltip="" history="1" highlightClick="0" endSnd="0">
                  <a:extLst>
                    <a:ext uri="{A12FA001-AC4F-418D-AE19-62706E023703}">
                      <ahyp:hlinkClr xmlns:ahyp="http://schemas.microsoft.com/office/drawing/2018/hyperlinkcolor" val="tx"/>
                    </a:ext>
                  </a:extLst>
                </a:hlinkClick>
              </a:rPr>
              <a:t>eclipse.dev/aidge</a:t>
            </a:r>
            <a:endParaRPr lang="en-US" sz="1500" dirty="0"/>
          </a:p>
        </p:txBody>
      </p:sp>
      <p:sp>
        <p:nvSpPr>
          <p:cNvPr id="25" name="pastille FaMicrochip"/>
          <p:cNvSpPr/>
          <p:nvPr/>
        </p:nvSpPr>
        <p:spPr>
          <a:xfrm>
            <a:off x="7863840" y="5074920"/>
            <a:ext cx="457200" cy="457200"/>
          </a:xfrm>
          <a:prstGeom prst="ellipse">
            <a:avLst/>
          </a:prstGeom>
          <a:solidFill>
            <a:schemeClr val="accent3"/>
          </a:solidFill>
          <a:ln w="12700">
            <a:solidFill>
              <a:schemeClr val="accent3"/>
            </a:solidFill>
            <a:prstDash val="solid"/>
          </a:ln>
        </p:spPr>
      </p:sp>
      <p:pic>
        <p:nvPicPr>
          <p:cNvPr id="26" name="icône FaMicrochip" descr="preencoded.png">    </p:cNvPr>
          <p:cNvPicPr>
            <a:picLocks noChangeAspect="1"/>
          </p:cNvPicPr>
          <p:nvPr/>
        </p:nvPicPr>
        <p:blipFill>
          <a:blip r:embed="rId7"/>
          <a:stretch>
            <a:fillRect/>
          </a:stretch>
        </p:blipFill>
        <p:spPr>
          <a:xfrm>
            <a:off x="7973568" y="5184648"/>
            <a:ext cx="237744" cy="237744"/>
          </a:xfrm>
          <a:prstGeom prst="rect">
            <a:avLst/>
          </a:prstGeom>
        </p:spPr>
      </p:pic>
      <p:sp>
        <p:nvSpPr>
          <p:cNvPr id="27" name="Text 21"/>
          <p:cNvSpPr txBox="1"/>
          <p:nvPr/>
        </p:nvSpPr>
        <p:spPr>
          <a:xfrm>
            <a:off x="8458200" y="5047488"/>
            <a:ext cx="3063240" cy="731520"/>
          </a:xfrm>
          <a:prstGeom prst="rect">
            <a:avLst/>
          </a:prstGeom>
          <a:noFill/>
          <a:ln/>
        </p:spPr>
        <p:txBody>
          <a:bodyPr wrap="square" lIns="0" tIns="0" rIns="0" bIns="0" rtlCol="0" anchor="t"/>
          <a:lstStyle/>
          <a:p>
            <a:pPr indent="0" marL="0">
              <a:buNone/>
            </a:pPr>
            <a:r>
              <a:rPr lang="en-US" sz="1500" b="1" dirty="0">
                <a:solidFill>
                  <a:schemeClr val="bg1"/>
                </a:solidFill>
              </a:rPr>
              <a:t>LoCod</a:t>
            </a:r>
            <a:endParaRPr lang="en-US" sz="1500" dirty="0"/>
          </a:p>
          <a:p>
            <a:pPr indent="0" marL="0">
              <a:buNone/>
            </a:pPr>
            <a:r>
              <a:rPr lang="en-US" sz="1200" u="sng" dirty="0">
                <a:solidFill>
                  <a:schemeClr val="accent3"/>
                </a:solidFill>
                <a:hlinkClick r:id="rId8" invalidUrl="" action="" tgtFrame="" tooltip="" history="1" highlightClick="0" endSnd="0">
                  <a:extLst>
                    <a:ext uri="{A12FA001-AC4F-418D-AE19-62706E023703}">
                      <ahyp:hlinkClr xmlns:ahyp="http://schemas.microsoft.com/office/drawing/2018/hyperlinkcolor" val="tx"/>
                    </a:ext>
                  </a:extLst>
                </a:hlinkClick>
              </a:rPr>
              <a:t>github.com/viveris/LoCod</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idge in Space">
  <a:themeElements>
    <a:clrScheme name="Aidge in Space">
      <a:dk1>
        <a:srgbClr val="0E1530"/>
      </a:dk1>
      <a:lt1>
        <a:srgbClr val="FFFFFF"/>
      </a:lt1>
      <a:dk2>
        <a:srgbClr val="17213F"/>
      </a:dk2>
      <a:lt2>
        <a:srgbClr val="E8ECF7"/>
      </a:lt2>
      <a:accent1>
        <a:srgbClr val="2EC4B6"/>
      </a:accent1>
      <a:accent2>
        <a:srgbClr val="FF9F43"/>
      </a:accent2>
      <a:accent3>
        <a:srgbClr val="5B8DEF"/>
      </a:accent3>
      <a:accent4>
        <a:srgbClr val="A78BFA"/>
      </a:accent4>
      <a:accent5>
        <a:srgbClr val="F0506E"/>
      </a:accent5>
      <a:accent6>
        <a:srgbClr val="9AA6C8"/>
      </a:accent6>
      <a:hlink>
        <a:srgbClr val="5B8DEF"/>
      </a:hlink>
      <a:folHlink>
        <a:srgbClr val="A78BFA"/>
      </a:folHlink>
    </a:clrScheme>
    <a:fontScheme name="Aidge in Spa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AIDGE IN SPACE : lancement de l'équipe</dc:title>
  <dc:subject>PptxGenJS Presentation</dc:subject>
  <dc:creator>Jean-Luc Gauvrit</dc:creator>
  <cp:lastModifiedBy>Jean-Luc Gauvrit</cp:lastModifiedBy>
  <cp:revision>1</cp:revision>
  <dcterms:created xsi:type="dcterms:W3CDTF">2026-10-10T09:06:22Z</dcterms:created>
  <dcterms:modified xsi:type="dcterms:W3CDTF">2026-10-10T09:06:22Z</dcterms:modified>
</cp:coreProperties>
</file>